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"I'll show you three things - that the data is trustworthy, that</a:t>
            </a:r>
          </a:p>
          <a:p>
            <a:r>
              <a:t>the meaning is pinned down, and that people only see their own customers. Each</a:t>
            </a:r>
          </a:p>
          <a:p>
            <a:r>
              <a:t>one is backed by something that runs, not by a description."</a:t>
            </a:r>
          </a:p>
          <a:p/>
          <a:p>
            <a:r>
              <a:t>Set expectations: about 20 minutes of walkthrough, and I'd rather be</a:t>
            </a:r>
          </a:p>
          <a:p>
            <a:r>
              <a:t>interrupted than talk for 20 minutes straight.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sentence is the red one. A wrong-but-confident answer is worse than a</a:t>
            </a:r>
          </a:p>
          <a:p>
            <a:r>
              <a:t>refusal, because nobody checks it.</a:t>
            </a:r>
          </a:p>
          <a:p/>
          <a:p>
            <a:r>
              <a:t>If asked why not just point an AI at the database: because all three of these</a:t>
            </a:r>
          </a:p>
          <a:p>
            <a:r>
              <a:t>fail at once. That is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whole talk. Everything else hangs off these four.</a:t>
            </a:r>
          </a:p>
          <a:p/>
          <a:p>
            <a:r>
              <a:t>The discipline point: Bronze is not allowed to clean, Silver is not allowed to</a:t>
            </a:r>
          </a:p>
          <a:p>
            <a:r>
              <a:t>delete, Gold is not allowed to reach back past Silver. Each boundary stops a</a:t>
            </a:r>
          </a:p>
          <a:p>
            <a:r>
              <a:t>specific class of mistake.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temptation at this step is to be helpful - trim a space, fix a date. Do not.</a:t>
            </a:r>
          </a:p>
          <a:p>
            <a:r>
              <a:t>Every repair here is a defect you can no longer find.</a:t>
            </a:r>
          </a:p>
          <a:p/>
          <a:p>
            <a:r>
              <a:t>The row counts matching the published reference exactly is the first piece of</a:t>
            </a:r>
          </a:p>
          <a:p>
            <a:r>
              <a:t>evidence that the pipeline is sound: we did not get a different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answer to "what did you actually clean", and it is worth</a:t>
            </a:r>
          </a:p>
          <a:p>
            <a:r>
              <a:t>being slow here: the first three kinds are mechanical and nobody argues with</a:t>
            </a:r>
          </a:p>
          <a:p>
            <a:r>
              <a:t>them. The fourth is where judgement enters, and judgement is what a reviewer</a:t>
            </a:r>
          </a:p>
          <a:p>
            <a:r>
              <a:t>should want to interrogate.</a:t>
            </a:r>
          </a:p>
          <a:p/>
          <a:p>
            <a:r>
              <a:t>Deriving means the pipeline is making a claim the source never made. Gender is</a:t>
            </a:r>
          </a:p>
          <a:p>
            <a:r>
              <a:t>not in this dataset - it is decoded from a national identifier. A month-end</a:t>
            </a:r>
          </a:p>
          <a:p>
            <a:r>
              <a:t>balance is not in this dataset - it is built from postings. Each derivation is</a:t>
            </a:r>
          </a:p>
          <a:p>
            <a:r>
              <a:t>listed in ASSUMPTIONS.md with what changes if the assumption behind it is</a:t>
            </a:r>
          </a:p>
          <a:p>
            <a:r>
              <a:t>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column is the whole argument. "We cleaned the data" is not a</a:t>
            </a:r>
          </a:p>
          <a:p>
            <a:r>
              <a:t>checkable statement; "exactly one step removes rows, it removed one, and here</a:t>
            </a:r>
          </a:p>
          <a:p>
            <a:r>
              <a:t>is the reconciliation" is.</a:t>
            </a:r>
          </a:p>
          <a:p/>
          <a:p>
            <a:r>
              <a:t>If pushed on the cost: yes, the product carries known-bad rows, and a consumer</a:t>
            </a:r>
          </a:p>
          <a:p>
            <a:r>
              <a:t>has to be willing to read a caveat. The 55 accounts whose balance chain does</a:t>
            </a:r>
          </a:p>
          <a:p>
            <a:r>
              <a:t>not reconcile are still there, still answerable, still marked. That is the</a:t>
            </a:r>
          </a:p>
          <a:p>
            <a:r>
              <a:t>honest result and it asks more of the reader than a quietly corrected number</a:t>
            </a:r>
          </a:p>
          <a:p>
            <a:r>
              <a:t>would.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only one slide survives from the cleaning section, make it this one. It is</a:t>
            </a:r>
          </a:p>
          <a:p>
            <a:r>
              <a:t>the clearest example of the principle the whole submission rests on.</a:t>
            </a:r>
          </a:p>
          <a:p/>
          <a:p>
            <a:r>
              <a:t>Note what is NOT being claimed: this does not stop an AI writing a wrong query.</a:t>
            </a:r>
          </a:p>
          <a:p>
            <a:r>
              <a:t>It removes one specific, high-frequency way of being wrong, by moving the</a:t>
            </a:r>
          </a:p>
          <a:p>
            <a:r>
              <a:t>decision from query time to build time, where it is made once by a person and</a:t>
            </a:r>
          </a:p>
          <a:p>
            <a:r>
              <a:t>tested.</a:t>
            </a:r>
          </a:p>
          <a:p/>
          <a:p>
            <a:r>
              <a:t>Cost, if asked: one derived column on the biggest table, and three columns that</a:t>
            </a:r>
          </a:p>
          <a:p>
            <a:r>
              <a:t>could in principle disagree. The balance reconciliation rules are what keep</a:t>
            </a:r>
          </a:p>
          <a:p>
            <a:r>
              <a:t>them honest.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this one. It is small, it cost nothing, and it says more about how the</a:t>
            </a:r>
          </a:p>
          <a:p>
            <a:r>
              <a:t>pipeline is built than a clean report would.</a:t>
            </a:r>
          </a:p>
          <a:p/>
          <a:p>
            <a:r>
              <a:t>The lesson is the transferable part: a guarantee enforced per column has to be</a:t>
            </a:r>
          </a:p>
          <a:p>
            <a:r>
              <a:t>enumerated per column, and a hand-maintained enumeration will eventually miss</a:t>
            </a:r>
          </a:p>
          <a:p>
            <a:r>
              <a:t>one. The fix is not "be more careful" - it is a test that derives the list from</a:t>
            </a:r>
          </a:p>
          <a:p>
            <a:r>
              <a:t>the data instead of trusting the list.</a:t>
            </a:r>
          </a:p>
          <a:p/>
          <a:p>
            <a:r>
              <a:t>It is the same lesson as the stale test count in the workbook, which is why</a:t>
            </a:r>
          </a:p>
          <a:p>
            <a:r>
              <a:t>both are in the review rather than quietly corrected.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lanes left to right. The point is that each colour has a</a:t>
            </a:r>
          </a:p>
          <a:p>
            <a:r>
              <a:t>MECHANICAL consequence, not just a label in a report.</a:t>
            </a:r>
          </a:p>
          <a:p/>
          <a:p>
            <a:r>
              <a:t>Orange is the one people miss: the warning travels with the row all the way</a:t>
            </a:r>
          </a:p>
          <a:p>
            <a:r>
              <a:t>into the answer the AI gives, so the caveat cannot get lost in a document</a:t>
            </a:r>
          </a:p>
          <a:p>
            <a:r>
              <a:t>nobody opens.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If they remember one thing, make it this.</a:t>
            </a:r>
          </a:p>
          <a:p/>
          <a:p>
            <a:r>
              <a:t>The general principle: before setting a severity, ask what ACTING on it would</a:t>
            </a:r>
          </a:p>
          <a:p>
            <a:r>
              <a:t>cost. A defensible rule with the wrong grade does more damage than the defect.</a:t>
            </a:r>
          </a:p>
          <a:p/>
          <a:p>
            <a:r>
              <a:t>Expect the question "isn't zero always wrong?" - answer with the interest run:</a:t>
            </a:r>
          </a:p>
          <a:p>
            <a:r>
              <a:t>the bank charged interest, it worked out to nothing, the posting is real.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bridge_disposition. That is the shape that matters: a husband may be</a:t>
            </a:r>
          </a:p>
          <a:p>
            <a:r>
              <a:t>allowed to use an account he does not own, and his gold card must not make the</a:t>
            </a:r>
          </a:p>
          <a:p>
            <a:r>
              <a:t>owner look like a gold card holder.</a:t>
            </a:r>
          </a:p>
          <a:p/>
          <a:p>
            <a:r>
              <a:t>If the grain is wrong - say the customer shelf has someone twice - every count</a:t>
            </a:r>
          </a:p>
          <a:p>
            <a:r>
              <a:t>is wrong and NOTHING errors. So we check it on every build, not by eye.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 is the one to dwell on. You could ask the AI nicely to only show</a:t>
            </a:r>
          </a:p>
          <a:p>
            <a:r>
              <a:t>someone their own customers - that is not a lock, it is a REQUEST. You are</a:t>
            </a:r>
          </a:p>
          <a:p>
            <a:r>
              <a:t>asking the thing you are limiting to limit itself.</a:t>
            </a:r>
          </a:p>
          <a:p/>
          <a:p>
            <a:r>
              <a:t>Instead the lock is on the shelf. The AI writes text; the predicate that limits</a:t>
            </a:r>
          </a:p>
          <a:p>
            <a:r>
              <a:t>the rows is never in that text, so no rewriting of the text can remove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was how it works. Part 2 is what it actually found and answered.</a:t>
            </a:r>
          </a:p>
          <a:p/>
          <a:p>
            <a:r>
              <a:t>Everything from here is a number that came out of a run, not a capability</a:t>
            </a:r>
          </a:p>
          <a:p>
            <a:r>
              <a:t>being described. If a figure on a slide cannot be traced to the database or</a:t>
            </a:r>
          </a:p>
          <a:p>
            <a:r>
              <a:t>the run log, it does not belong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list. Point at the shape: the bars get longer as the colour</a:t>
            </a:r>
          </a:p>
          <a:p>
            <a:r>
              <a:t>gets safer.</a:t>
            </a:r>
          </a:p>
          <a:p/>
          <a:p>
            <a:r>
              <a:t>Nine of fourteen need no fix, and they are reported precisely so nobody</a:t>
            </a:r>
          </a:p>
          <a:p>
            <a:r>
              <a:t>"cleans" them later. Clipping overdrafts would bias the Q9 average upwards.</a:t>
            </a:r>
          </a:p>
          <a:p>
            <a:r>
              <a:t>That is a real risk - it is the obvious thing a well-meaning person does.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slides that show we actually looked, rather than running the</a:t>
            </a:r>
          </a:p>
          <a:p>
            <a:r>
              <a:t>rules the dataset documentation suggests.</a:t>
            </a:r>
          </a:p>
          <a:p/>
          <a:p>
            <a:r>
              <a:t>The 1,200 one is worth naming specifically: 55 payments on that account, and a</a:t>
            </a:r>
          </a:p>
          <a:p>
            <a:r>
              <a:t>gap of exactly 1,200.00. That is not rounding, that is a posting.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orange column is the honest one. Sometimes the right permanent answer is</a:t>
            </a:r>
          </a:p>
          <a:p>
            <a:r>
              <a:t>"this is reality, and the caveat stays forever" - intra-day ordering is not</a:t>
            </a:r>
          </a:p>
          <a:p>
            <a:r>
              <a:t>recorded anywhere, so no amount of work makes that uncertainty go away.</a:t>
            </a:r>
          </a:p>
          <a:p/>
          <a:p>
            <a:r>
              <a:t>Saying so is better than pretending a cleanup will fix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marking scheme was written first, by hand, before the model saw anything.</a:t>
            </a:r>
          </a:p>
          <a:p>
            <a:r>
              <a:t>That is what makes 10/10 mean something.</a:t>
            </a:r>
          </a:p>
          <a:p/>
          <a:p>
            <a:r>
              <a:t>If asked about Q3 matching 11.14% exactly: that figure is published with the</a:t>
            </a:r>
          </a:p>
          <a:p>
            <a:r>
              <a:t>dataset, so it is an independent check on the whole pipeline, not just on the</a:t>
            </a:r>
          </a:p>
          <a:p>
            <a:r>
              <a:t>query.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bypass attempts: pretending to be another user, going round the back of</a:t>
            </a:r>
          </a:p>
          <a:p>
            <a:r>
              <a:t>the views straight to the base tables, reading the raw layer, setting a</a:t>
            </a:r>
          </a:p>
          <a:p>
            <a:r>
              <a:t>session variable to someone else's name, editing the permission tables,</a:t>
            </a:r>
          </a:p>
          <a:p>
            <a:r>
              <a:t>turning the lock off, dropping it, writing, and joining outwards to widen the</a:t>
            </a:r>
          </a:p>
          <a:p>
            <a:r>
              <a:t>result. All nine refused.</a:t>
            </a:r>
          </a:p>
          <a:p/>
          <a:p>
            <a:r>
              <a:t>Onboarding is four inserts and one credential. No policy, view or query</a:t>
            </a:r>
          </a:p>
          <a:p>
            <a:r>
              <a:t>changes - that was an explicit requirement in the brief.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has been about a million rows. This part is one person, and</a:t>
            </a:r>
          </a:p>
          <a:p>
            <a:r>
              <a:t>it is the part to slow down on, because a reviewer can actually verify it.</a:t>
            </a:r>
          </a:p>
          <a:p/>
          <a:p>
            <a:r>
              <a:t>She was not picked for being tidy. She was picked because her record is</a:t>
            </a:r>
          </a:p>
          <a:p>
            <a:r>
              <a:t>awkward in four different ways, each of which exercises a different part of</a:t>
            </a:r>
          </a:p>
          <a:p>
            <a:r>
              <a:t>the build. A clean record would have demonstrated nothing.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red boxes out. They are the gap between a file and a product,</a:t>
            </a:r>
          </a:p>
          <a:p>
            <a:r>
              <a:t>and they are why "just point the AI at the database" does not work.</a:t>
            </a:r>
          </a:p>
          <a:p/>
          <a:p>
            <a:r>
              <a:t>805502 is the one to dwell on: 80 is the year, 55 is the month, 02 is the day.</a:t>
            </a:r>
          </a:p>
          <a:p>
            <a:r>
              <a:t>There is no month 55. Women carry month plus 50, so 55 means May - and that</a:t>
            </a:r>
          </a:p>
          <a:p>
            <a:r>
              <a:t>single convention is both her birth date AND her gender, neither of which</a:t>
            </a:r>
          </a:p>
          <a:p>
            <a:r>
              <a:t>exists as a column anywhere in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step ids are not decoration: each one is a row in the cleaning ledger,</a:t>
            </a:r>
          </a:p>
          <a:p>
            <a:r>
              <a:t>where the same step is measured across all 1.06 m rows. This slide is that</a:t>
            </a:r>
          </a:p>
          <a:p>
            <a:r>
              <a:t>ledger applied to one person.</a:t>
            </a:r>
          </a:p>
          <a:p/>
          <a:p>
            <a:r>
              <a:t>The green ones are derivations - the pipeline making a claim the source never</a:t>
            </a:r>
          </a:p>
          <a:p>
            <a:r>
              <a:t>made. Those are the ones worth challenging, and each has an assumption written</a:t>
            </a:r>
          </a:p>
          <a:p>
            <a:r>
              <a:t>against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12-year-old is the better story. The temptation is to "fix" it - assume a</a:t>
            </a:r>
          </a:p>
          <a:p>
            <a:r>
              <a:t>typo, shift the year. Do not: the bank's own file says this, and the useful</a:t>
            </a:r>
          </a:p>
          <a:p>
            <a:r>
              <a:t>output is a flagged row that somebody investigates, not a quietly plausible</a:t>
            </a:r>
          </a:p>
          <a:p>
            <a:r>
              <a:t>one that nobody does.</a:t>
            </a:r>
          </a:p>
          <a:p/>
          <a:p>
            <a:r>
              <a:t>That flag is on her published row, in a column the semantic layer exposes, so</a:t>
            </a:r>
          </a:p>
          <a:p>
            <a:r>
              <a:t>an AI answering a question about her carries the caveat into its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rm_north row and then at the two client rows. One person sees</a:t>
            </a:r>
          </a:p>
          <a:p>
            <a:r>
              <a:t>1,481 clients; each customer sees one. Same query, same database, same moment.</a:t>
            </a:r>
          </a:p>
          <a:p/>
          <a:p>
            <a:r>
              <a:t>If asked how: the filter is a policy on the table, and the policy asks "which</a:t>
            </a:r>
          </a:p>
          <a:p>
            <a:r>
              <a:t>clients may the caller see". For a manager the answer is their book; for a</a:t>
            </a:r>
          </a:p>
          <a:p>
            <a:r>
              <a:t>customer the answer is one row - herself. No policy was changed to add</a:t>
            </a:r>
          </a:p>
          <a:p>
            <a:r>
              <a:t>customers. One column and one UNION, and the seven policies never learned that</a:t>
            </a:r>
          </a:p>
          <a:p>
            <a:r>
              <a:t>customer logins exist.</a:t>
            </a:r>
          </a:p>
          <a:p/>
          <a:p>
            <a:r>
              <a:t>rm_unassigned is the row people skip. It proves the default is SEE NOTHING,</a:t>
            </a:r>
          </a:p>
          <a:p>
            <a:r>
              <a:t>not see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distinction at the bottom explicitly, because it is the heart of why</a:t>
            </a:r>
          </a:p>
          <a:p>
            <a:r>
              <a:t>this works for an AI.</a:t>
            </a:r>
          </a:p>
          <a:p/>
          <a:p>
            <a:r>
              <a:t>A privilege refusal stops a query. A policy does not stop the query - it</a:t>
            </a:r>
          </a:p>
          <a:p>
            <a:r>
              <a:t>rewrites what the query can see, inside the engine, before any row is</a:t>
            </a:r>
          </a:p>
          <a:p>
            <a:r>
              <a:t>returned. That is why an LLM-generated query needs no inspection for WHOSE</a:t>
            </a:r>
          </a:p>
          <a:p>
            <a:r>
              <a:t>data it asks about: it cannot ask about anyone else's. The predicate is not in</a:t>
            </a:r>
          </a:p>
          <a:p>
            <a:r>
              <a:t>the query, so rewriting the query cannot remove it.</a:t>
            </a:r>
          </a:p>
          <a:p/>
          <a:p>
            <a:r>
              <a:t>All thirteen are in docs/WORKED_EXAMPLE.md with the exact error each one</a:t>
            </a:r>
          </a:p>
          <a:p>
            <a:r>
              <a:t>produced, and they run again on every `make demo`.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"without code changes" claim, and it is worth having actually</a:t>
            </a:r>
          </a:p>
          <a:p>
            <a:r>
              <a:t>executed rather than described - the write-up contains the real output of this</a:t>
            </a:r>
          </a:p>
          <a:p>
            <a:r>
              <a:t>run, not a worked-out example of what would happen.</a:t>
            </a:r>
          </a:p>
          <a:p/>
          <a:p>
            <a:r>
              <a:t>The revoke step is the one to mention unprompted. Onboarding stories are easy;</a:t>
            </a:r>
          </a:p>
          <a:p>
            <a:r>
              <a:t>a model where removing access is also one statement, taking effect on the next</a:t>
            </a:r>
          </a:p>
          <a:p>
            <a:r>
              <a:t>query, is the one that survives an audit.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separate questions and the build answers them separately. Most</a:t>
            </a:r>
          </a:p>
          <a:p>
            <a:r>
              <a:t>access bugs come from answering one when you meant the other.</a:t>
            </a:r>
          </a:p>
          <a:p/>
          <a:p>
            <a:r>
              <a:t>The order to present in: identity first (what do we even call a client), then</a:t>
            </a:r>
          </a:p>
          <a:p>
            <a:r>
              <a:t>access (who may reach what, and why), then authentication (how do we know it</a:t>
            </a:r>
          </a:p>
          <a:p>
            <a:r>
              <a:t>is them). Each one is useless without the other two.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framing, if challenged: this is defence in depth, not a fix for a</a:t>
            </a:r>
          </a:p>
          <a:p>
            <a:r>
              <a:t>hole. Row level security already stops one customer reading another.</a:t>
            </a:r>
          </a:p>
          <a:p/>
          <a:p>
            <a:r>
              <a:t>What the reference removes is the enumeration surface and the correlation</a:t>
            </a:r>
          </a:p>
          <a:p>
            <a:r>
              <a:t>handle - the ability to put a customer id in a URL and walk it, or to match</a:t>
            </a:r>
          </a:p>
          <a:p>
            <a:r>
              <a:t>the same person across two systems that both received one. Cheap to add, and</a:t>
            </a:r>
          </a:p>
          <a:p>
            <a:r>
              <a:t>impossible to retrofit once ids are in other people's logs.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for questions. The column to point at is grant_source: the</a:t>
            </a:r>
          </a:p>
          <a:p>
            <a:r>
              <a:t>answer to "why can this person see that account" is one word, and it leads</a:t>
            </a:r>
          </a:p>
          <a:p>
            <a:r>
              <a:t>back to evidence.</a:t>
            </a:r>
          </a:p>
          <a:p/>
          <a:p>
            <a:r>
              <a:t>Three of the four are derived live from records the bank already keeps, so</a:t>
            </a:r>
          </a:p>
          <a:p>
            <a:r>
              <a:t>they cannot drift. The first version of this materialised them into a table</a:t>
            </a:r>
          </a:p>
          <a:p>
            <a:r>
              <a:t>and a test caught the consequence within the hour: granting a portfolio did</a:t>
            </a:r>
          </a:p>
          <a:p>
            <a:r>
              <a:t>nothing until the next rebuild, while the entitlement tables said it should</a:t>
            </a:r>
          </a:p>
          <a:p>
            <a:r>
              <a:t>have worked. That is the exact failure a single access model is meant to</a:t>
            </a:r>
          </a:p>
          <a:p>
            <a:r>
              <a:t>remove, so the model now derives rather than stores.</a:t>
            </a:r>
          </a:p>
          <a:p/>
          <a:p>
            <a:r>
              <a:t>Only delegation is stored, because only delegation is a human decision - and</a:t>
            </a:r>
          </a:p>
          <a:p>
            <a:r>
              <a:t>it is the only one that can be wrong in a way the data cannot reveal, which</a:t>
            </a:r>
          </a:p>
          <a:p>
            <a:r>
              <a:t>is why it demands a grantor, a reason and an expiry.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the thinking rather than the plumbing. The lazy</a:t>
            </a:r>
          </a:p>
          <a:p>
            <a:r>
              <a:t>version is not a strawman - it is what you get if you reuse the existing</a:t>
            </a:r>
          </a:p>
          <a:p>
            <a:r>
              <a:t>client -&gt; accounts chain without stopping to ask what the relationship means.</a:t>
            </a:r>
          </a:p>
          <a:p/>
          <a:p>
            <a:r>
              <a:t>If asked why it matters when both are "authorised": because the arrangement is</a:t>
            </a:r>
          </a:p>
          <a:p>
            <a:r>
              <a:t>about an account. A joint account holder, a carer paying bills, a business</a:t>
            </a:r>
          </a:p>
          <a:p>
            <a:r>
              <a:t>partner. None of those is consent to read the other person's whole financial</a:t>
            </a:r>
          </a:p>
          <a:p>
            <a:r>
              <a:t>life, and the data model should not quietly turn one into the other.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middle column of row 1 is the whole argument: a correct password, on its</a:t>
            </a:r>
          </a:p>
          <a:p>
            <a:r>
              <a:t>own, returns an empty database. Not an error - the queries run and come back</a:t>
            </a:r>
          </a:p>
          <a:p>
            <a:r>
              <a:t>with nothing, because the entitlements resolve only for a verified session.</a:t>
            </a:r>
          </a:p>
          <a:p/>
          <a:p>
            <a:r>
              <a:t>Tested for all eight principals across seven views. A stolen password is not</a:t>
            </a:r>
          </a:p>
          <a:p>
            <a:r>
              <a:t>a breach here.</a:t>
            </a:r>
          </a:p>
          <a:p/>
          <a:p>
            <a:r>
              <a:t>Be ready for "is this real 2FA or a mock-up": real RFC 6238, the same</a:t>
            </a:r>
          </a:p>
          <a:p>
            <a:r>
              <a:t>algorithm as any authenticator app, checked against the standard's own</a:t>
            </a:r>
          </a:p>
          <a:p>
            <a:r>
              <a:t>published test vectors. Codes are single use, locked out after five failures,</a:t>
            </a:r>
          </a:p>
          <a:p>
            <a:r>
              <a:t>and a session is bound to one connection. The only pretend part is that the</a:t>
            </a:r>
          </a:p>
          <a:p>
            <a:r>
              <a:t>demo console prints the code instead of a phone showing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to run it rather than describe it. Act 5 is the one that lands: the</a:t>
            </a:r>
          </a:p>
          <a:p>
            <a:r>
              <a:t>administrator, who can see all 5,369 clients, holding the correct password and</a:t>
            </a:r>
          </a:p>
          <a:p>
            <a:r>
              <a:t>reading nothing at all.</a:t>
            </a:r>
          </a:p>
          <a:p/>
          <a:p>
            <a:r>
              <a:t>If you hand over the keyboard in demo-interactive, the thing to let someone</a:t>
            </a:r>
          </a:p>
          <a:p>
            <a:r>
              <a:t>try is asking for another customer by id. Watching your own query come back</a:t>
            </a:r>
          </a:p>
          <a:p>
            <a:r>
              <a:t>empty is worth more than watching mine.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slide in this part has the same four parts: the options that were real,</a:t>
            </a:r>
          </a:p>
          <a:p>
            <a:r>
              <a:t>the one chosen, why, and what it cost. The cost box is not modesty - a decision</a:t>
            </a:r>
          </a:p>
          <a:p>
            <a:r>
              <a:t>with no stated cost usually means the alternatives were never priced.</a:t>
            </a:r>
          </a:p>
          <a:p/>
          <a:p>
            <a:r>
              <a:t>All six are in the Design Decision Record, with six more that did not need a</a:t>
            </a:r>
          </a:p>
          <a:p>
            <a:r>
              <a:t>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slide in the deck. The one-liner: asking the model to</a:t>
            </a:r>
          </a:p>
          <a:p>
            <a:r>
              <a:t>filter itself is a REQUEST, not a control - you are asking the thing being</a:t>
            </a:r>
          </a:p>
          <a:p>
            <a:r>
              <a:t>limited to limit itself.</a:t>
            </a:r>
          </a:p>
          <a:p/>
          <a:p>
            <a:r>
              <a:t>Also note the identity choice: we use the logged-in database user, not a</a:t>
            </a:r>
          </a:p>
          <a:p>
            <a:r>
              <a:t>setting the connection can change. A setting can be changed by anything that</a:t>
            </a:r>
          </a:p>
          <a:p>
            <a:r>
              <a:t>can send SQL. There is a test that tries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dark lozenge moving down the three rows. Everything else is held</a:t>
            </a:r>
          </a:p>
          <a:p>
            <a:r>
              <a:t>constant, so the choice is the only thing changing.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killer detail: in one big table, a customer with 300 payments is counted</a:t>
            </a:r>
          </a:p>
          <a:p>
            <a:r>
              <a:t>300 times unless someone remembers DISTINCT. Nothing errors. That is exactly</a:t>
            </a:r>
          </a:p>
          <a:p>
            <a:r>
              <a:t>the failure mode we are trying to design out.</a:t>
            </a:r>
          </a:p>
          <a:p/>
          <a:p>
            <a:r>
              <a:t>Second reason, less obvious: the entitlement filter. On a customer table it is</a:t>
            </a:r>
          </a:p>
          <a:p>
            <a:r>
              <a:t>one check against 5,369 rows. Flattened, it is evaluated per payment -</a:t>
            </a:r>
          </a:p>
          <a:p>
            <a:r>
              <a:t>1,056,319 times.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what we built. Right is what we would have paid for removing the joins.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back to the zero-amount slide. The grade is where the judgement lives,</a:t>
            </a:r>
          </a:p>
          <a:p>
            <a:r>
              <a:t>and the brief says explicitly that an ungraded rule scores the same as no rule.</a:t>
            </a:r>
          </a:p>
          <a:p/>
          <a:p>
            <a:r>
              <a:t>If pushed on "why not just reject everything broken": 2.5 million rows are in</a:t>
            </a:r>
          </a:p>
          <a:p>
            <a:r>
              <a:t>the green band and change no answer. Rejecting them would be deleting most of</a:t>
            </a:r>
          </a:p>
          <a:p>
            <a:r>
              <a:t>the dataset to improve nothing.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piece that produced the 10/10. The model had no database access -</a:t>
            </a:r>
          </a:p>
          <a:p>
            <a:r>
              <a:t>only this file and the question.</a:t>
            </a:r>
          </a:p>
          <a:p/>
          <a:p>
            <a:r>
              <a:t>The verification matters more than the file: 100 columns described, and the</a:t>
            </a:r>
          </a:p>
          <a:p>
            <a:r>
              <a:t>build fails if any of them stops matching reality.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bypass attempts were put through the parser - comment-hidden second</a:t>
            </a:r>
          </a:p>
          <a:p>
            <a:r>
              <a:t>statements, writes buried in a WITH clause, reading internal schemas, file</a:t>
            </a:r>
          </a:p>
          <a:p>
            <a:r>
              <a:t>functions. All rejected.</a:t>
            </a:r>
          </a:p>
          <a:p/>
          <a:p>
            <a:r>
              <a:t>Important honesty point: the parser is NOT the security boundary. The three</a:t>
            </a:r>
          </a:p>
          <a:p>
            <a:r>
              <a:t>attempts that got past it were then refused by the database itself, because</a:t>
            </a:r>
          </a:p>
          <a:p>
            <a:r>
              <a:t>the account is unprivileged. Two independent controls, and we tested both.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DuckDB, which would have been faster: the one task that is</a:t>
            </a:r>
          </a:p>
          <a:p>
            <a:r>
              <a:t>purely about control would have had no evidence behind it.</a:t>
            </a:r>
          </a:p>
          <a:p/>
          <a:p>
            <a:r>
              <a:t>The brief warns in bold about spending the time on infrastructure. Total</a:t>
            </a:r>
          </a:p>
          <a:p>
            <a:r>
              <a:t>infrastructure cost here: one 50-line shell script that starts Postgres.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specific here is the point. "It would need more hardware" is not an</a:t>
            </a:r>
          </a:p>
          <a:p>
            <a:r>
              <a:t>answer; "the month-end balance table becomes 32 billion pre-computed rows" is.</a:t>
            </a:r>
          </a:p>
          <a:p/>
          <a:p>
            <a:r>
              <a:t>The design does not change for the entitlement one - it is still a rule on the</a:t>
            </a:r>
          </a:p>
          <a:p>
            <a:r>
              <a:t>table, and onboarding is still an insert. Only the lookup's shape changes.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answers three different questions that tend to get merged: is it</a:t>
            </a:r>
          </a:p>
          <a:p>
            <a:r>
              <a:t>complete against the brief, is it trustworthy, and what would happen next.</a:t>
            </a:r>
          </a:p>
          <a:p/>
          <a:p>
            <a:r>
              <a:t>Completeness is a checklist and it is on two slides. Trustworthiness is the two</a:t>
            </a:r>
          </a:p>
          <a:p>
            <a:r>
              <a:t>bugs the build found in itself, and the thin column. Next steps are in</a:t>
            </a:r>
          </a:p>
          <a:p>
            <a:r>
              <a:t>dependency order.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reproducibility, not the counts. The counts are only credible</a:t>
            </a:r>
          </a:p>
          <a:p>
            <a:r>
              <a:t>because of it.</a:t>
            </a:r>
          </a:p>
          <a:p/>
          <a:p>
            <a:r>
              <a:t>The "0 numbers typed by hand" claim is not free, and section 2.1 of the review</a:t>
            </a:r>
          </a:p>
          <a:p>
            <a:r>
              <a:t>is the honest footnote: one hard-coded test count had gone stale in the</a:t>
            </a:r>
          </a:p>
          <a:p>
            <a:r>
              <a:t>workbook's Overview tab. It was found by grepping the generators for literals</a:t>
            </a:r>
          </a:p>
          <a:p>
            <a:r>
              <a:t>and is now derived by collecting the suite. The lesson stated in the review is</a:t>
            </a:r>
          </a:p>
          <a:p>
            <a:r>
              <a:t>the one to say here: the honesty rule only works where it is mechanised.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leave up during questions.</a:t>
            </a:r>
          </a:p>
          <a:p/>
          <a:p>
            <a:r>
              <a:t>Seven schemas, four roles, eleven consumer views, one guard, one LLM call per</a:t>
            </a:r>
          </a:p>
          <a:p>
            <a:r>
              <a:t>question. Nothing on this map is a product that had to be bought or a service</a:t>
            </a:r>
          </a:p>
          <a:p>
            <a:r>
              <a:t>that had to be configured: it is one PostgreSQL database, a YAML file of rules,</a:t>
            </a:r>
          </a:p>
          <a:p>
            <a:r>
              <a:t>a YAML file of meaning, and about 3,900 lines of Python.</a:t>
            </a:r>
          </a:p>
          <a:p/>
          <a:p>
            <a:r>
              <a:t>Total infrastructure setup: a 50-line shell script that starts Postgres. The</a:t>
            </a:r>
          </a:p>
          <a:p>
            <a:r>
              <a:t>brief warns in bold about spending the time on tooling; this is the evidence</a:t>
            </a:r>
          </a:p>
          <a:p>
            <a:r>
              <a:t>that the warning was heeded.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orderings on this map are load-bearing and were both learned the hard way.</a:t>
            </a:r>
          </a:p>
          <a:p/>
          <a:p>
            <a:r>
              <a:t>Security is built BEFORE the consumer views, because a consumer view reads the</a:t>
            </a:r>
          </a:p>
          <a:p>
            <a:r>
              <a:t>entitlement list; building it the other way round fails. And the model is</a:t>
            </a:r>
          </a:p>
          <a:p>
            <a:r>
              <a:t>rebuilt whenever the consumer views are, because dropping them cascades.</a:t>
            </a:r>
          </a:p>
          <a:p/>
          <a:p>
            <a:r>
              <a:t>Both of those are in DECISIONS as D008 and D012. They are in the diagram so</a:t>
            </a:r>
          </a:p>
          <a:p>
            <a:r>
              <a:t>that nobody has to rediscover them.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these before being asked. A build with no bugs found in it either had no</a:t>
            </a:r>
          </a:p>
          <a:p>
            <a:r>
              <a:t>checks or is not being honest about them.</a:t>
            </a:r>
          </a:p>
          <a:p/>
          <a:p>
            <a:r>
              <a:t>The second one is the one to dwell on for Task 3: it is exactly the failure</a:t>
            </a:r>
          </a:p>
          <a:p>
            <a:r>
              <a:t>mode that reading the policies would have passed. The policy was correct the</a:t>
            </a:r>
          </a:p>
          <a:p>
            <a:r>
              <a:t>whole time. The view in front of it was not.</a:t>
            </a:r>
          </a:p>
          <a:p/>
          <a:p>
            <a:r>
              <a:t>Say the consequence plainly: this is why the entitlement claim is made by</a:t>
            </a:r>
          </a:p>
          <a:p>
            <a:r>
              <a:t>authenticating as four roles and counting rows, and not by quoting SQL.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right-hand column out loud. Volunteering the thin parts is cheaper</a:t>
            </a:r>
          </a:p>
          <a:p>
            <a:r>
              <a:t>than having them found, and it is the difference between a demo and an</a:t>
            </a:r>
          </a:p>
          <a:p>
            <a:r>
              <a:t>engineering review.</a:t>
            </a:r>
          </a:p>
          <a:p/>
          <a:p>
            <a:r>
              <a:t>Each one has a next step attached in REVIEW_AND_NEXT_STEPS section 4, in</a:t>
            </a:r>
          </a:p>
          <a:p>
            <a:r>
              <a:t>dependency order: the six Bronze tests come first because nothing else in the</a:t>
            </a:r>
          </a:p>
          <a:p>
            <a:r>
              <a:t>layered plan can be verified until they exist.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"completeness" is a grading criterion, not a feeling.</a:t>
            </a:r>
          </a:p>
          <a:p>
            <a:r>
              <a:t>Read it as a checklist; every row has an artefact and a piece of evidence, and</a:t>
            </a:r>
          </a:p>
          <a:p>
            <a:r>
              <a:t>nothing is marked done on the strength of prose.</a:t>
            </a:r>
          </a:p>
          <a:p/>
          <a:p>
            <a:r>
              <a:t>The row to point at is the third. The brief says a rule without a justified</a:t>
            </a:r>
          </a:p>
          <a:p>
            <a:r>
              <a:t>severity scores the same as no rule, so the justification is a required field</a:t>
            </a:r>
          </a:p>
          <a:p>
            <a:r>
              <a:t>on every rule and a test fails if one is missing.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disclosure row is the one not to skip past. The split is the point: the</a:t>
            </a:r>
          </a:p>
          <a:p>
            <a:r>
              <a:t>model wrote code and answered the ten questions; the reference answers it was</a:t>
            </a:r>
          </a:p>
          <a:p>
            <a:r>
              <a:t>graded against and all 88 quality rules were hand-written first, before the</a:t>
            </a:r>
          </a:p>
          <a:p>
            <a:r>
              <a:t>model saw them.</a:t>
            </a:r>
          </a:p>
          <a:p/>
          <a:p>
            <a:r>
              <a:t>That ordering is what makes "10 of 10 correct" mean anything. Grading against</a:t>
            </a:r>
          </a:p>
          <a:p>
            <a:r>
              <a:t>answers the same model produced would mean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deliberate omissions are as much a part of the answer as the five steps.</a:t>
            </a:r>
          </a:p>
          <a:p>
            <a:r>
              <a:t>Saying what was decided against, and why, is what separates a plan from a wish</a:t>
            </a:r>
          </a:p>
          <a:p>
            <a:r>
              <a:t>list.</a:t>
            </a:r>
          </a:p>
          <a:p/>
          <a:p>
            <a:r>
              <a:t>If asked whether the package migration is in scope: it is not, and the</a:t>
            </a:r>
          </a:p>
          <a:p>
            <a:r>
              <a:t>simulation is the deliberate answer to "what would you do next" - dummy code</a:t>
            </a:r>
          </a:p>
          <a:p>
            <a:r>
              <a:t>that proves the boundary is checkable, not production code refactored on a</a:t>
            </a:r>
          </a:p>
          <a:p>
            <a:r>
              <a:t>guess.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three claims, then stop. Do not re-summarise the deck.</a:t>
            </a:r>
          </a:p>
          <a:p/>
          <a:p>
            <a:r>
              <a:t>If there is one sentence to leave behind: the hard part of this brief was never</a:t>
            </a:r>
          </a:p>
          <a:p>
            <a:r>
              <a:t>writing rules or writing SQL - it was deciding what each defect costs, and</a:t>
            </a:r>
          </a:p>
          <a:p>
            <a:r>
              <a:t>making the entitlement something the question cannot argue with.</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exists because the product that was built is the part the ten</a:t>
            </a:r>
          </a:p>
          <a:p>
            <a:r>
              <a:t>questions needed, and the cleaned data supports roughly twice as much.</a:t>
            </a:r>
          </a:p>
          <a:p/>
          <a:p>
            <a:r>
              <a:t>The distinction to hold on to: nothing in this part is more cleaning. It is all</a:t>
            </a:r>
          </a:p>
          <a:p>
            <a:r>
              <a:t>modelling on data that is already clean, which is why it is cheap and safe.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framing: the gap is not cleaning that has not happened. Everything</a:t>
            </a:r>
          </a:p>
          <a:p>
            <a:r>
              <a:t>on the right is clean. It is cleaned data that nothing consumes.</a:t>
            </a:r>
          </a:p>
          <a:p/>
          <a:p>
            <a:r>
              <a:t>That is a normal and defensible state for a product built against ten specific</a:t>
            </a:r>
          </a:p>
          <a:p>
            <a:r>
              <a:t>questions - but it should be said out loud rather than left for someone to</a:t>
            </a:r>
          </a:p>
          <a:p>
            <a:r>
              <a:t>discover, because "we have a data product" and "we have a data product for</a:t>
            </a:r>
          </a:p>
          <a:p>
            <a:r>
              <a:t>these ten questions" are different claims.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out. Pick G1 and G2 and let the rest sit there as</a:t>
            </a:r>
          </a:p>
          <a:p>
            <a:r>
              <a:t>evidence that the list was thought about.</a:t>
            </a:r>
          </a:p>
          <a:p/>
          <a:p>
            <a:r>
              <a:t>G1 because it is a whole business concept missing from the product, not an</a:t>
            </a:r>
          </a:p>
          <a:p>
            <a:r>
              <a:t>attribute. G2 because it is the one that changes what the product costs to</a:t>
            </a:r>
          </a:p>
          <a:p>
            <a:r>
              <a:t>query - and it pairs with the month-end balance table that already exists:</a:t>
            </a:r>
          </a:p>
          <a:p>
            <a:r>
              <a:t>flow beside stock, on the same grain.</a:t>
            </a:r>
          </a:p>
          <a:p/>
          <a:p>
            <a:r>
              <a:t>The last line is the one to say deliberately. Three of the eight carry a</a:t>
            </a:r>
          </a:p>
          <a:p>
            <a:r>
              <a:t>caveat that is a business decision, not a technical one: how to attribute a</a:t>
            </a:r>
          </a:p>
          <a:p>
            <a:r>
              <a:t>card posting, how to attribute a loan repayment. Those are conversations, and</a:t>
            </a:r>
          </a:p>
          <a:p>
            <a:r>
              <a:t>guessing at them is how you get a confidently wrong table.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short and it is the one that makes the previous one credible.</a:t>
            </a:r>
          </a:p>
          <a:p>
            <a:r>
              <a:t>Anybody can list eight tables they could build. The question a reviewer is</a:t>
            </a:r>
          </a:p>
          <a:p>
            <a:r>
              <a:t>actually asking is whether you know where the data stops.</a:t>
            </a:r>
          </a:p>
          <a:p/>
          <a:p>
            <a:r>
              <a:t>The third is the one with the most consequence for a real deployment: this is a</a:t>
            </a:r>
          </a:p>
          <a:p>
            <a:r>
              <a:t>snapshot, so the history has to start being captured now. Every month that</a:t>
            </a:r>
          </a:p>
          <a:p>
            <a:r>
              <a:t>passes without capturing it is a month of history that cannot be reconstructed</a:t>
            </a:r>
          </a:p>
          <a:p>
            <a:r>
              <a:t>later.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4160520"/>
            <a:ext cx="12191695" cy="54864"/>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03120"/>
            <a:ext cx="10058400" cy="914400"/>
          </a:xfrm>
          <a:prstGeom prst="rect">
            <a:avLst/>
          </a:prstGeom>
          <a:noFill/>
        </p:spPr>
        <p:txBody>
          <a:bodyPr wrap="square">
            <a:spAutoFit/>
          </a:bodyPr>
          <a:lstStyle/>
          <a:p>
            <a:pPr algn="l">
              <a:spcAft>
                <a:spcPts val="400"/>
              </a:spcAft>
            </a:pPr>
            <a:r>
              <a:rPr sz="4400" b="1">
                <a:solidFill>
                  <a:srgbClr val="FFFFFF"/>
                </a:solidFill>
                <a:latin typeface="Calibri"/>
              </a:rPr>
              <a:t>The Governed Data Product for AI</a:t>
            </a:r>
          </a:p>
        </p:txBody>
      </p:sp>
      <p:sp>
        <p:nvSpPr>
          <p:cNvPr id="5" name="TextBox 4"/>
          <p:cNvSpPr txBox="1"/>
          <p:nvPr/>
        </p:nvSpPr>
        <p:spPr>
          <a:xfrm>
            <a:off x="1005840" y="3063240"/>
            <a:ext cx="10058400" cy="548640"/>
          </a:xfrm>
          <a:prstGeom prst="rect">
            <a:avLst/>
          </a:prstGeom>
          <a:noFill/>
        </p:spPr>
        <p:txBody>
          <a:bodyPr wrap="square">
            <a:spAutoFit/>
          </a:bodyPr>
          <a:lstStyle/>
          <a:p>
            <a:pPr algn="l">
              <a:spcAft>
                <a:spcPts val="0"/>
              </a:spcAft>
            </a:pPr>
            <a:r>
              <a:rPr sz="1900" b="0">
                <a:solidFill>
                  <a:srgbClr val="C9D6EA"/>
                </a:solidFill>
                <a:latin typeface="Calibri"/>
              </a:rPr>
              <a:t>Making a bank's data safe for an AI assistant to answer questions from</a:t>
            </a:r>
          </a:p>
        </p:txBody>
      </p:sp>
      <p:sp>
        <p:nvSpPr>
          <p:cNvPr id="6" name="TextBox 5"/>
          <p:cNvSpPr txBox="1"/>
          <p:nvPr/>
        </p:nvSpPr>
        <p:spPr>
          <a:xfrm>
            <a:off x="1005840" y="4480560"/>
            <a:ext cx="10058400" cy="1097280"/>
          </a:xfrm>
          <a:prstGeom prst="rect">
            <a:avLst/>
          </a:prstGeom>
          <a:noFill/>
        </p:spPr>
        <p:txBody>
          <a:bodyPr wrap="square">
            <a:spAutoFit/>
          </a:bodyPr>
          <a:lstStyle/>
          <a:p>
            <a:pPr algn="l">
              <a:spcAft>
                <a:spcPts val="500"/>
              </a:spcAft>
            </a:pPr>
            <a:r>
              <a:rPr sz="1400" b="0">
                <a:solidFill>
                  <a:srgbClr val="9AB2D8"/>
                </a:solidFill>
                <a:latin typeface="Calibri"/>
              </a:rPr>
              <a:t>Berka (PKDD'99) dataset  ·  1,079,680 rows  ·  one database, one language</a:t>
            </a:r>
          </a:p>
          <a:p>
            <a:pPr algn="l">
              <a:spcAft>
                <a:spcPts val="500"/>
              </a:spcAft>
            </a:pPr>
            <a:r>
              <a:rPr sz="1400" b="0">
                <a:solidFill>
                  <a:srgbClr val="9AB2D8"/>
                </a:solidFill>
                <a:latin typeface="Calibri"/>
              </a:rPr>
              <a:t>Built and verified end to end in 4 minutes 28 seconds, from an empty database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PROBLEM</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A bank wants to ask its data questions in plain English</a:t>
            </a:r>
          </a:p>
        </p:txBody>
      </p:sp>
      <p:sp>
        <p:nvSpPr>
          <p:cNvPr id="4" name="TextBox 3"/>
          <p:cNvSpPr txBox="1"/>
          <p:nvPr/>
        </p:nvSpPr>
        <p:spPr>
          <a:xfrm>
            <a:off x="640080" y="1463040"/>
            <a:ext cx="10972800" cy="914400"/>
          </a:xfrm>
          <a:prstGeom prst="rect">
            <a:avLst/>
          </a:prstGeom>
          <a:noFill/>
        </p:spPr>
        <p:txBody>
          <a:bodyPr wrap="square">
            <a:spAutoFit/>
          </a:bodyPr>
          <a:lstStyle/>
          <a:p>
            <a:pPr algn="l">
              <a:spcAft>
                <a:spcPts val="1000"/>
              </a:spcAft>
            </a:pPr>
            <a:r>
              <a:rPr sz="1800" b="0">
                <a:solidFill>
                  <a:srgbClr val="5B6472"/>
                </a:solidFill>
                <a:latin typeface="Calibri"/>
              </a:rPr>
              <a:t>Eight lists: people, accounts, loans, cards, who may use which account, every payment, standing orders, towns.</a:t>
            </a:r>
          </a:p>
        </p:txBody>
      </p:sp>
      <p:sp>
        <p:nvSpPr>
          <p:cNvPr id="5" name="TextBox 4"/>
          <p:cNvSpPr txBox="1"/>
          <p:nvPr/>
        </p:nvSpPr>
        <p:spPr>
          <a:xfrm>
            <a:off x="640080" y="2194560"/>
            <a:ext cx="10972800" cy="548640"/>
          </a:xfrm>
          <a:prstGeom prst="rect">
            <a:avLst/>
          </a:prstGeom>
          <a:noFill/>
        </p:spPr>
        <p:txBody>
          <a:bodyPr wrap="square">
            <a:spAutoFit/>
          </a:bodyPr>
          <a:lstStyle/>
          <a:p>
            <a:pPr algn="l">
              <a:spcAft>
                <a:spcPts val="0"/>
              </a:spcAft>
            </a:pPr>
            <a:r>
              <a:rPr sz="2000" b="1">
                <a:solidFill>
                  <a:srgbClr val="1F2A44"/>
                </a:solidFill>
                <a:latin typeface="Calibri"/>
              </a:rPr>
              <a:t>An AI assistant can only answer correctly if three things are true. All three.</a:t>
            </a:r>
          </a:p>
        </p:txBody>
      </p:sp>
      <p:sp>
        <p:nvSpPr>
          <p:cNvPr id="6" name="Rounded Rectangle 5"/>
          <p:cNvSpPr/>
          <p:nvPr/>
        </p:nvSpPr>
        <p:spPr>
          <a:xfrm>
            <a:off x="640080" y="3017520"/>
            <a:ext cx="3566160" cy="1828800"/>
          </a:xfrm>
          <a:prstGeom prst="roundRect">
            <a:avLst>
              <a:gd name="adj" fmla="val 4000"/>
            </a:avLst>
          </a:prstGeom>
          <a:solidFill>
            <a:srgbClr val="F7F9FC"/>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246120"/>
            <a:ext cx="3108960" cy="457200"/>
          </a:xfrm>
          <a:prstGeom prst="rect">
            <a:avLst/>
          </a:prstGeom>
          <a:noFill/>
        </p:spPr>
        <p:txBody>
          <a:bodyPr wrap="square">
            <a:spAutoFit/>
          </a:bodyPr>
          <a:lstStyle/>
          <a:p>
            <a:pPr algn="l">
              <a:spcAft>
                <a:spcPts val="600"/>
              </a:spcAft>
            </a:pPr>
            <a:r>
              <a:rPr sz="1700" b="1">
                <a:solidFill>
                  <a:srgbClr val="1F3864"/>
                </a:solidFill>
                <a:latin typeface="Calibri"/>
              </a:rPr>
              <a:t>1. The data is tidy</a:t>
            </a:r>
          </a:p>
        </p:txBody>
      </p:sp>
      <p:sp>
        <p:nvSpPr>
          <p:cNvPr id="8" name="TextBox 7"/>
          <p:cNvSpPr txBox="1"/>
          <p:nvPr/>
        </p:nvSpPr>
        <p:spPr>
          <a:xfrm>
            <a:off x="868680" y="3794760"/>
            <a:ext cx="3108960" cy="1097280"/>
          </a:xfrm>
          <a:prstGeom prst="rect">
            <a:avLst/>
          </a:prstGeom>
          <a:noFill/>
        </p:spPr>
        <p:txBody>
          <a:bodyPr wrap="square">
            <a:spAutoFit/>
          </a:bodyPr>
          <a:lstStyle/>
          <a:p>
            <a:pPr algn="l">
              <a:spcAft>
                <a:spcPts val="0"/>
              </a:spcAft>
            </a:pPr>
            <a:r>
              <a:rPr sz="1300" b="0">
                <a:solidFill>
                  <a:srgbClr val="5B6472"/>
                </a:solidFill>
                <a:latin typeface="Calibri"/>
              </a:rPr>
              <a:t>If one payment is written down twice, every total that
includes it is too big - and nothing shows an error.</a:t>
            </a:r>
          </a:p>
        </p:txBody>
      </p:sp>
      <p:sp>
        <p:nvSpPr>
          <p:cNvPr id="9" name="Rounded Rectangle 8"/>
          <p:cNvSpPr/>
          <p:nvPr/>
        </p:nvSpPr>
        <p:spPr>
          <a:xfrm>
            <a:off x="4526280" y="3017520"/>
            <a:ext cx="3566160" cy="1828800"/>
          </a:xfrm>
          <a:prstGeom prst="roundRect">
            <a:avLst>
              <a:gd name="adj" fmla="val 4000"/>
            </a:avLst>
          </a:prstGeom>
          <a:solidFill>
            <a:srgbClr val="F7F9FC"/>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3246120"/>
            <a:ext cx="3108960" cy="457200"/>
          </a:xfrm>
          <a:prstGeom prst="rect">
            <a:avLst/>
          </a:prstGeom>
          <a:noFill/>
        </p:spPr>
        <p:txBody>
          <a:bodyPr wrap="square">
            <a:spAutoFit/>
          </a:bodyPr>
          <a:lstStyle/>
          <a:p>
            <a:pPr algn="l">
              <a:spcAft>
                <a:spcPts val="600"/>
              </a:spcAft>
            </a:pPr>
            <a:r>
              <a:rPr sz="1700" b="1">
                <a:solidFill>
                  <a:srgbClr val="B45309"/>
                </a:solidFill>
                <a:latin typeface="Calibri"/>
              </a:rPr>
              <a:t>2. The words mean one thing</a:t>
            </a:r>
          </a:p>
        </p:txBody>
      </p:sp>
      <p:sp>
        <p:nvSpPr>
          <p:cNvPr id="11" name="TextBox 10"/>
          <p:cNvSpPr txBox="1"/>
          <p:nvPr/>
        </p:nvSpPr>
        <p:spPr>
          <a:xfrm>
            <a:off x="4754880" y="3794760"/>
            <a:ext cx="3108960" cy="1097280"/>
          </a:xfrm>
          <a:prstGeom prst="rect">
            <a:avLst/>
          </a:prstGeom>
          <a:noFill/>
        </p:spPr>
        <p:txBody>
          <a:bodyPr wrap="square">
            <a:spAutoFit/>
          </a:bodyPr>
          <a:lstStyle/>
          <a:p>
            <a:pPr algn="l">
              <a:spcAft>
                <a:spcPts val="0"/>
              </a:spcAft>
            </a:pPr>
            <a:r>
              <a:rPr sz="1300" b="0">
                <a:solidFill>
                  <a:srgbClr val="5B6472"/>
                </a:solidFill>
                <a:latin typeface="Calibri"/>
              </a:rPr>
              <a:t>If "a bad loan" means something different to you and to me,
we will both be confident, and we will disagree.</a:t>
            </a:r>
          </a:p>
        </p:txBody>
      </p:sp>
      <p:sp>
        <p:nvSpPr>
          <p:cNvPr id="12" name="Rounded Rectangle 11"/>
          <p:cNvSpPr/>
          <p:nvPr/>
        </p:nvSpPr>
        <p:spPr>
          <a:xfrm>
            <a:off x="8412480" y="3017520"/>
            <a:ext cx="3566160" cy="1828800"/>
          </a:xfrm>
          <a:prstGeom prst="roundRect">
            <a:avLst>
              <a:gd name="adj" fmla="val 4000"/>
            </a:avLst>
          </a:prstGeom>
          <a:solidFill>
            <a:srgbClr val="F7F9FC"/>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3246120"/>
            <a:ext cx="3108960" cy="457200"/>
          </a:xfrm>
          <a:prstGeom prst="rect">
            <a:avLst/>
          </a:prstGeom>
          <a:noFill/>
        </p:spPr>
        <p:txBody>
          <a:bodyPr wrap="square">
            <a:spAutoFit/>
          </a:bodyPr>
          <a:lstStyle/>
          <a:p>
            <a:pPr algn="l">
              <a:spcAft>
                <a:spcPts val="600"/>
              </a:spcAft>
            </a:pPr>
            <a:r>
              <a:rPr sz="1700" b="1">
                <a:solidFill>
                  <a:srgbClr val="15803D"/>
                </a:solidFill>
                <a:latin typeface="Calibri"/>
              </a:rPr>
              <a:t>3. People see only their own</a:t>
            </a:r>
          </a:p>
        </p:txBody>
      </p:sp>
      <p:sp>
        <p:nvSpPr>
          <p:cNvPr id="14" name="TextBox 13"/>
          <p:cNvSpPr txBox="1"/>
          <p:nvPr/>
        </p:nvSpPr>
        <p:spPr>
          <a:xfrm>
            <a:off x="8641080" y="3794760"/>
            <a:ext cx="3108960" cy="1097280"/>
          </a:xfrm>
          <a:prstGeom prst="rect">
            <a:avLst/>
          </a:prstGeom>
          <a:noFill/>
        </p:spPr>
        <p:txBody>
          <a:bodyPr wrap="square">
            <a:spAutoFit/>
          </a:bodyPr>
          <a:lstStyle/>
          <a:p>
            <a:pPr algn="l">
              <a:spcAft>
                <a:spcPts val="0"/>
              </a:spcAft>
            </a:pPr>
            <a:r>
              <a:rPr sz="1300" b="0">
                <a:solidFill>
                  <a:srgbClr val="5B6472"/>
                </a:solidFill>
                <a:latin typeface="Calibri"/>
              </a:rPr>
              <a:t>A bank is not allowed to let everyone see everything.
And the AI must not be the thing deciding that.</a:t>
            </a:r>
          </a:p>
        </p:txBody>
      </p:sp>
      <p:sp>
        <p:nvSpPr>
          <p:cNvPr id="15" name="TextBox 14"/>
          <p:cNvSpPr txBox="1"/>
          <p:nvPr/>
        </p:nvSpPr>
        <p:spPr>
          <a:xfrm>
            <a:off x="640080" y="5120640"/>
            <a:ext cx="10972800" cy="548640"/>
          </a:xfrm>
          <a:prstGeom prst="rect">
            <a:avLst/>
          </a:prstGeom>
          <a:noFill/>
        </p:spPr>
        <p:txBody>
          <a:bodyPr wrap="square">
            <a:spAutoFit/>
          </a:bodyPr>
          <a:lstStyle/>
          <a:p>
            <a:pPr algn="l">
              <a:spcAft>
                <a:spcPts val="0"/>
              </a:spcAft>
            </a:pPr>
            <a:r>
              <a:rPr sz="1600" b="1">
                <a:solidFill>
                  <a:srgbClr val="991B1B"/>
                </a:solidFill>
                <a:latin typeface="Calibri"/>
              </a:rPr>
              <a:t>Miss any one of them and the assistant gives an answer that looks right and is wrong - which is worse than no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WAY OF WORKING</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Four steps. Like cooking from a messy box of shopping.</a:t>
            </a:r>
          </a:p>
        </p:txBody>
      </p:sp>
      <p:sp>
        <p:nvSpPr>
          <p:cNvPr id="4" name="Rounded Rectangle 3"/>
          <p:cNvSpPr/>
          <p:nvPr/>
        </p:nvSpPr>
        <p:spPr>
          <a:xfrm>
            <a:off x="548640" y="1600200"/>
            <a:ext cx="2697480" cy="3108960"/>
          </a:xfrm>
          <a:prstGeom prst="roundRect">
            <a:avLst>
              <a:gd name="adj" fmla="val 4000"/>
            </a:avLst>
          </a:prstGeom>
          <a:solidFill>
            <a:srgbClr val="FFFFFF"/>
          </a:solidFill>
          <a:ln w="254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00200"/>
            <a:ext cx="2697480" cy="47548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82496"/>
            <a:ext cx="2697480" cy="365760"/>
          </a:xfrm>
          <a:prstGeom prst="rect">
            <a:avLst/>
          </a:prstGeom>
          <a:noFill/>
        </p:spPr>
        <p:txBody>
          <a:bodyPr wrap="square">
            <a:spAutoFit/>
          </a:bodyPr>
          <a:lstStyle/>
          <a:p>
            <a:pPr algn="l">
              <a:spcAft>
                <a:spcPts val="0"/>
              </a:spcAft>
            </a:pPr>
            <a:r>
              <a:rPr sz="1500" b="1">
                <a:solidFill>
                  <a:srgbClr val="FFFFFF"/>
                </a:solidFill>
                <a:latin typeface="Calibri"/>
              </a:rPr>
              <a:t>1  BRONZE</a:t>
            </a:r>
          </a:p>
        </p:txBody>
      </p:sp>
      <p:sp>
        <p:nvSpPr>
          <p:cNvPr id="7" name="TextBox 6"/>
          <p:cNvSpPr txBox="1"/>
          <p:nvPr/>
        </p:nvSpPr>
        <p:spPr>
          <a:xfrm>
            <a:off x="749808" y="2286000"/>
            <a:ext cx="2295144" cy="914400"/>
          </a:xfrm>
          <a:prstGeom prst="rect">
            <a:avLst/>
          </a:prstGeom>
          <a:noFill/>
        </p:spPr>
        <p:txBody>
          <a:bodyPr wrap="square">
            <a:spAutoFit/>
          </a:bodyPr>
          <a:lstStyle/>
          <a:p>
            <a:pPr algn="l">
              <a:spcAft>
                <a:spcPts val="0"/>
              </a:spcAft>
            </a:pPr>
            <a:r>
              <a:rPr sz="1500" b="1">
                <a:solidFill>
                  <a:srgbClr val="1F2A44"/>
                </a:solidFill>
                <a:latin typeface="Calibri"/>
              </a:rPr>
              <a:t>Photocopy everything.
Change nothing.</a:t>
            </a:r>
          </a:p>
        </p:txBody>
      </p:sp>
      <p:sp>
        <p:nvSpPr>
          <p:cNvPr id="8" name="TextBox 7"/>
          <p:cNvSpPr txBox="1"/>
          <p:nvPr/>
        </p:nvSpPr>
        <p:spPr>
          <a:xfrm>
            <a:off x="749808" y="3429000"/>
            <a:ext cx="2295144" cy="1097280"/>
          </a:xfrm>
          <a:prstGeom prst="rect">
            <a:avLst/>
          </a:prstGeom>
          <a:noFill/>
        </p:spPr>
        <p:txBody>
          <a:bodyPr wrap="square">
            <a:spAutoFit/>
          </a:bodyPr>
          <a:lstStyle/>
          <a:p>
            <a:pPr algn="l">
              <a:spcAft>
                <a:spcPts val="0"/>
              </a:spcAft>
            </a:pPr>
            <a:r>
              <a:rPr sz="1250" b="0">
                <a:solidFill>
                  <a:srgbClr val="5B6472"/>
                </a:solidFill>
                <a:latin typeface="Calibri"/>
              </a:rPr>
              <a:t>So we can always say what
actually arrived.</a:t>
            </a:r>
          </a:p>
        </p:txBody>
      </p:sp>
      <p:sp>
        <p:nvSpPr>
          <p:cNvPr id="9" name="Rounded Rectangle 8"/>
          <p:cNvSpPr/>
          <p:nvPr/>
        </p:nvSpPr>
        <p:spPr>
          <a:xfrm>
            <a:off x="3447288" y="1600200"/>
            <a:ext cx="2697480" cy="3108960"/>
          </a:xfrm>
          <a:prstGeom prst="roundRect">
            <a:avLst>
              <a:gd name="adj" fmla="val 4000"/>
            </a:avLst>
          </a:prstGeom>
          <a:solidFill>
            <a:srgbClr val="FFFFFF"/>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47288" y="1600200"/>
            <a:ext cx="2697480" cy="475488"/>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0168" y="1682496"/>
            <a:ext cx="2697480" cy="365760"/>
          </a:xfrm>
          <a:prstGeom prst="rect">
            <a:avLst/>
          </a:prstGeom>
          <a:noFill/>
        </p:spPr>
        <p:txBody>
          <a:bodyPr wrap="square">
            <a:spAutoFit/>
          </a:bodyPr>
          <a:lstStyle/>
          <a:p>
            <a:pPr algn="l">
              <a:spcAft>
                <a:spcPts val="0"/>
              </a:spcAft>
            </a:pPr>
            <a:r>
              <a:rPr sz="1500" b="1">
                <a:solidFill>
                  <a:srgbClr val="FFFFFF"/>
                </a:solidFill>
                <a:latin typeface="Calibri"/>
              </a:rPr>
              <a:t>2  SILVER</a:t>
            </a:r>
          </a:p>
        </p:txBody>
      </p:sp>
      <p:sp>
        <p:nvSpPr>
          <p:cNvPr id="12" name="TextBox 11"/>
          <p:cNvSpPr txBox="1"/>
          <p:nvPr/>
        </p:nvSpPr>
        <p:spPr>
          <a:xfrm>
            <a:off x="3648456" y="2286000"/>
            <a:ext cx="2295144" cy="914400"/>
          </a:xfrm>
          <a:prstGeom prst="rect">
            <a:avLst/>
          </a:prstGeom>
          <a:noFill/>
        </p:spPr>
        <p:txBody>
          <a:bodyPr wrap="square">
            <a:spAutoFit/>
          </a:bodyPr>
          <a:lstStyle/>
          <a:p>
            <a:pPr algn="l">
              <a:spcAft>
                <a:spcPts val="0"/>
              </a:spcAft>
            </a:pPr>
            <a:r>
              <a:rPr sz="1500" b="1">
                <a:solidFill>
                  <a:srgbClr val="1F2A44"/>
                </a:solidFill>
                <a:latin typeface="Calibri"/>
              </a:rPr>
              <a:t>Tidy up. Check everything.
Grade what is broken.</a:t>
            </a:r>
          </a:p>
        </p:txBody>
      </p:sp>
      <p:sp>
        <p:nvSpPr>
          <p:cNvPr id="13" name="TextBox 12"/>
          <p:cNvSpPr txBox="1"/>
          <p:nvPr/>
        </p:nvSpPr>
        <p:spPr>
          <a:xfrm>
            <a:off x="3648456" y="3429000"/>
            <a:ext cx="2295144" cy="1097280"/>
          </a:xfrm>
          <a:prstGeom prst="rect">
            <a:avLst/>
          </a:prstGeom>
          <a:noFill/>
        </p:spPr>
        <p:txBody>
          <a:bodyPr wrap="square">
            <a:spAutoFit/>
          </a:bodyPr>
          <a:lstStyle/>
          <a:p>
            <a:pPr algn="l">
              <a:spcAft>
                <a:spcPts val="0"/>
              </a:spcAft>
            </a:pPr>
            <a:r>
              <a:rPr sz="1250" b="0">
                <a:solidFill>
                  <a:srgbClr val="5B6472"/>
                </a:solidFill>
                <a:latin typeface="Calibri"/>
              </a:rPr>
              <a:t>123 checks. Three grades:
red, orange, green.</a:t>
            </a:r>
          </a:p>
        </p:txBody>
      </p:sp>
      <p:sp>
        <p:nvSpPr>
          <p:cNvPr id="14" name="Rounded Rectangle 13"/>
          <p:cNvSpPr/>
          <p:nvPr/>
        </p:nvSpPr>
        <p:spPr>
          <a:xfrm>
            <a:off x="6345936" y="1600200"/>
            <a:ext cx="2697480" cy="3108960"/>
          </a:xfrm>
          <a:prstGeom prst="roundRect">
            <a:avLst>
              <a:gd name="adj" fmla="val 4000"/>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45936" y="1600200"/>
            <a:ext cx="2697480" cy="47548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1682496"/>
            <a:ext cx="2697480" cy="365760"/>
          </a:xfrm>
          <a:prstGeom prst="rect">
            <a:avLst/>
          </a:prstGeom>
          <a:noFill/>
        </p:spPr>
        <p:txBody>
          <a:bodyPr wrap="square">
            <a:spAutoFit/>
          </a:bodyPr>
          <a:lstStyle/>
          <a:p>
            <a:pPr algn="l">
              <a:spcAft>
                <a:spcPts val="0"/>
              </a:spcAft>
            </a:pPr>
            <a:r>
              <a:rPr sz="1500" b="1">
                <a:solidFill>
                  <a:srgbClr val="FFFFFF"/>
                </a:solidFill>
                <a:latin typeface="Calibri"/>
              </a:rPr>
              <a:t>3  GOLD</a:t>
            </a:r>
          </a:p>
        </p:txBody>
      </p:sp>
      <p:sp>
        <p:nvSpPr>
          <p:cNvPr id="17" name="TextBox 16"/>
          <p:cNvSpPr txBox="1"/>
          <p:nvPr/>
        </p:nvSpPr>
        <p:spPr>
          <a:xfrm>
            <a:off x="6547104" y="2286000"/>
            <a:ext cx="2295144" cy="914400"/>
          </a:xfrm>
          <a:prstGeom prst="rect">
            <a:avLst/>
          </a:prstGeom>
          <a:noFill/>
        </p:spPr>
        <p:txBody>
          <a:bodyPr wrap="square">
            <a:spAutoFit/>
          </a:bodyPr>
          <a:lstStyle/>
          <a:p>
            <a:pPr algn="l">
              <a:spcAft>
                <a:spcPts val="0"/>
              </a:spcAft>
            </a:pPr>
            <a:r>
              <a:rPr sz="1500" b="1">
                <a:solidFill>
                  <a:srgbClr val="1F2A44"/>
                </a:solidFill>
                <a:latin typeface="Calibri"/>
              </a:rPr>
              <a:t>Build the shelves.
Agree what words mean.</a:t>
            </a:r>
          </a:p>
        </p:txBody>
      </p:sp>
      <p:sp>
        <p:nvSpPr>
          <p:cNvPr id="18" name="TextBox 17"/>
          <p:cNvSpPr txBox="1"/>
          <p:nvPr/>
        </p:nvSpPr>
        <p:spPr>
          <a:xfrm>
            <a:off x="6547104" y="3429000"/>
            <a:ext cx="2295144" cy="1097280"/>
          </a:xfrm>
          <a:prstGeom prst="rect">
            <a:avLst/>
          </a:prstGeom>
          <a:noFill/>
        </p:spPr>
        <p:txBody>
          <a:bodyPr wrap="square">
            <a:spAutoFit/>
          </a:bodyPr>
          <a:lstStyle/>
          <a:p>
            <a:pPr algn="l">
              <a:spcAft>
                <a:spcPts val="0"/>
              </a:spcAft>
            </a:pPr>
            <a:r>
              <a:rPr sz="1250" b="0">
                <a:solidFill>
                  <a:srgbClr val="5B6472"/>
                </a:solidFill>
                <a:latin typeface="Calibri"/>
              </a:rPr>
              <a:t>Decide once, write it down,
so nobody redefines it.</a:t>
            </a:r>
          </a:p>
        </p:txBody>
      </p:sp>
      <p:sp>
        <p:nvSpPr>
          <p:cNvPr id="19" name="Rounded Rectangle 18"/>
          <p:cNvSpPr/>
          <p:nvPr/>
        </p:nvSpPr>
        <p:spPr>
          <a:xfrm>
            <a:off x="9244584" y="1600200"/>
            <a:ext cx="2697480" cy="3108960"/>
          </a:xfrm>
          <a:prstGeom prst="roundRect">
            <a:avLst>
              <a:gd name="adj" fmla="val 4000"/>
            </a:avLst>
          </a:prstGeom>
          <a:solidFill>
            <a:srgbClr val="FFFFFF"/>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44584" y="1600200"/>
            <a:ext cx="2697480" cy="47548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27464" y="1682496"/>
            <a:ext cx="2697480" cy="365760"/>
          </a:xfrm>
          <a:prstGeom prst="rect">
            <a:avLst/>
          </a:prstGeom>
          <a:noFill/>
        </p:spPr>
        <p:txBody>
          <a:bodyPr wrap="square">
            <a:spAutoFit/>
          </a:bodyPr>
          <a:lstStyle/>
          <a:p>
            <a:pPr algn="l">
              <a:spcAft>
                <a:spcPts val="0"/>
              </a:spcAft>
            </a:pPr>
            <a:r>
              <a:rPr sz="1500" b="1">
                <a:solidFill>
                  <a:srgbClr val="FFFFFF"/>
                </a:solidFill>
                <a:latin typeface="Calibri"/>
              </a:rPr>
              <a:t>4  SERVE</a:t>
            </a:r>
          </a:p>
        </p:txBody>
      </p:sp>
      <p:sp>
        <p:nvSpPr>
          <p:cNvPr id="22" name="TextBox 21"/>
          <p:cNvSpPr txBox="1"/>
          <p:nvPr/>
        </p:nvSpPr>
        <p:spPr>
          <a:xfrm>
            <a:off x="9445752" y="2286000"/>
            <a:ext cx="2295144" cy="914400"/>
          </a:xfrm>
          <a:prstGeom prst="rect">
            <a:avLst/>
          </a:prstGeom>
          <a:noFill/>
        </p:spPr>
        <p:txBody>
          <a:bodyPr wrap="square">
            <a:spAutoFit/>
          </a:bodyPr>
          <a:lstStyle/>
          <a:p>
            <a:pPr algn="l">
              <a:spcAft>
                <a:spcPts val="0"/>
              </a:spcAft>
            </a:pPr>
            <a:r>
              <a:rPr sz="1500" b="1">
                <a:solidFill>
                  <a:srgbClr val="1F2A44"/>
                </a:solidFill>
                <a:latin typeface="Calibri"/>
              </a:rPr>
              <a:t>Let the AI ask -
with three safeguards.</a:t>
            </a:r>
          </a:p>
        </p:txBody>
      </p:sp>
      <p:sp>
        <p:nvSpPr>
          <p:cNvPr id="23" name="TextBox 22"/>
          <p:cNvSpPr txBox="1"/>
          <p:nvPr/>
        </p:nvSpPr>
        <p:spPr>
          <a:xfrm>
            <a:off x="9445752" y="3429000"/>
            <a:ext cx="2295144" cy="1097280"/>
          </a:xfrm>
          <a:prstGeom prst="rect">
            <a:avLst/>
          </a:prstGeom>
          <a:noFill/>
        </p:spPr>
        <p:txBody>
          <a:bodyPr wrap="square">
            <a:spAutoFit/>
          </a:bodyPr>
          <a:lstStyle/>
          <a:p>
            <a:pPr algn="l">
              <a:spcAft>
                <a:spcPts val="0"/>
              </a:spcAft>
            </a:pPr>
            <a:r>
              <a:rPr sz="1250" b="0">
                <a:solidFill>
                  <a:srgbClr val="5B6472"/>
                </a:solidFill>
                <a:latin typeface="Calibri"/>
              </a:rPr>
              <a:t>A dictionary, a bouncer,
and a lock on the shelf.</a:t>
            </a:r>
          </a:p>
        </p:txBody>
      </p:sp>
      <p:sp>
        <p:nvSpPr>
          <p:cNvPr id="24" name="TextBox 23"/>
          <p:cNvSpPr txBox="1"/>
          <p:nvPr/>
        </p:nvSpPr>
        <p:spPr>
          <a:xfrm>
            <a:off x="548640" y="5029200"/>
            <a:ext cx="11155680" cy="731520"/>
          </a:xfrm>
          <a:prstGeom prst="rect">
            <a:avLst/>
          </a:prstGeom>
          <a:noFill/>
        </p:spPr>
        <p:txBody>
          <a:bodyPr wrap="square">
            <a:spAutoFit/>
          </a:bodyPr>
          <a:lstStyle/>
          <a:p>
            <a:pPr algn="l">
              <a:spcAft>
                <a:spcPts val="0"/>
              </a:spcAft>
            </a:pPr>
            <a:r>
              <a:rPr sz="1500" b="0">
                <a:solidFill>
                  <a:srgbClr val="5B6472"/>
                </a:solidFill>
                <a:latin typeface="Calibri"/>
              </a:rPr>
              <a:t>The names are standard: bronze, silver, gold. What matters is that each step is allowed to do one job and not the next 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BRONZE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Step 1 — copy it exactly, and prove you did</a:t>
            </a:r>
          </a:p>
        </p:txBody>
      </p:sp>
      <p:sp>
        <p:nvSpPr>
          <p:cNvPr id="4" name="TextBox 3"/>
          <p:cNvSpPr txBox="1"/>
          <p:nvPr/>
        </p:nvSpPr>
        <p:spPr>
          <a:xfrm>
            <a:off x="640080" y="1554480"/>
            <a:ext cx="10972800" cy="4846320"/>
          </a:xfrm>
          <a:prstGeom prst="rect">
            <a:avLst/>
          </a:prstGeom>
          <a:noFill/>
        </p:spPr>
        <p:txBody>
          <a:bodyPr wrap="square">
            <a:spAutoFit/>
          </a:bodyPr>
          <a:lstStyle/>
          <a:p>
            <a:pPr algn="l">
              <a:spcAft>
                <a:spcPts val="1200"/>
              </a:spcAft>
            </a:pPr>
            <a:r>
              <a:rPr sz="1800" b="1">
                <a:solidFill>
                  <a:srgbClr val="1F2A44"/>
                </a:solidFill>
                <a:latin typeface="Calibri"/>
              </a:rPr>
              <a:t>     Every column arrives as plain text. Nothing is converted, nothing is fixed, nothing is dropped.</a:t>
            </a:r>
          </a:p>
          <a:p>
            <a:pPr algn="l">
              <a:spcAft>
                <a:spcPts val="1200"/>
              </a:spcAft>
            </a:pPr>
            <a:r>
              <a:rPr sz="1800" b="0">
                <a:solidFill>
                  <a:srgbClr val="5B6472"/>
                </a:solidFill>
                <a:latin typeface="Calibri"/>
              </a:rPr>
              <a:t>     A squashed tomato stays a squashed tomato. Fixing it here would hide it from the checks.</a:t>
            </a:r>
          </a:p>
          <a:p>
            <a:pPr algn="l">
              <a:spcAft>
                <a:spcPts val="1200"/>
              </a:spcAft>
            </a:pPr>
            <a:r>
              <a:rPr sz="1800" b="1">
                <a:solidFill>
                  <a:srgbClr val="1F2A44"/>
                </a:solidFill>
                <a:latin typeface="Calibri"/>
              </a:rPr>
              <a:t>     Each file gets a fingerprint - a code that changes if a single letter changes.</a:t>
            </a:r>
          </a:p>
          <a:p>
            <a:pPr algn="l">
              <a:spcAft>
                <a:spcPts val="1200"/>
              </a:spcAft>
            </a:pPr>
            <a:r>
              <a:rPr sz="1800" b="0">
                <a:solidFill>
                  <a:srgbClr val="5B6472"/>
                </a:solidFill>
                <a:latin typeface="Calibri"/>
              </a:rPr>
              <a:t>     So when somebody argues about a number six months later, we can prove the file never moved.</a:t>
            </a:r>
          </a:p>
          <a:p>
            <a:pPr algn="l">
              <a:spcAft>
                <a:spcPts val="1200"/>
              </a:spcAft>
            </a:pPr>
            <a:r>
              <a:rPr sz="1800" b="1">
                <a:solidFill>
                  <a:srgbClr val="1F2A44"/>
                </a:solidFill>
                <a:latin typeface="Calibri"/>
              </a:rPr>
              <a:t>     Running it twice gives exactly the same result.</a:t>
            </a:r>
          </a:p>
          <a:p>
            <a:pPr algn="l">
              <a:spcAft>
                <a:spcPts val="1200"/>
              </a:spcAft>
            </a:pPr>
            <a:r>
              <a:rPr sz="1800" b="0">
                <a:solidFill>
                  <a:srgbClr val="5B6472"/>
                </a:solidFill>
                <a:latin typeface="Calibri"/>
              </a:rPr>
              <a:t>     Nothing to repair if it is interrupted - just run it again.</a:t>
            </a:r>
          </a:p>
        </p:txBody>
      </p:sp>
      <p:sp>
        <p:nvSpPr>
          <p:cNvPr id="5" name="Rounded Rectangle 4"/>
          <p:cNvSpPr/>
          <p:nvPr/>
        </p:nvSpPr>
        <p:spPr>
          <a:xfrm>
            <a:off x="548640" y="4800600"/>
            <a:ext cx="260215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928616"/>
            <a:ext cx="2602153" cy="548640"/>
          </a:xfrm>
          <a:prstGeom prst="rect">
            <a:avLst/>
          </a:prstGeom>
          <a:noFill/>
        </p:spPr>
        <p:txBody>
          <a:bodyPr wrap="square">
            <a:spAutoFit/>
          </a:bodyPr>
          <a:lstStyle/>
          <a:p>
            <a:pPr algn="ctr">
              <a:spcAft>
                <a:spcPts val="0"/>
              </a:spcAft>
            </a:pPr>
            <a:r>
              <a:rPr sz="2600" b="1">
                <a:solidFill>
                  <a:srgbClr val="1F3864"/>
                </a:solidFill>
                <a:latin typeface="Calibri"/>
              </a:rPr>
              <a:t>1,079,680</a:t>
            </a:r>
          </a:p>
        </p:txBody>
      </p:sp>
      <p:sp>
        <p:nvSpPr>
          <p:cNvPr id="7" name="TextBox 6"/>
          <p:cNvSpPr txBox="1"/>
          <p:nvPr/>
        </p:nvSpPr>
        <p:spPr>
          <a:xfrm>
            <a:off x="640080" y="5458968"/>
            <a:ext cx="2419273" cy="457200"/>
          </a:xfrm>
          <a:prstGeom prst="rect">
            <a:avLst/>
          </a:prstGeom>
          <a:noFill/>
        </p:spPr>
        <p:txBody>
          <a:bodyPr wrap="square">
            <a:spAutoFit/>
          </a:bodyPr>
          <a:lstStyle/>
          <a:p>
            <a:pPr algn="ctr">
              <a:spcAft>
                <a:spcPts val="0"/>
              </a:spcAft>
            </a:pPr>
            <a:r>
              <a:rPr sz="1100" b="0">
                <a:solidFill>
                  <a:srgbClr val="5B6472"/>
                </a:solidFill>
                <a:latin typeface="Calibri"/>
              </a:rPr>
              <a:t>rows landed</a:t>
            </a:r>
          </a:p>
        </p:txBody>
      </p:sp>
      <p:sp>
        <p:nvSpPr>
          <p:cNvPr id="8" name="Rounded Rectangle 7"/>
          <p:cNvSpPr/>
          <p:nvPr/>
        </p:nvSpPr>
        <p:spPr>
          <a:xfrm>
            <a:off x="3379393" y="4800600"/>
            <a:ext cx="260215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79393" y="4928616"/>
            <a:ext cx="2602153" cy="548640"/>
          </a:xfrm>
          <a:prstGeom prst="rect">
            <a:avLst/>
          </a:prstGeom>
          <a:noFill/>
        </p:spPr>
        <p:txBody>
          <a:bodyPr wrap="square">
            <a:spAutoFit/>
          </a:bodyPr>
          <a:lstStyle/>
          <a:p>
            <a:pPr algn="ctr">
              <a:spcAft>
                <a:spcPts val="0"/>
              </a:spcAft>
            </a:pPr>
            <a:r>
              <a:rPr sz="2600" b="1">
                <a:solidFill>
                  <a:srgbClr val="1F3864"/>
                </a:solidFill>
                <a:latin typeface="Calibri"/>
              </a:rPr>
              <a:t>&lt; 4 sec</a:t>
            </a:r>
          </a:p>
        </p:txBody>
      </p:sp>
      <p:sp>
        <p:nvSpPr>
          <p:cNvPr id="10" name="TextBox 9"/>
          <p:cNvSpPr txBox="1"/>
          <p:nvPr/>
        </p:nvSpPr>
        <p:spPr>
          <a:xfrm>
            <a:off x="3470833" y="5458968"/>
            <a:ext cx="2419273" cy="457200"/>
          </a:xfrm>
          <a:prstGeom prst="rect">
            <a:avLst/>
          </a:prstGeom>
          <a:noFill/>
        </p:spPr>
        <p:txBody>
          <a:bodyPr wrap="square">
            <a:spAutoFit/>
          </a:bodyPr>
          <a:lstStyle/>
          <a:p>
            <a:pPr algn="ctr">
              <a:spcAft>
                <a:spcPts val="0"/>
              </a:spcAft>
            </a:pPr>
            <a:r>
              <a:rPr sz="1100" b="0">
                <a:solidFill>
                  <a:srgbClr val="5B6472"/>
                </a:solidFill>
                <a:latin typeface="Calibri"/>
              </a:rPr>
              <a:t>to load all eight files</a:t>
            </a:r>
          </a:p>
        </p:txBody>
      </p:sp>
      <p:sp>
        <p:nvSpPr>
          <p:cNvPr id="11" name="Rounded Rectangle 10"/>
          <p:cNvSpPr/>
          <p:nvPr/>
        </p:nvSpPr>
        <p:spPr>
          <a:xfrm>
            <a:off x="6210147" y="4800600"/>
            <a:ext cx="260215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0147" y="4928616"/>
            <a:ext cx="2602153" cy="548640"/>
          </a:xfrm>
          <a:prstGeom prst="rect">
            <a:avLst/>
          </a:prstGeom>
          <a:noFill/>
        </p:spPr>
        <p:txBody>
          <a:bodyPr wrap="square">
            <a:spAutoFit/>
          </a:bodyPr>
          <a:lstStyle/>
          <a:p>
            <a:pPr algn="ctr">
              <a:spcAft>
                <a:spcPts val="0"/>
              </a:spcAft>
            </a:pPr>
            <a:r>
              <a:rPr sz="2600" b="1">
                <a:solidFill>
                  <a:srgbClr val="1F3864"/>
                </a:solidFill>
                <a:latin typeface="Calibri"/>
              </a:rPr>
              <a:t>8 of 8</a:t>
            </a:r>
          </a:p>
        </p:txBody>
      </p:sp>
      <p:sp>
        <p:nvSpPr>
          <p:cNvPr id="13" name="TextBox 12"/>
          <p:cNvSpPr txBox="1"/>
          <p:nvPr/>
        </p:nvSpPr>
        <p:spPr>
          <a:xfrm>
            <a:off x="6301587" y="5458968"/>
            <a:ext cx="2419273" cy="457200"/>
          </a:xfrm>
          <a:prstGeom prst="rect">
            <a:avLst/>
          </a:prstGeom>
          <a:noFill/>
        </p:spPr>
        <p:txBody>
          <a:bodyPr wrap="square">
            <a:spAutoFit/>
          </a:bodyPr>
          <a:lstStyle/>
          <a:p>
            <a:pPr algn="ctr">
              <a:spcAft>
                <a:spcPts val="0"/>
              </a:spcAft>
            </a:pPr>
            <a:r>
              <a:rPr sz="1100" b="0">
                <a:solidFill>
                  <a:srgbClr val="5B6472"/>
                </a:solidFill>
                <a:latin typeface="Calibri"/>
              </a:rPr>
              <a:t>row counts match the published figures</a:t>
            </a:r>
          </a:p>
        </p:txBody>
      </p:sp>
      <p:sp>
        <p:nvSpPr>
          <p:cNvPr id="14" name="Rounded Rectangle 13"/>
          <p:cNvSpPr/>
          <p:nvPr/>
        </p:nvSpPr>
        <p:spPr>
          <a:xfrm>
            <a:off x="9040901" y="4800600"/>
            <a:ext cx="260215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40901" y="4928616"/>
            <a:ext cx="2602153" cy="548640"/>
          </a:xfrm>
          <a:prstGeom prst="rect">
            <a:avLst/>
          </a:prstGeom>
          <a:noFill/>
        </p:spPr>
        <p:txBody>
          <a:bodyPr wrap="square">
            <a:spAutoFit/>
          </a:bodyPr>
          <a:lstStyle/>
          <a:p>
            <a:pPr algn="ctr">
              <a:spcAft>
                <a:spcPts val="0"/>
              </a:spcAft>
            </a:pPr>
            <a:r>
              <a:rPr sz="2600" b="1">
                <a:solidFill>
                  <a:srgbClr val="1F3864"/>
                </a:solidFill>
                <a:latin typeface="Calibri"/>
              </a:rPr>
              <a:t>SHA-256</a:t>
            </a:r>
          </a:p>
        </p:txBody>
      </p:sp>
      <p:sp>
        <p:nvSpPr>
          <p:cNvPr id="16" name="TextBox 15"/>
          <p:cNvSpPr txBox="1"/>
          <p:nvPr/>
        </p:nvSpPr>
        <p:spPr>
          <a:xfrm>
            <a:off x="9132341" y="5458968"/>
            <a:ext cx="2419273" cy="457200"/>
          </a:xfrm>
          <a:prstGeom prst="rect">
            <a:avLst/>
          </a:prstGeom>
          <a:noFill/>
        </p:spPr>
        <p:txBody>
          <a:bodyPr wrap="square">
            <a:spAutoFit/>
          </a:bodyPr>
          <a:lstStyle/>
          <a:p>
            <a:pPr algn="ctr">
              <a:spcAft>
                <a:spcPts val="0"/>
              </a:spcAft>
            </a:pPr>
            <a:r>
              <a:rPr sz="1100" b="0">
                <a:solidFill>
                  <a:srgbClr val="5B6472"/>
                </a:solidFill>
                <a:latin typeface="Calibri"/>
              </a:rPr>
              <a:t>fingerprint recorded per 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SILVER: THE CLEANING</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Step 2a — make every value mean one thing</a:t>
            </a:r>
          </a:p>
        </p:txBody>
      </p:sp>
      <p:sp>
        <p:nvSpPr>
          <p:cNvPr id="4" name="TextBox 3"/>
          <p:cNvSpPr txBox="1"/>
          <p:nvPr/>
        </p:nvSpPr>
        <p:spPr>
          <a:xfrm>
            <a:off x="640080" y="1234440"/>
            <a:ext cx="10972800" cy="411480"/>
          </a:xfrm>
          <a:prstGeom prst="rect">
            <a:avLst/>
          </a:prstGeom>
          <a:noFill/>
        </p:spPr>
        <p:txBody>
          <a:bodyPr wrap="square">
            <a:spAutoFit/>
          </a:bodyPr>
          <a:lstStyle/>
          <a:p>
            <a:pPr algn="l">
              <a:spcAft>
                <a:spcPts val="800"/>
              </a:spcAft>
            </a:pPr>
            <a:r>
              <a:rPr sz="1600" b="0">
                <a:solidFill>
                  <a:srgbClr val="5B6472"/>
                </a:solidFill>
                <a:latin typeface="Calibri"/>
              </a:rPr>
              <a:t>Twenty-one steps between the file and the product. Four kinds, and the fourth is the one that makes the data answerable.</a:t>
            </a:r>
          </a:p>
        </p:txBody>
      </p:sp>
      <p:sp>
        <p:nvSpPr>
          <p:cNvPr id="5" name="Rounded Rectangle 4"/>
          <p:cNvSpPr/>
          <p:nvPr/>
        </p:nvSpPr>
        <p:spPr>
          <a:xfrm>
            <a:off x="548640" y="1874519"/>
            <a:ext cx="1874519" cy="9144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39"/>
            <a:ext cx="1874519" cy="365760"/>
          </a:xfrm>
          <a:prstGeom prst="rect">
            <a:avLst/>
          </a:prstGeom>
          <a:noFill/>
        </p:spPr>
        <p:txBody>
          <a:bodyPr wrap="square">
            <a:spAutoFit/>
          </a:bodyPr>
          <a:lstStyle/>
          <a:p>
            <a:pPr algn="ctr">
              <a:spcAft>
                <a:spcPts val="0"/>
              </a:spcAft>
            </a:pPr>
            <a:r>
              <a:rPr sz="1400" b="1">
                <a:solidFill>
                  <a:srgbClr val="FFFFFF"/>
                </a:solidFill>
                <a:latin typeface="Calibri"/>
              </a:rPr>
              <a:t>TYPE IT</a:t>
            </a:r>
          </a:p>
        </p:txBody>
      </p:sp>
      <p:sp>
        <p:nvSpPr>
          <p:cNvPr id="7" name="Rounded Rectangle 6"/>
          <p:cNvSpPr/>
          <p:nvPr/>
        </p:nvSpPr>
        <p:spPr>
          <a:xfrm>
            <a:off x="2423160" y="1874519"/>
            <a:ext cx="9235440"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1760" y="1984247"/>
            <a:ext cx="8778240" cy="320040"/>
          </a:xfrm>
          <a:prstGeom prst="rect">
            <a:avLst/>
          </a:prstGeom>
          <a:noFill/>
        </p:spPr>
        <p:txBody>
          <a:bodyPr wrap="square">
            <a:spAutoFit/>
          </a:bodyPr>
          <a:lstStyle/>
          <a:p>
            <a:pPr algn="l">
              <a:spcAft>
                <a:spcPts val="0"/>
              </a:spcAft>
            </a:pPr>
            <a:r>
              <a:rPr sz="1450" b="1">
                <a:solidFill>
                  <a:srgbClr val="1F2A44"/>
                </a:solidFill>
                <a:latin typeface="Calibri"/>
              </a:rPr>
              <a:t>Text becomes a date, a number, a true or false.</a:t>
            </a:r>
          </a:p>
        </p:txBody>
      </p:sp>
      <p:sp>
        <p:nvSpPr>
          <p:cNvPr id="9" name="TextBox 8"/>
          <p:cNvSpPr txBox="1"/>
          <p:nvPr/>
        </p:nvSpPr>
        <p:spPr>
          <a:xfrm>
            <a:off x="2651760" y="2350007"/>
            <a:ext cx="8778240" cy="365760"/>
          </a:xfrm>
          <a:prstGeom prst="rect">
            <a:avLst/>
          </a:prstGeom>
          <a:noFill/>
        </p:spPr>
        <p:txBody>
          <a:bodyPr wrap="square">
            <a:spAutoFit/>
          </a:bodyPr>
          <a:lstStyle/>
          <a:p>
            <a:pPr algn="l">
              <a:spcAft>
                <a:spcPts val="0"/>
              </a:spcAft>
            </a:pPr>
            <a:r>
              <a:rPr sz="1250" b="0">
                <a:solidFill>
                  <a:srgbClr val="5B6472"/>
                </a:solidFill>
                <a:latin typeface="Calibri"/>
              </a:rPr>
              <a:t>1,062,394 dates parsed from six-digit text</a:t>
            </a:r>
          </a:p>
        </p:txBody>
      </p:sp>
      <p:sp>
        <p:nvSpPr>
          <p:cNvPr id="10" name="Rounded Rectangle 9"/>
          <p:cNvSpPr/>
          <p:nvPr/>
        </p:nvSpPr>
        <p:spPr>
          <a:xfrm>
            <a:off x="548640" y="2898647"/>
            <a:ext cx="1874519" cy="9144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172967"/>
            <a:ext cx="1874519" cy="365760"/>
          </a:xfrm>
          <a:prstGeom prst="rect">
            <a:avLst/>
          </a:prstGeom>
          <a:noFill/>
        </p:spPr>
        <p:txBody>
          <a:bodyPr wrap="square">
            <a:spAutoFit/>
          </a:bodyPr>
          <a:lstStyle/>
          <a:p>
            <a:pPr algn="ctr">
              <a:spcAft>
                <a:spcPts val="0"/>
              </a:spcAft>
            </a:pPr>
            <a:r>
              <a:rPr sz="1400" b="1">
                <a:solidFill>
                  <a:srgbClr val="FFFFFF"/>
                </a:solidFill>
                <a:latin typeface="Calibri"/>
              </a:rPr>
              <a:t>NORMALISE IT</a:t>
            </a:r>
          </a:p>
        </p:txBody>
      </p:sp>
      <p:sp>
        <p:nvSpPr>
          <p:cNvPr id="12" name="Rounded Rectangle 11"/>
          <p:cNvSpPr/>
          <p:nvPr/>
        </p:nvSpPr>
        <p:spPr>
          <a:xfrm>
            <a:off x="2423160" y="2898647"/>
            <a:ext cx="9235440"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3008375"/>
            <a:ext cx="8778240" cy="320040"/>
          </a:xfrm>
          <a:prstGeom prst="rect">
            <a:avLst/>
          </a:prstGeom>
          <a:noFill/>
        </p:spPr>
        <p:txBody>
          <a:bodyPr wrap="square">
            <a:spAutoFit/>
          </a:bodyPr>
          <a:lstStyle/>
          <a:p>
            <a:pPr algn="l">
              <a:spcAft>
                <a:spcPts val="0"/>
              </a:spcAft>
            </a:pPr>
            <a:r>
              <a:rPr sz="1450" b="1">
                <a:solidFill>
                  <a:srgbClr val="1F2A44"/>
                </a:solidFill>
                <a:latin typeface="Calibri"/>
              </a:rPr>
              <a:t>The seven ways this source writes "missing" all become one.</a:t>
            </a:r>
          </a:p>
        </p:txBody>
      </p:sp>
      <p:sp>
        <p:nvSpPr>
          <p:cNvPr id="14" name="TextBox 13"/>
          <p:cNvSpPr txBox="1"/>
          <p:nvPr/>
        </p:nvSpPr>
        <p:spPr>
          <a:xfrm>
            <a:off x="2651760" y="3374135"/>
            <a:ext cx="8778240" cy="365760"/>
          </a:xfrm>
          <a:prstGeom prst="rect">
            <a:avLst/>
          </a:prstGeom>
          <a:noFill/>
        </p:spPr>
        <p:txBody>
          <a:bodyPr wrap="square">
            <a:spAutoFit/>
          </a:bodyPr>
          <a:lstStyle/>
          <a:p>
            <a:pPr algn="l">
              <a:spcAft>
                <a:spcPts val="0"/>
              </a:spcAft>
            </a:pPr>
            <a:r>
              <a:rPr sz="1250" b="0">
                <a:solidFill>
                  <a:srgbClr val="5B6472"/>
                </a:solidFill>
                <a:latin typeface="Calibri"/>
              </a:rPr>
              <a:t>1,380 placeholders turned into a real blank</a:t>
            </a:r>
          </a:p>
        </p:txBody>
      </p:sp>
      <p:sp>
        <p:nvSpPr>
          <p:cNvPr id="15" name="Rounded Rectangle 14"/>
          <p:cNvSpPr/>
          <p:nvPr/>
        </p:nvSpPr>
        <p:spPr>
          <a:xfrm>
            <a:off x="548640" y="3922775"/>
            <a:ext cx="1874519" cy="9144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197095"/>
            <a:ext cx="1874519" cy="365760"/>
          </a:xfrm>
          <a:prstGeom prst="rect">
            <a:avLst/>
          </a:prstGeom>
          <a:noFill/>
        </p:spPr>
        <p:txBody>
          <a:bodyPr wrap="square">
            <a:spAutoFit/>
          </a:bodyPr>
          <a:lstStyle/>
          <a:p>
            <a:pPr algn="ctr">
              <a:spcAft>
                <a:spcPts val="0"/>
              </a:spcAft>
            </a:pPr>
            <a:r>
              <a:rPr sz="1400" b="1">
                <a:solidFill>
                  <a:srgbClr val="FFFFFF"/>
                </a:solidFill>
                <a:latin typeface="Calibri"/>
              </a:rPr>
              <a:t>DECODE IT</a:t>
            </a:r>
          </a:p>
        </p:txBody>
      </p:sp>
      <p:sp>
        <p:nvSpPr>
          <p:cNvPr id="17" name="Rounded Rectangle 16"/>
          <p:cNvSpPr/>
          <p:nvPr/>
        </p:nvSpPr>
        <p:spPr>
          <a:xfrm>
            <a:off x="2423160" y="3922775"/>
            <a:ext cx="9235440"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51760" y="4032503"/>
            <a:ext cx="8778240" cy="320040"/>
          </a:xfrm>
          <a:prstGeom prst="rect">
            <a:avLst/>
          </a:prstGeom>
          <a:noFill/>
        </p:spPr>
        <p:txBody>
          <a:bodyPr wrap="square">
            <a:spAutoFit/>
          </a:bodyPr>
          <a:lstStyle/>
          <a:p>
            <a:pPr algn="l">
              <a:spcAft>
                <a:spcPts val="0"/>
              </a:spcAft>
            </a:pPr>
            <a:r>
              <a:rPr sz="1450" b="1">
                <a:solidFill>
                  <a:srgbClr val="1F2A44"/>
                </a:solidFill>
                <a:latin typeface="Calibri"/>
              </a:rPr>
              <a:t>Czech codes get an English label, from one list.</a:t>
            </a:r>
          </a:p>
        </p:txBody>
      </p:sp>
      <p:sp>
        <p:nvSpPr>
          <p:cNvPr id="19" name="TextBox 18"/>
          <p:cNvSpPr txBox="1"/>
          <p:nvPr/>
        </p:nvSpPr>
        <p:spPr>
          <a:xfrm>
            <a:off x="2651760" y="4398263"/>
            <a:ext cx="8778240" cy="365760"/>
          </a:xfrm>
          <a:prstGeom prst="rect">
            <a:avLst/>
          </a:prstGeom>
          <a:noFill/>
        </p:spPr>
        <p:txBody>
          <a:bodyPr wrap="square">
            <a:spAutoFit/>
          </a:bodyPr>
          <a:lstStyle/>
          <a:p>
            <a:pPr algn="l">
              <a:spcAft>
                <a:spcPts val="0"/>
              </a:spcAft>
            </a:pPr>
            <a:r>
              <a:rPr sz="1250" b="0">
                <a:solidFill>
                  <a:srgbClr val="5B6472"/>
                </a:solidFill>
                <a:latin typeface="Calibri"/>
              </a:rPr>
              <a:t>2,466,175 values labelled from 28 codes</a:t>
            </a:r>
          </a:p>
        </p:txBody>
      </p:sp>
      <p:sp>
        <p:nvSpPr>
          <p:cNvPr id="20" name="Rounded Rectangle 19"/>
          <p:cNvSpPr/>
          <p:nvPr/>
        </p:nvSpPr>
        <p:spPr>
          <a:xfrm>
            <a:off x="548640" y="4946903"/>
            <a:ext cx="1874519" cy="914400"/>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221223"/>
            <a:ext cx="1874519" cy="365760"/>
          </a:xfrm>
          <a:prstGeom prst="rect">
            <a:avLst/>
          </a:prstGeom>
          <a:noFill/>
        </p:spPr>
        <p:txBody>
          <a:bodyPr wrap="square">
            <a:spAutoFit/>
          </a:bodyPr>
          <a:lstStyle/>
          <a:p>
            <a:pPr algn="ctr">
              <a:spcAft>
                <a:spcPts val="0"/>
              </a:spcAft>
            </a:pPr>
            <a:r>
              <a:rPr sz="1400" b="1">
                <a:solidFill>
                  <a:srgbClr val="FFFFFF"/>
                </a:solidFill>
                <a:latin typeface="Calibri"/>
              </a:rPr>
              <a:t>DERIVE IT</a:t>
            </a:r>
          </a:p>
        </p:txBody>
      </p:sp>
      <p:sp>
        <p:nvSpPr>
          <p:cNvPr id="22" name="Rounded Rectangle 21"/>
          <p:cNvSpPr/>
          <p:nvPr/>
        </p:nvSpPr>
        <p:spPr>
          <a:xfrm>
            <a:off x="2423160" y="4946903"/>
            <a:ext cx="9235440"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1760" y="5056631"/>
            <a:ext cx="8778240" cy="320040"/>
          </a:xfrm>
          <a:prstGeom prst="rect">
            <a:avLst/>
          </a:prstGeom>
          <a:noFill/>
        </p:spPr>
        <p:txBody>
          <a:bodyPr wrap="square">
            <a:spAutoFit/>
          </a:bodyPr>
          <a:lstStyle/>
          <a:p>
            <a:pPr algn="l">
              <a:spcAft>
                <a:spcPts val="0"/>
              </a:spcAft>
            </a:pPr>
            <a:r>
              <a:rPr sz="1450" b="1">
                <a:solidFill>
                  <a:srgbClr val="1F2A44"/>
                </a:solidFill>
                <a:latin typeface="Calibri"/>
              </a:rPr>
              <a:t>Work out what the source left implicit but never wrote down.</a:t>
            </a:r>
          </a:p>
        </p:txBody>
      </p:sp>
      <p:sp>
        <p:nvSpPr>
          <p:cNvPr id="24" name="TextBox 23"/>
          <p:cNvSpPr txBox="1"/>
          <p:nvPr/>
        </p:nvSpPr>
        <p:spPr>
          <a:xfrm>
            <a:off x="2651760" y="5422391"/>
            <a:ext cx="8778240" cy="365760"/>
          </a:xfrm>
          <a:prstGeom prst="rect">
            <a:avLst/>
          </a:prstGeom>
          <a:noFill/>
        </p:spPr>
        <p:txBody>
          <a:bodyPr wrap="square">
            <a:spAutoFit/>
          </a:bodyPr>
          <a:lstStyle/>
          <a:p>
            <a:pPr algn="l">
              <a:spcAft>
                <a:spcPts val="0"/>
              </a:spcAft>
            </a:pPr>
            <a:r>
              <a:rPr sz="1250" b="0">
                <a:solidFill>
                  <a:srgbClr val="5B6472"/>
                </a:solidFill>
                <a:latin typeface="Calibri"/>
              </a:rPr>
              <a:t>5,369 birth dates, 5,369 genders, 1,056,320 signs</a:t>
            </a:r>
          </a:p>
        </p:txBody>
      </p:sp>
      <p:sp>
        <p:nvSpPr>
          <p:cNvPr id="25" name="TextBox 24"/>
          <p:cNvSpPr txBox="1"/>
          <p:nvPr/>
        </p:nvSpPr>
        <p:spPr>
          <a:xfrm>
            <a:off x="548640" y="6144768"/>
            <a:ext cx="11155680" cy="457200"/>
          </a:xfrm>
          <a:prstGeom prst="rect">
            <a:avLst/>
          </a:prstGeom>
          <a:noFill/>
        </p:spPr>
        <p:txBody>
          <a:bodyPr wrap="square">
            <a:spAutoFit/>
          </a:bodyPr>
          <a:lstStyle/>
          <a:p>
            <a:pPr algn="l">
              <a:spcAft>
                <a:spcPts val="0"/>
              </a:spcAft>
            </a:pPr>
            <a:r>
              <a:rPr sz="1350" b="1">
                <a:solidFill>
                  <a:srgbClr val="1F3864"/>
                </a:solidFill>
                <a:latin typeface="Calibri"/>
              </a:rPr>
              <a:t>Every one of those numbers is measured by running a query at build time, not typed. The full list is the Cleaning tab of the workbook.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CLEANING THAT CAN BE CHECKED</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The rule that governs all of it: never repair a value</a:t>
            </a:r>
          </a:p>
        </p:txBody>
      </p:sp>
      <p:sp>
        <p:nvSpPr>
          <p:cNvPr id="4" name="TextBox 3"/>
          <p:cNvSpPr txBox="1"/>
          <p:nvPr/>
        </p:nvSpPr>
        <p:spPr>
          <a:xfrm>
            <a:off x="640080" y="1234440"/>
            <a:ext cx="10972800" cy="411480"/>
          </a:xfrm>
          <a:prstGeom prst="rect">
            <a:avLst/>
          </a:prstGeom>
          <a:noFill/>
        </p:spPr>
        <p:txBody>
          <a:bodyPr wrap="square">
            <a:spAutoFit/>
          </a:bodyPr>
          <a:lstStyle/>
          <a:p>
            <a:pPr algn="l">
              <a:spcAft>
                <a:spcPts val="800"/>
              </a:spcAft>
            </a:pPr>
            <a:r>
              <a:rPr sz="1600" b="0">
                <a:solidFill>
                  <a:srgbClr val="5B6472"/>
                </a:solidFill>
                <a:latin typeface="Calibri"/>
              </a:rPr>
              <a:t>There are three things you can do with a bad value. Two of them make the product impossible to audit.</a:t>
            </a:r>
          </a:p>
        </p:txBody>
      </p:sp>
      <p:sp>
        <p:nvSpPr>
          <p:cNvPr id="5" name="Rounded Rectangle 4"/>
          <p:cNvSpPr/>
          <p:nvPr/>
        </p:nvSpPr>
        <p:spPr>
          <a:xfrm>
            <a:off x="548640" y="1874519"/>
            <a:ext cx="11109960" cy="1234440"/>
          </a:xfrm>
          <a:prstGeom prst="roundRect">
            <a:avLst>
              <a:gd name="adj" fmla="val 4000"/>
            </a:avLst>
          </a:prstGeom>
          <a:solidFill>
            <a:srgbClr val="F7F9FC"/>
          </a:solidFill>
          <a:ln w="127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84247"/>
            <a:ext cx="2834640" cy="365760"/>
          </a:xfrm>
          <a:prstGeom prst="rect">
            <a:avLst/>
          </a:prstGeom>
          <a:noFill/>
        </p:spPr>
        <p:txBody>
          <a:bodyPr wrap="square">
            <a:spAutoFit/>
          </a:bodyPr>
          <a:lstStyle/>
          <a:p>
            <a:pPr algn="l">
              <a:spcAft>
                <a:spcPts val="0"/>
              </a:spcAft>
            </a:pPr>
            <a:r>
              <a:rPr sz="1700" b="1">
                <a:solidFill>
                  <a:srgbClr val="991B1B"/>
                </a:solidFill>
                <a:latin typeface="Calibri"/>
              </a:rPr>
              <a:t>Repair it</a:t>
            </a:r>
          </a:p>
        </p:txBody>
      </p:sp>
      <p:sp>
        <p:nvSpPr>
          <p:cNvPr id="7" name="TextBox 6"/>
          <p:cNvSpPr txBox="1"/>
          <p:nvPr/>
        </p:nvSpPr>
        <p:spPr>
          <a:xfrm>
            <a:off x="822960" y="2350007"/>
            <a:ext cx="2834640" cy="640080"/>
          </a:xfrm>
          <a:prstGeom prst="rect">
            <a:avLst/>
          </a:prstGeom>
          <a:noFill/>
        </p:spPr>
        <p:txBody>
          <a:bodyPr wrap="square">
            <a:spAutoFit/>
          </a:bodyPr>
          <a:lstStyle/>
          <a:p>
            <a:pPr algn="l">
              <a:spcAft>
                <a:spcPts val="0"/>
              </a:spcAft>
            </a:pPr>
            <a:r>
              <a:rPr sz="1150" b="0">
                <a:solidFill>
                  <a:srgbClr val="5B6472"/>
                </a:solidFill>
                <a:latin typeface="Calibri"/>
              </a:rPr>
              <a:t>Guess the missing rate, correct the odd balance, fix the duplicate.</a:t>
            </a:r>
          </a:p>
        </p:txBody>
      </p:sp>
      <p:sp>
        <p:nvSpPr>
          <p:cNvPr id="8" name="TextBox 7"/>
          <p:cNvSpPr txBox="1"/>
          <p:nvPr/>
        </p:nvSpPr>
        <p:spPr>
          <a:xfrm>
            <a:off x="3931920" y="2057399"/>
            <a:ext cx="7406640" cy="868680"/>
          </a:xfrm>
          <a:prstGeom prst="rect">
            <a:avLst/>
          </a:prstGeom>
          <a:noFill/>
        </p:spPr>
        <p:txBody>
          <a:bodyPr wrap="square">
            <a:spAutoFit/>
          </a:bodyPr>
          <a:lstStyle/>
          <a:p>
            <a:pPr algn="l">
              <a:spcAft>
                <a:spcPts val="0"/>
              </a:spcAft>
            </a:pPr>
            <a:r>
              <a:rPr sz="1350" b="0">
                <a:solidFill>
                  <a:srgbClr val="5B6472"/>
                </a:solidFill>
                <a:latin typeface="Calibri"/>
              </a:rPr>
              <a:t>A repaired value is indistinguishable from a real one a week later. Nobody can tell the bank's number from ours.</a:t>
            </a:r>
          </a:p>
        </p:txBody>
      </p:sp>
      <p:sp>
        <p:nvSpPr>
          <p:cNvPr id="9" name="Rounded Rectangle 8"/>
          <p:cNvSpPr/>
          <p:nvPr/>
        </p:nvSpPr>
        <p:spPr>
          <a:xfrm>
            <a:off x="548640" y="3246119"/>
            <a:ext cx="11109960" cy="1234440"/>
          </a:xfrm>
          <a:prstGeom prst="roundRect">
            <a:avLst>
              <a:gd name="adj" fmla="val 4000"/>
            </a:avLst>
          </a:prstGeom>
          <a:solidFill>
            <a:srgbClr val="F7F9FC"/>
          </a:solidFill>
          <a:ln w="127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55847"/>
            <a:ext cx="2834640" cy="365760"/>
          </a:xfrm>
          <a:prstGeom prst="rect">
            <a:avLst/>
          </a:prstGeom>
          <a:noFill/>
        </p:spPr>
        <p:txBody>
          <a:bodyPr wrap="square">
            <a:spAutoFit/>
          </a:bodyPr>
          <a:lstStyle/>
          <a:p>
            <a:pPr algn="l">
              <a:spcAft>
                <a:spcPts val="0"/>
              </a:spcAft>
            </a:pPr>
            <a:r>
              <a:rPr sz="1700" b="1">
                <a:solidFill>
                  <a:srgbClr val="991B1B"/>
                </a:solidFill>
                <a:latin typeface="Calibri"/>
              </a:rPr>
              <a:t>Drop it</a:t>
            </a:r>
          </a:p>
        </p:txBody>
      </p:sp>
      <p:sp>
        <p:nvSpPr>
          <p:cNvPr id="11" name="TextBox 10"/>
          <p:cNvSpPr txBox="1"/>
          <p:nvPr/>
        </p:nvSpPr>
        <p:spPr>
          <a:xfrm>
            <a:off x="822960" y="3721607"/>
            <a:ext cx="2834640" cy="640080"/>
          </a:xfrm>
          <a:prstGeom prst="rect">
            <a:avLst/>
          </a:prstGeom>
          <a:noFill/>
        </p:spPr>
        <p:txBody>
          <a:bodyPr wrap="square">
            <a:spAutoFit/>
          </a:bodyPr>
          <a:lstStyle/>
          <a:p>
            <a:pPr algn="l">
              <a:spcAft>
                <a:spcPts val="0"/>
              </a:spcAft>
            </a:pPr>
            <a:r>
              <a:rPr sz="1150" b="0">
                <a:solidFill>
                  <a:srgbClr val="5B6472"/>
                </a:solidFill>
                <a:latin typeface="Calibri"/>
              </a:rPr>
              <a:t>Throw away any row with something wrong in it.</a:t>
            </a:r>
          </a:p>
        </p:txBody>
      </p:sp>
      <p:sp>
        <p:nvSpPr>
          <p:cNvPr id="12" name="TextBox 11"/>
          <p:cNvSpPr txBox="1"/>
          <p:nvPr/>
        </p:nvSpPr>
        <p:spPr>
          <a:xfrm>
            <a:off x="3931920" y="3428999"/>
            <a:ext cx="7406640" cy="868680"/>
          </a:xfrm>
          <a:prstGeom prst="rect">
            <a:avLst/>
          </a:prstGeom>
          <a:noFill/>
        </p:spPr>
        <p:txBody>
          <a:bodyPr wrap="square">
            <a:spAutoFit/>
          </a:bodyPr>
          <a:lstStyle/>
          <a:p>
            <a:pPr algn="l">
              <a:spcAft>
                <a:spcPts val="0"/>
              </a:spcAft>
            </a:pPr>
            <a:r>
              <a:rPr sz="1350" b="0">
                <a:solidFill>
                  <a:srgbClr val="5B6472"/>
                </a:solidFill>
                <a:latin typeface="Calibri"/>
              </a:rPr>
              <a:t>Silently changes every total and every percentage. The report then describes what survived the loader, not the data.</a:t>
            </a:r>
          </a:p>
        </p:txBody>
      </p:sp>
      <p:sp>
        <p:nvSpPr>
          <p:cNvPr id="13" name="Rounded Rectangle 12"/>
          <p:cNvSpPr/>
          <p:nvPr/>
        </p:nvSpPr>
        <p:spPr>
          <a:xfrm>
            <a:off x="548640" y="4617719"/>
            <a:ext cx="11109960" cy="1234440"/>
          </a:xfrm>
          <a:prstGeom prst="roundRect">
            <a:avLst>
              <a:gd name="adj" fmla="val 4000"/>
            </a:avLst>
          </a:prstGeom>
          <a:solidFill>
            <a:srgbClr val="F7F9FC"/>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727447"/>
            <a:ext cx="2834640" cy="365760"/>
          </a:xfrm>
          <a:prstGeom prst="rect">
            <a:avLst/>
          </a:prstGeom>
          <a:noFill/>
        </p:spPr>
        <p:txBody>
          <a:bodyPr wrap="square">
            <a:spAutoFit/>
          </a:bodyPr>
          <a:lstStyle/>
          <a:p>
            <a:pPr algn="l">
              <a:spcAft>
                <a:spcPts val="0"/>
              </a:spcAft>
            </a:pPr>
            <a:r>
              <a:rPr sz="1700" b="1">
                <a:solidFill>
                  <a:srgbClr val="15803D"/>
                </a:solidFill>
                <a:latin typeface="Calibri"/>
              </a:rPr>
              <a:t>Keep it, and say so</a:t>
            </a:r>
          </a:p>
        </p:txBody>
      </p:sp>
      <p:sp>
        <p:nvSpPr>
          <p:cNvPr id="15" name="TextBox 14"/>
          <p:cNvSpPr txBox="1"/>
          <p:nvPr/>
        </p:nvSpPr>
        <p:spPr>
          <a:xfrm>
            <a:off x="822960" y="5093207"/>
            <a:ext cx="2834640" cy="640080"/>
          </a:xfrm>
          <a:prstGeom prst="rect">
            <a:avLst/>
          </a:prstGeom>
          <a:noFill/>
        </p:spPr>
        <p:txBody>
          <a:bodyPr wrap="square">
            <a:spAutoFit/>
          </a:bodyPr>
          <a:lstStyle/>
          <a:p>
            <a:pPr algn="l">
              <a:spcAft>
                <a:spcPts val="0"/>
              </a:spcAft>
            </a:pPr>
            <a:r>
              <a:rPr sz="1150" b="0">
                <a:solidFill>
                  <a:srgbClr val="5B6472"/>
                </a:solidFill>
                <a:latin typeface="Calibri"/>
              </a:rPr>
              <a:t>Transform without overwriting. Grade the problem separately.</a:t>
            </a:r>
          </a:p>
        </p:txBody>
      </p:sp>
      <p:sp>
        <p:nvSpPr>
          <p:cNvPr id="16" name="TextBox 15"/>
          <p:cNvSpPr txBox="1"/>
          <p:nvPr/>
        </p:nvSpPr>
        <p:spPr>
          <a:xfrm>
            <a:off x="3931920" y="4800599"/>
            <a:ext cx="7406640" cy="868680"/>
          </a:xfrm>
          <a:prstGeom prst="rect">
            <a:avLst/>
          </a:prstGeom>
          <a:noFill/>
        </p:spPr>
        <p:txBody>
          <a:bodyPr wrap="square">
            <a:spAutoFit/>
          </a:bodyPr>
          <a:lstStyle/>
          <a:p>
            <a:pPr algn="l">
              <a:spcAft>
                <a:spcPts val="0"/>
              </a:spcAft>
            </a:pPr>
            <a:r>
              <a:rPr sz="1350" b="1">
                <a:solidFill>
                  <a:srgbClr val="1F2A44"/>
                </a:solidFill>
                <a:latin typeface="Calibri"/>
              </a:rPr>
              <a:t>Of 21 cleaning steps, exactly ONE removes a row. It removed 1. The arithmetic is proved: product = staging minus quarantine, on rows and on money.</a:t>
            </a:r>
          </a:p>
        </p:txBody>
      </p:sp>
      <p:sp>
        <p:nvSpPr>
          <p:cNvPr id="17" name="Rounded Rectangle 16"/>
          <p:cNvSpPr/>
          <p:nvPr/>
        </p:nvSpPr>
        <p:spPr>
          <a:xfrm>
            <a:off x="10469880" y="4709159"/>
            <a:ext cx="1051560" cy="274320"/>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69880" y="4727447"/>
            <a:ext cx="1051560" cy="237744"/>
          </a:xfrm>
          <a:prstGeom prst="rect">
            <a:avLst/>
          </a:prstGeom>
          <a:noFill/>
        </p:spPr>
        <p:txBody>
          <a:bodyPr wrap="square">
            <a:spAutoFit/>
          </a:bodyPr>
          <a:lstStyle/>
          <a:p>
            <a:pPr algn="ctr">
              <a:spcAft>
                <a:spcPts val="0"/>
              </a:spcAft>
            </a:pPr>
            <a:r>
              <a:rPr sz="1000" b="1">
                <a:solidFill>
                  <a:srgbClr val="FFFFFF"/>
                </a:solidFill>
                <a:latin typeface="Calibri"/>
              </a:rPr>
              <a:t>CHOSEN</a:t>
            </a:r>
          </a:p>
        </p:txBody>
      </p:sp>
      <p:sp>
        <p:nvSpPr>
          <p:cNvPr id="19" name="TextBox 18"/>
          <p:cNvSpPr txBox="1"/>
          <p:nvPr/>
        </p:nvSpPr>
        <p:spPr>
          <a:xfrm>
            <a:off x="548640" y="6144768"/>
            <a:ext cx="11155680" cy="457200"/>
          </a:xfrm>
          <a:prstGeom prst="rect">
            <a:avLst/>
          </a:prstGeom>
          <a:noFill/>
        </p:spPr>
        <p:txBody>
          <a:bodyPr wrap="square">
            <a:spAutoFit/>
          </a:bodyPr>
          <a:lstStyle/>
          <a:p>
            <a:pPr algn="l">
              <a:spcAft>
                <a:spcPts val="0"/>
              </a:spcAft>
            </a:pPr>
            <a:r>
              <a:rPr sz="1350" b="1">
                <a:solidFill>
                  <a:srgbClr val="1F3864"/>
                </a:solidFill>
                <a:latin typeface="Calibri"/>
              </a:rPr>
              <a:t>And every value the cleaning did change is still readable in its original form, beside the cleaned one. A cleaning step you cannot undo is one you have to take on trust.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WHY THE SIGN IS RESOLVED ONCE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The cleaning step worth the most, in one picture</a:t>
            </a:r>
          </a:p>
        </p:txBody>
      </p:sp>
      <p:sp>
        <p:nvSpPr>
          <p:cNvPr id="4" name="TextBox 3"/>
          <p:cNvSpPr txBox="1"/>
          <p:nvPr/>
        </p:nvSpPr>
        <p:spPr>
          <a:xfrm>
            <a:off x="640080" y="1188720"/>
            <a:ext cx="10972800" cy="365760"/>
          </a:xfrm>
          <a:prstGeom prst="rect">
            <a:avLst/>
          </a:prstGeom>
          <a:noFill/>
        </p:spPr>
        <p:txBody>
          <a:bodyPr wrap="square">
            <a:spAutoFit/>
          </a:bodyPr>
          <a:lstStyle/>
          <a:p>
            <a:pPr algn="l">
              <a:spcAft>
                <a:spcPts val="600"/>
              </a:spcAft>
            </a:pPr>
            <a:r>
              <a:rPr sz="1600" b="0">
                <a:solidFill>
                  <a:srgbClr val="5B6472"/>
                </a:solidFill>
                <a:latin typeface="Calibri"/>
              </a:rPr>
              <a:t>The source never says whether money went in or out. It says it in Czech, in a different column, using two different words for "out".</a:t>
            </a:r>
          </a:p>
        </p:txBody>
      </p:sp>
      <p:sp>
        <p:nvSpPr>
          <p:cNvPr id="5" name="Rounded Rectangle 4"/>
          <p:cNvSpPr/>
          <p:nvPr/>
        </p:nvSpPr>
        <p:spPr>
          <a:xfrm>
            <a:off x="548640" y="1828800"/>
            <a:ext cx="5440680" cy="2286000"/>
          </a:xfrm>
          <a:prstGeom prst="roundRect">
            <a:avLst>
              <a:gd name="adj" fmla="val 4000"/>
            </a:avLst>
          </a:prstGeom>
          <a:solidFill>
            <a:srgbClr val="F7F9FC"/>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38528"/>
            <a:ext cx="4846320" cy="320040"/>
          </a:xfrm>
          <a:prstGeom prst="rect">
            <a:avLst/>
          </a:prstGeom>
          <a:noFill/>
        </p:spPr>
        <p:txBody>
          <a:bodyPr wrap="square">
            <a:spAutoFit/>
          </a:bodyPr>
          <a:lstStyle/>
          <a:p>
            <a:pPr algn="l">
              <a:spcAft>
                <a:spcPts val="400"/>
              </a:spcAft>
            </a:pPr>
            <a:r>
              <a:rPr sz="1150" b="1">
                <a:solidFill>
                  <a:srgbClr val="991B1B"/>
                </a:solidFill>
                <a:latin typeface="Calibri"/>
              </a:rPr>
              <a:t>WHAT THE SOURCE GIVES YOU</a:t>
            </a:r>
          </a:p>
        </p:txBody>
      </p:sp>
      <p:sp>
        <p:nvSpPr>
          <p:cNvPr id="7" name="TextBox 6"/>
          <p:cNvSpPr txBox="1"/>
          <p:nvPr/>
        </p:nvSpPr>
        <p:spPr>
          <a:xfrm>
            <a:off x="822960" y="2286000"/>
            <a:ext cx="4846320" cy="1737360"/>
          </a:xfrm>
          <a:prstGeom prst="rect">
            <a:avLst/>
          </a:prstGeom>
          <a:noFill/>
        </p:spPr>
        <p:txBody>
          <a:bodyPr wrap="square">
            <a:spAutoFit/>
          </a:bodyPr>
          <a:lstStyle/>
          <a:p>
            <a:pPr algn="l">
              <a:spcAft>
                <a:spcPts val="500"/>
              </a:spcAft>
            </a:pPr>
            <a:r>
              <a:rPr sz="1300" b="1">
                <a:solidFill>
                  <a:srgbClr val="1F2A44"/>
                </a:solidFill>
                <a:latin typeface="Calibri"/>
              </a:rPr>
              <a:t>amount = 3,679.00     type = VYDAJ</a:t>
            </a:r>
          </a:p>
          <a:p>
            <a:pPr algn="l">
              <a:spcAft>
                <a:spcPts val="500"/>
              </a:spcAft>
            </a:pPr>
            <a:r>
              <a:rPr sz="1300" b="1">
                <a:solidFill>
                  <a:srgbClr val="1F2A44"/>
                </a:solidFill>
                <a:latin typeface="Calibri"/>
              </a:rPr>
              <a:t>amount = 3,679.00     type = VYBER</a:t>
            </a:r>
          </a:p>
          <a:p>
            <a:pPr algn="l">
              <a:spcAft>
                <a:spcPts val="500"/>
              </a:spcAft>
            </a:pPr>
            <a:r>
              <a:rPr sz="1300" b="1">
                <a:solidFill>
                  <a:srgbClr val="1F2A44"/>
                </a:solidFill>
                <a:latin typeface="Calibri"/>
              </a:rPr>
              <a:t>amount = 3,679.00     type = PRIJEM</a:t>
            </a:r>
          </a:p>
          <a:p>
            <a:pPr algn="l">
              <a:spcAft>
                <a:spcPts val="500"/>
              </a:spcAft>
            </a:pPr>
            <a:r>
              <a:rPr sz="1150" b="0">
                <a:solidFill>
                  <a:srgbClr val="5B6472"/>
                </a:solidFill>
                <a:latin typeface="Calibri"/>
              </a:rPr>
              <a:t>Two of those are money leaving. To total "net flow" you must know that VYDAJ and VYBER both mean out — and the one that is easy to miss is VYBER, because it also names a cash withdrawal elsewhere.</a:t>
            </a:r>
          </a:p>
        </p:txBody>
      </p:sp>
      <p:sp>
        <p:nvSpPr>
          <p:cNvPr id="8" name="Rounded Rectangle 7"/>
          <p:cNvSpPr/>
          <p:nvPr/>
        </p:nvSpPr>
        <p:spPr>
          <a:xfrm>
            <a:off x="6263640" y="1828800"/>
            <a:ext cx="5394960" cy="2286000"/>
          </a:xfrm>
          <a:prstGeom prst="roundRect">
            <a:avLst>
              <a:gd name="adj" fmla="val 4000"/>
            </a:avLst>
          </a:prstGeom>
          <a:solidFill>
            <a:srgbClr val="F7F9FC"/>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38528"/>
            <a:ext cx="4846320" cy="320040"/>
          </a:xfrm>
          <a:prstGeom prst="rect">
            <a:avLst/>
          </a:prstGeom>
          <a:noFill/>
        </p:spPr>
        <p:txBody>
          <a:bodyPr wrap="square">
            <a:spAutoFit/>
          </a:bodyPr>
          <a:lstStyle/>
          <a:p>
            <a:pPr algn="l">
              <a:spcAft>
                <a:spcPts val="400"/>
              </a:spcAft>
            </a:pPr>
            <a:r>
              <a:rPr sz="1150" b="1">
                <a:solidFill>
                  <a:srgbClr val="15803D"/>
                </a:solidFill>
                <a:latin typeface="Calibri"/>
              </a:rPr>
              <a:t>WHAT THE PRODUCT GIVES YOU</a:t>
            </a:r>
          </a:p>
        </p:txBody>
      </p:sp>
      <p:sp>
        <p:nvSpPr>
          <p:cNvPr id="10" name="TextBox 9"/>
          <p:cNvSpPr txBox="1"/>
          <p:nvPr/>
        </p:nvSpPr>
        <p:spPr>
          <a:xfrm>
            <a:off x="6537960" y="2286000"/>
            <a:ext cx="4846320" cy="1737360"/>
          </a:xfrm>
          <a:prstGeom prst="rect">
            <a:avLst/>
          </a:prstGeom>
          <a:noFill/>
        </p:spPr>
        <p:txBody>
          <a:bodyPr wrap="square">
            <a:spAutoFit/>
          </a:bodyPr>
          <a:lstStyle/>
          <a:p>
            <a:pPr algn="l">
              <a:spcAft>
                <a:spcPts val="500"/>
              </a:spcAft>
            </a:pPr>
            <a:r>
              <a:rPr sz="1300" b="1">
                <a:solidFill>
                  <a:srgbClr val="1F2A44"/>
                </a:solidFill>
                <a:latin typeface="Calibri"/>
              </a:rPr>
              <a:t>signed_amount = -3,679.00</a:t>
            </a:r>
          </a:p>
          <a:p>
            <a:pPr algn="l">
              <a:spcAft>
                <a:spcPts val="500"/>
              </a:spcAft>
            </a:pPr>
            <a:r>
              <a:rPr sz="1300" b="1">
                <a:solidFill>
                  <a:srgbClr val="1F2A44"/>
                </a:solidFill>
                <a:latin typeface="Calibri"/>
              </a:rPr>
              <a:t>signed_amount = -3,679.00</a:t>
            </a:r>
          </a:p>
          <a:p>
            <a:pPr algn="l">
              <a:spcAft>
                <a:spcPts val="500"/>
              </a:spcAft>
            </a:pPr>
            <a:r>
              <a:rPr sz="1300" b="1">
                <a:solidFill>
                  <a:srgbClr val="1F2A44"/>
                </a:solidFill>
                <a:latin typeface="Calibri"/>
              </a:rPr>
              <a:t>signed_amount = +3,679.00</a:t>
            </a:r>
          </a:p>
          <a:p>
            <a:pPr algn="l">
              <a:spcAft>
                <a:spcPts val="500"/>
              </a:spcAft>
            </a:pPr>
            <a:r>
              <a:rPr sz="1150" b="0">
                <a:solidFill>
                  <a:srgbClr val="5B6472"/>
                </a:solidFill>
                <a:latin typeface="Calibri"/>
              </a:rPr>
              <a:t>Resolved once, for all 1,056,320 postings, with the original amount and the Czech code still sitting beside it. "Net flow" is now a sum.</a:t>
            </a:r>
          </a:p>
        </p:txBody>
      </p:sp>
      <p:sp>
        <p:nvSpPr>
          <p:cNvPr id="11" name="TextBox 10"/>
          <p:cNvSpPr txBox="1"/>
          <p:nvPr/>
        </p:nvSpPr>
        <p:spPr>
          <a:xfrm>
            <a:off x="548640" y="4343400"/>
            <a:ext cx="11109960" cy="1371600"/>
          </a:xfrm>
          <a:prstGeom prst="rect">
            <a:avLst/>
          </a:prstGeom>
          <a:noFill/>
        </p:spPr>
        <p:txBody>
          <a:bodyPr wrap="square">
            <a:spAutoFit/>
          </a:bodyPr>
          <a:lstStyle/>
          <a:p>
            <a:pPr algn="l">
              <a:spcAft>
                <a:spcPts val="1000"/>
              </a:spcAft>
            </a:pPr>
            <a:r>
              <a:rPr sz="1600" b="1">
                <a:solidFill>
                  <a:srgbClr val="1F2A44"/>
                </a:solidFill>
                <a:latin typeface="Calibri"/>
              </a:rPr>
              <a:t>Why this one matters more than the others: a query that gets the sign wrong does not crash. It returns a confident, plausible, wrong number — and the most likely way for that to happen is an AI that saw VYDAJ in its notes and did not see VYBER.</a:t>
            </a:r>
          </a:p>
          <a:p>
            <a:pPr algn="l">
              <a:spcAft>
                <a:spcPts val="1000"/>
              </a:spcAft>
            </a:pPr>
            <a:r>
              <a:rPr sz="1500" b="1">
                <a:solidFill>
                  <a:srgbClr val="1F3864"/>
                </a:solidFill>
                <a:latin typeface="Calibri"/>
              </a:rPr>
              <a:t>The way to stop a generated query being wrong is to make the right answer the easy one to write. Not to inspect the query afterwards.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FOUND IN THIS REVISION</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A cleaning step that quietly did not happen</a:t>
            </a:r>
          </a:p>
        </p:txBody>
      </p:sp>
      <p:sp>
        <p:nvSpPr>
          <p:cNvPr id="4" name="TextBox 3"/>
          <p:cNvSpPr txBox="1"/>
          <p:nvPr/>
        </p:nvSpPr>
        <p:spPr>
          <a:xfrm>
            <a:off x="640080" y="1188720"/>
            <a:ext cx="10972800" cy="365760"/>
          </a:xfrm>
          <a:prstGeom prst="rect">
            <a:avLst/>
          </a:prstGeom>
          <a:noFill/>
        </p:spPr>
        <p:txBody>
          <a:bodyPr wrap="square">
            <a:spAutoFit/>
          </a:bodyPr>
          <a:lstStyle/>
          <a:p>
            <a:pPr algn="l">
              <a:spcAft>
                <a:spcPts val="800"/>
              </a:spcAft>
            </a:pPr>
            <a:r>
              <a:rPr sz="1600" b="0">
                <a:solidFill>
                  <a:srgbClr val="5B6472"/>
                </a:solidFill>
                <a:latin typeface="Calibri"/>
              </a:rPr>
              <a:t>The best evidence that cleaning is being taken seriously is a cleaning bug found and owned, not a claim that there were none.</a:t>
            </a:r>
          </a:p>
        </p:txBody>
      </p:sp>
      <p:sp>
        <p:nvSpPr>
          <p:cNvPr id="5" name="Rounded Rectangle 4"/>
          <p:cNvSpPr/>
          <p:nvPr/>
        </p:nvSpPr>
        <p:spPr>
          <a:xfrm>
            <a:off x="548640" y="1783080"/>
            <a:ext cx="109728" cy="1097280"/>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11000232"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10515600" cy="274320"/>
          </a:xfrm>
          <a:prstGeom prst="rect">
            <a:avLst/>
          </a:prstGeom>
          <a:noFill/>
        </p:spPr>
        <p:txBody>
          <a:bodyPr wrap="square">
            <a:spAutoFit/>
          </a:bodyPr>
          <a:lstStyle/>
          <a:p>
            <a:pPr algn="l">
              <a:spcAft>
                <a:spcPts val="0"/>
              </a:spcAft>
            </a:pPr>
            <a:r>
              <a:rPr sz="1200" b="1">
                <a:solidFill>
                  <a:srgbClr val="991B1B"/>
                </a:solidFill>
                <a:latin typeface="Calibri"/>
              </a:rPr>
              <a:t>WHAT HAPPENED</a:t>
            </a:r>
          </a:p>
        </p:txBody>
      </p:sp>
      <p:sp>
        <p:nvSpPr>
          <p:cNvPr id="8" name="TextBox 7"/>
          <p:cNvSpPr txBox="1"/>
          <p:nvPr/>
        </p:nvSpPr>
        <p:spPr>
          <a:xfrm>
            <a:off x="914400" y="2167128"/>
            <a:ext cx="10515600" cy="658368"/>
          </a:xfrm>
          <a:prstGeom prst="rect">
            <a:avLst/>
          </a:prstGeom>
          <a:noFill/>
        </p:spPr>
        <p:txBody>
          <a:bodyPr wrap="square">
            <a:spAutoFit/>
          </a:bodyPr>
          <a:lstStyle/>
          <a:p>
            <a:pPr algn="l">
              <a:spcAft>
                <a:spcPts val="0"/>
              </a:spcAft>
            </a:pPr>
            <a:r>
              <a:rPr sz="1250" b="0">
                <a:solidFill>
                  <a:srgbClr val="1F2A44"/>
                </a:solidFill>
                <a:latin typeface="Calibri"/>
              </a:rPr>
              <a:t>Standing orders carry a category code. 341 of them say LEASING — and LEASING was missing from the one list that turns codes into English. Those 341 rows went through the whole first build with no label.</a:t>
            </a:r>
          </a:p>
        </p:txBody>
      </p:sp>
      <p:sp>
        <p:nvSpPr>
          <p:cNvPr id="9" name="Rounded Rectangle 8"/>
          <p:cNvSpPr/>
          <p:nvPr/>
        </p:nvSpPr>
        <p:spPr>
          <a:xfrm>
            <a:off x="548640" y="2990088"/>
            <a:ext cx="109728" cy="109728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990088"/>
            <a:ext cx="11000232"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81528"/>
            <a:ext cx="10515600" cy="274320"/>
          </a:xfrm>
          <a:prstGeom prst="rect">
            <a:avLst/>
          </a:prstGeom>
          <a:noFill/>
        </p:spPr>
        <p:txBody>
          <a:bodyPr wrap="square">
            <a:spAutoFit/>
          </a:bodyPr>
          <a:lstStyle/>
          <a:p>
            <a:pPr algn="l">
              <a:spcAft>
                <a:spcPts val="0"/>
              </a:spcAft>
            </a:pPr>
            <a:r>
              <a:rPr sz="1200" b="1">
                <a:solidFill>
                  <a:srgbClr val="B45309"/>
                </a:solidFill>
                <a:latin typeface="Calibri"/>
              </a:rPr>
              <a:t>WHY NOTHING CAUGHT IT</a:t>
            </a:r>
          </a:p>
        </p:txBody>
      </p:sp>
      <p:sp>
        <p:nvSpPr>
          <p:cNvPr id="12" name="TextBox 11"/>
          <p:cNvSpPr txBox="1"/>
          <p:nvPr/>
        </p:nvSpPr>
        <p:spPr>
          <a:xfrm>
            <a:off x="914400" y="3374136"/>
            <a:ext cx="10515600" cy="658368"/>
          </a:xfrm>
          <a:prstGeom prst="rect">
            <a:avLst/>
          </a:prstGeom>
          <a:noFill/>
        </p:spPr>
        <p:txBody>
          <a:bodyPr wrap="square">
            <a:spAutoFit/>
          </a:bodyPr>
          <a:lstStyle/>
          <a:p>
            <a:pPr algn="l">
              <a:spcAft>
                <a:spcPts val="0"/>
              </a:spcAft>
            </a:pPr>
            <a:r>
              <a:rPr sz="1250" b="0">
                <a:solidFill>
                  <a:srgbClr val="1F2A44"/>
                </a:solidFill>
                <a:latin typeface="Calibri"/>
              </a:rPr>
              <a:t>There IS a check that every code in the data is in the list. It covered the transactions table and not the standing orders table. The profiler printed LEASING in its report; no rule read it. The only rule that noticed said "this column is often empty", which reads like a fact about the data rather than a step that did not run.</a:t>
            </a:r>
          </a:p>
        </p:txBody>
      </p:sp>
      <p:sp>
        <p:nvSpPr>
          <p:cNvPr id="13" name="Rounded Rectangle 12"/>
          <p:cNvSpPr/>
          <p:nvPr/>
        </p:nvSpPr>
        <p:spPr>
          <a:xfrm>
            <a:off x="548640" y="4197096"/>
            <a:ext cx="109728" cy="1097280"/>
          </a:xfrm>
          <a:prstGeom prst="roundRect">
            <a:avLst>
              <a:gd name="adj" fmla="val 4000"/>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8368" y="4197096"/>
            <a:ext cx="11000232"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88536"/>
            <a:ext cx="10515600" cy="274320"/>
          </a:xfrm>
          <a:prstGeom prst="rect">
            <a:avLst/>
          </a:prstGeom>
          <a:noFill/>
        </p:spPr>
        <p:txBody>
          <a:bodyPr wrap="square">
            <a:spAutoFit/>
          </a:bodyPr>
          <a:lstStyle/>
          <a:p>
            <a:pPr algn="l">
              <a:spcAft>
                <a:spcPts val="0"/>
              </a:spcAft>
            </a:pPr>
            <a:r>
              <a:rPr sz="1200" b="1">
                <a:solidFill>
                  <a:srgbClr val="5B6472"/>
                </a:solidFill>
                <a:latin typeface="Calibri"/>
              </a:rPr>
              <a:t>WHAT IT COST, AND WHY IT WAS SURVIVABLE</a:t>
            </a:r>
          </a:p>
        </p:txBody>
      </p:sp>
      <p:sp>
        <p:nvSpPr>
          <p:cNvPr id="16" name="TextBox 15"/>
          <p:cNvSpPr txBox="1"/>
          <p:nvPr/>
        </p:nvSpPr>
        <p:spPr>
          <a:xfrm>
            <a:off x="914400" y="4581144"/>
            <a:ext cx="10515600" cy="658368"/>
          </a:xfrm>
          <a:prstGeom prst="rect">
            <a:avLst/>
          </a:prstGeom>
          <a:noFill/>
        </p:spPr>
        <p:txBody>
          <a:bodyPr wrap="square">
            <a:spAutoFit/>
          </a:bodyPr>
          <a:lstStyle/>
          <a:p>
            <a:pPr algn="l">
              <a:spcAft>
                <a:spcPts val="0"/>
              </a:spcAft>
            </a:pPr>
            <a:r>
              <a:rPr sz="1250" b="0">
                <a:solidFill>
                  <a:srgbClr val="1F2A44"/>
                </a:solidFill>
                <a:latin typeface="Calibri"/>
              </a:rPr>
              <a:t>Nothing, as it happens: no question reads standing orders. That is also why it survived — a table nothing consumes is a table whose defects nobody meets.</a:t>
            </a:r>
          </a:p>
        </p:txBody>
      </p:sp>
      <p:sp>
        <p:nvSpPr>
          <p:cNvPr id="17" name="Rounded Rectangle 16"/>
          <p:cNvSpPr/>
          <p:nvPr/>
        </p:nvSpPr>
        <p:spPr>
          <a:xfrm>
            <a:off x="548640" y="5404104"/>
            <a:ext cx="109728" cy="1097280"/>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5404104"/>
            <a:ext cx="11000232"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495544"/>
            <a:ext cx="10515600" cy="274320"/>
          </a:xfrm>
          <a:prstGeom prst="rect">
            <a:avLst/>
          </a:prstGeom>
          <a:noFill/>
        </p:spPr>
        <p:txBody>
          <a:bodyPr wrap="square">
            <a:spAutoFit/>
          </a:bodyPr>
          <a:lstStyle/>
          <a:p>
            <a:pPr algn="l">
              <a:spcAft>
                <a:spcPts val="0"/>
              </a:spcAft>
            </a:pPr>
            <a:r>
              <a:rPr sz="1200" b="1">
                <a:solidFill>
                  <a:srgbClr val="15803D"/>
                </a:solidFill>
                <a:latin typeface="Calibri"/>
              </a:rPr>
              <a:t>WHAT CHANGED</a:t>
            </a:r>
          </a:p>
        </p:txBody>
      </p:sp>
      <p:sp>
        <p:nvSpPr>
          <p:cNvPr id="20" name="TextBox 19"/>
          <p:cNvSpPr txBox="1"/>
          <p:nvPr/>
        </p:nvSpPr>
        <p:spPr>
          <a:xfrm>
            <a:off x="914400" y="5788152"/>
            <a:ext cx="10515600" cy="658368"/>
          </a:xfrm>
          <a:prstGeom prst="rect">
            <a:avLst/>
          </a:prstGeom>
          <a:noFill/>
        </p:spPr>
        <p:txBody>
          <a:bodyPr wrap="square">
            <a:spAutoFit/>
          </a:bodyPr>
          <a:lstStyle/>
          <a:p>
            <a:pPr algn="l">
              <a:spcAft>
                <a:spcPts val="0"/>
              </a:spcAft>
            </a:pPr>
            <a:r>
              <a:rPr sz="1250" b="0">
                <a:solidFill>
                  <a:srgbClr val="1F2A44"/>
                </a:solidFill>
                <a:latin typeface="Calibri"/>
              </a:rPr>
              <a:t>LEASING is in the list. The check now covers every coded column, not a hand-picked few. A new rule reports unknown order categories the way its transaction twin always did. And two tests now fail if any row carries a code without a label, or if a coded column is missing from the check.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SILVER</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Step 2b — grade everything that is still broken</a:t>
            </a:r>
          </a:p>
        </p:txBody>
      </p:sp>
      <p:pic>
        <p:nvPicPr>
          <p:cNvPr id="4" name="Picture 3" descr="03_severity.png"/>
          <p:cNvPicPr>
            <a:picLocks noChangeAspect="1"/>
          </p:cNvPicPr>
          <p:nvPr/>
        </p:nvPicPr>
        <p:blipFill>
          <a:blip r:embed="rId2"/>
          <a:stretch>
            <a:fillRect/>
          </a:stretch>
        </p:blipFill>
        <p:spPr>
          <a:xfrm>
            <a:off x="548640" y="1371600"/>
            <a:ext cx="11094415" cy="4259462"/>
          </a:xfrm>
          <a:prstGeom prst="rect">
            <a:avLst/>
          </a:prstGeom>
        </p:spPr>
      </p:pic>
      <p:sp>
        <p:nvSpPr>
          <p:cNvPr id="5" name="TextBox 4"/>
          <p:cNvSpPr txBox="1"/>
          <p:nvPr/>
        </p:nvSpPr>
        <p:spPr>
          <a:xfrm>
            <a:off x="548640" y="5852160"/>
            <a:ext cx="11155680" cy="731520"/>
          </a:xfrm>
          <a:prstGeom prst="rect">
            <a:avLst/>
          </a:prstGeom>
          <a:noFill/>
        </p:spPr>
        <p:txBody>
          <a:bodyPr wrap="square">
            <a:spAutoFit/>
          </a:bodyPr>
          <a:lstStyle/>
          <a:p>
            <a:pPr algn="l">
              <a:spcAft>
                <a:spcPts val="0"/>
              </a:spcAft>
            </a:pPr>
            <a:r>
              <a:rPr sz="1500" b="0">
                <a:solidFill>
                  <a:srgbClr val="5B6472"/>
                </a:solidFill>
                <a:latin typeface="Calibri"/>
              </a:rPr>
              <a:t>We never throw a row away quietly. Red is removed and counted. Orange stays, with a warning that reaches the final answer. Green is tidied and logged.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DECISION THAT MATTERS</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The grading is the hard part. The check is the easy half.</a:t>
            </a:r>
          </a:p>
        </p:txBody>
      </p:sp>
      <p:sp>
        <p:nvSpPr>
          <p:cNvPr id="4" name="Rounded Rectangle 3"/>
          <p:cNvSpPr/>
          <p:nvPr/>
        </p:nvSpPr>
        <p:spPr>
          <a:xfrm>
            <a:off x="548640" y="1417320"/>
            <a:ext cx="5486400" cy="2286000"/>
          </a:xfrm>
          <a:prstGeom prst="roundRect">
            <a:avLst>
              <a:gd name="adj" fmla="val 4000"/>
            </a:avLst>
          </a:prstGeom>
          <a:solidFill>
            <a:srgbClr val="F4FAF6"/>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00200"/>
            <a:ext cx="5029200" cy="365760"/>
          </a:xfrm>
          <a:prstGeom prst="rect">
            <a:avLst/>
          </a:prstGeom>
          <a:noFill/>
        </p:spPr>
        <p:txBody>
          <a:bodyPr wrap="square">
            <a:spAutoFit/>
          </a:bodyPr>
          <a:lstStyle/>
          <a:p>
            <a:pPr algn="l">
              <a:spcAft>
                <a:spcPts val="600"/>
              </a:spcAft>
            </a:pPr>
            <a:r>
              <a:rPr sz="1900" b="1">
                <a:solidFill>
                  <a:srgbClr val="15803D"/>
                </a:solidFill>
                <a:latin typeface="Calibri"/>
              </a:rPr>
              <a:t>14 payments of exactly zero</a:t>
            </a:r>
          </a:p>
        </p:txBody>
      </p:sp>
      <p:sp>
        <p:nvSpPr>
          <p:cNvPr id="6" name="TextBox 5"/>
          <p:cNvSpPr txBox="1"/>
          <p:nvPr/>
        </p:nvSpPr>
        <p:spPr>
          <a:xfrm>
            <a:off x="777240" y="2057400"/>
            <a:ext cx="5029200" cy="1463040"/>
          </a:xfrm>
          <a:prstGeom prst="rect">
            <a:avLst/>
          </a:prstGeom>
          <a:noFill/>
        </p:spPr>
        <p:txBody>
          <a:bodyPr wrap="square">
            <a:spAutoFit/>
          </a:bodyPr>
          <a:lstStyle/>
          <a:p>
            <a:pPr algn="l">
              <a:spcAft>
                <a:spcPts val="600"/>
              </a:spcAft>
            </a:pPr>
            <a:r>
              <a:rPr sz="1400" b="0">
                <a:solidFill>
                  <a:srgbClr val="5B6472"/>
                </a:solidFill>
                <a:latin typeface="Calibri"/>
              </a:rPr>
              <a:t>A rule saying "every payment must be more than zero" sounds obviously right.</a:t>
            </a:r>
          </a:p>
          <a:p>
            <a:pPr algn="l">
              <a:spcAft>
                <a:spcPts val="600"/>
              </a:spcAft>
            </a:pPr>
            <a:r>
              <a:rPr sz="1400" b="1">
                <a:solidFill>
                  <a:srgbClr val="1F2A44"/>
                </a:solidFill>
                <a:latin typeface="Calibri"/>
              </a:rPr>
              <a:t>At RED it would delete 14 real interest payments and break 14 customers' running balances — to fix nothing at all.</a:t>
            </a:r>
          </a:p>
          <a:p>
            <a:pPr algn="l">
              <a:spcAft>
                <a:spcPts val="600"/>
              </a:spcAft>
            </a:pPr>
            <a:r>
              <a:rPr sz="1500" b="1">
                <a:solidFill>
                  <a:srgbClr val="15803D"/>
                </a:solidFill>
                <a:latin typeface="Calibri"/>
              </a:rPr>
              <a:t>So it is GREEN.</a:t>
            </a:r>
          </a:p>
        </p:txBody>
      </p:sp>
      <p:sp>
        <p:nvSpPr>
          <p:cNvPr id="7" name="Rounded Rectangle 6"/>
          <p:cNvSpPr/>
          <p:nvPr/>
        </p:nvSpPr>
        <p:spPr>
          <a:xfrm>
            <a:off x="6355080" y="1417320"/>
            <a:ext cx="5303520" cy="2286000"/>
          </a:xfrm>
          <a:prstGeom prst="roundRect">
            <a:avLst>
              <a:gd name="adj" fmla="val 4000"/>
            </a:avLst>
          </a:prstGeom>
          <a:solidFill>
            <a:srgbClr val="FDF4F4"/>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00200"/>
            <a:ext cx="4846320" cy="365760"/>
          </a:xfrm>
          <a:prstGeom prst="rect">
            <a:avLst/>
          </a:prstGeom>
          <a:noFill/>
        </p:spPr>
        <p:txBody>
          <a:bodyPr wrap="square">
            <a:spAutoFit/>
          </a:bodyPr>
          <a:lstStyle/>
          <a:p>
            <a:pPr algn="l">
              <a:spcAft>
                <a:spcPts val="600"/>
              </a:spcAft>
            </a:pPr>
            <a:r>
              <a:rPr sz="1900" b="1">
                <a:solidFill>
                  <a:srgbClr val="991B1B"/>
                </a:solidFill>
                <a:latin typeface="Calibri"/>
              </a:rPr>
              <a:t>A payment of minus 500</a:t>
            </a:r>
          </a:p>
        </p:txBody>
      </p:sp>
      <p:sp>
        <p:nvSpPr>
          <p:cNvPr id="9" name="TextBox 8"/>
          <p:cNvSpPr txBox="1"/>
          <p:nvPr/>
        </p:nvSpPr>
        <p:spPr>
          <a:xfrm>
            <a:off x="6583680" y="2057400"/>
            <a:ext cx="4846320" cy="1463040"/>
          </a:xfrm>
          <a:prstGeom prst="rect">
            <a:avLst/>
          </a:prstGeom>
          <a:noFill/>
        </p:spPr>
        <p:txBody>
          <a:bodyPr wrap="square">
            <a:spAutoFit/>
          </a:bodyPr>
          <a:lstStyle/>
          <a:p>
            <a:pPr algn="l">
              <a:spcAft>
                <a:spcPts val="600"/>
              </a:spcAft>
            </a:pPr>
            <a:r>
              <a:rPr sz="1400" b="0">
                <a:solidFill>
                  <a:srgbClr val="5B6472"/>
                </a:solidFill>
                <a:latin typeface="Calibri"/>
              </a:rPr>
              <a:t>Same column, same kind of rule.</a:t>
            </a:r>
          </a:p>
          <a:p>
            <a:pPr algn="l">
              <a:spcAft>
                <a:spcPts val="600"/>
              </a:spcAft>
            </a:pPr>
            <a:r>
              <a:rPr sz="1400" b="1">
                <a:solidFill>
                  <a:srgbClr val="1F2A44"/>
                </a:solidFill>
                <a:latin typeface="Calibri"/>
              </a:rPr>
              <a:t>But a minus sign has been applied twice, so money would move the wrong way. There is no reading of this row that is correct.</a:t>
            </a:r>
          </a:p>
          <a:p>
            <a:pPr algn="l">
              <a:spcAft>
                <a:spcPts val="600"/>
              </a:spcAft>
            </a:pPr>
            <a:r>
              <a:rPr sz="1500" b="1">
                <a:solidFill>
                  <a:srgbClr val="991B1B"/>
                </a:solidFill>
                <a:latin typeface="Calibri"/>
              </a:rPr>
              <a:t>So it is RED.</a:t>
            </a:r>
          </a:p>
        </p:txBody>
      </p:sp>
      <p:sp>
        <p:nvSpPr>
          <p:cNvPr id="10" name="TextBox 9"/>
          <p:cNvSpPr txBox="1"/>
          <p:nvPr/>
        </p:nvSpPr>
        <p:spPr>
          <a:xfrm>
            <a:off x="548640" y="4069080"/>
            <a:ext cx="11155680" cy="1280160"/>
          </a:xfrm>
          <a:prstGeom prst="rect">
            <a:avLst/>
          </a:prstGeom>
          <a:noFill/>
        </p:spPr>
        <p:txBody>
          <a:bodyPr wrap="square">
            <a:spAutoFit/>
          </a:bodyPr>
          <a:lstStyle/>
          <a:p>
            <a:pPr algn="l">
              <a:spcAft>
                <a:spcPts val="1000"/>
              </a:spcAft>
            </a:pPr>
            <a:r>
              <a:rPr sz="2000" b="1">
                <a:solidFill>
                  <a:srgbClr val="1F3864"/>
                </a:solidFill>
                <a:latin typeface="Calibri"/>
              </a:rPr>
              <a:t>Same column. Opposite decision. And we can say why for each one.</a:t>
            </a:r>
          </a:p>
          <a:p>
            <a:pPr algn="l">
              <a:spcAft>
                <a:spcPts val="1000"/>
              </a:spcAft>
            </a:pPr>
            <a:r>
              <a:rPr sz="1500" b="0">
                <a:solidFill>
                  <a:srgbClr val="5B6472"/>
                </a:solidFill>
                <a:latin typeface="Calibri"/>
              </a:rPr>
              <a:t>That is what the brief is really testing. A rule without a justified grade scores the same as no rule — because the grade is where the judgement lives.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GOLD</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Step 3 — build the shelves, and pin down the words</a:t>
            </a:r>
          </a:p>
        </p:txBody>
      </p:sp>
      <p:pic>
        <p:nvPicPr>
          <p:cNvPr id="4" name="Picture 3" descr="04_star_schema.png"/>
          <p:cNvPicPr>
            <a:picLocks noChangeAspect="1"/>
          </p:cNvPicPr>
          <p:nvPr/>
        </p:nvPicPr>
        <p:blipFill>
          <a:blip r:embed="rId2"/>
          <a:stretch>
            <a:fillRect/>
          </a:stretch>
        </p:blipFill>
        <p:spPr>
          <a:xfrm>
            <a:off x="3984762" y="1280160"/>
            <a:ext cx="4222171" cy="4389120"/>
          </a:xfrm>
          <a:prstGeom prst="rect">
            <a:avLst/>
          </a:prstGeom>
        </p:spPr>
      </p:pic>
      <p:sp>
        <p:nvSpPr>
          <p:cNvPr id="5" name="TextBox 4"/>
          <p:cNvSpPr txBox="1"/>
          <p:nvPr/>
        </p:nvSpPr>
        <p:spPr>
          <a:xfrm>
            <a:off x="548640" y="5806440"/>
            <a:ext cx="11155680" cy="822960"/>
          </a:xfrm>
          <a:prstGeom prst="rect">
            <a:avLst/>
          </a:prstGeom>
          <a:noFill/>
        </p:spPr>
        <p:txBody>
          <a:bodyPr wrap="square">
            <a:spAutoFit/>
          </a:bodyPr>
          <a:lstStyle/>
          <a:p>
            <a:pPr algn="l">
              <a:spcAft>
                <a:spcPts val="0"/>
              </a:spcAft>
            </a:pPr>
            <a:r>
              <a:rPr sz="1400" b="0">
                <a:solidFill>
                  <a:srgbClr val="5B6472"/>
                </a:solidFill>
                <a:latin typeface="Calibri"/>
              </a:rPr>
              <a:t>One shelf per kind of thing, and a rule about what one row means. Customers do not connect to accounts directly — they connect through a record that says in what capacity, which is what makes "the account owner" a phrase with one meaning.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SERVING</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Step 4 — let the AI in, with three safeguards</a:t>
            </a:r>
          </a:p>
        </p:txBody>
      </p:sp>
      <p:pic>
        <p:nvPicPr>
          <p:cNvPr id="4" name="Picture 3" descr="02_query_path.png"/>
          <p:cNvPicPr>
            <a:picLocks noChangeAspect="1"/>
          </p:cNvPicPr>
          <p:nvPr/>
        </p:nvPicPr>
        <p:blipFill>
          <a:blip r:embed="rId2"/>
          <a:stretch>
            <a:fillRect/>
          </a:stretch>
        </p:blipFill>
        <p:spPr>
          <a:xfrm>
            <a:off x="548640" y="1371600"/>
            <a:ext cx="11094415" cy="1995296"/>
          </a:xfrm>
          <a:prstGeom prst="rect">
            <a:avLst/>
          </a:prstGeom>
        </p:spPr>
      </p:pic>
      <p:sp>
        <p:nvSpPr>
          <p:cNvPr id="5" name="Rounded Rectangle 4"/>
          <p:cNvSpPr/>
          <p:nvPr/>
        </p:nvSpPr>
        <p:spPr>
          <a:xfrm>
            <a:off x="640080" y="5257800"/>
            <a:ext cx="3611880" cy="1051560"/>
          </a:xfrm>
          <a:prstGeom prst="roundRect">
            <a:avLst>
              <a:gd name="adj" fmla="val 4000"/>
            </a:avLst>
          </a:prstGeom>
          <a:solidFill>
            <a:srgbClr val="F7F9FC"/>
          </a:solidFill>
          <a:ln w="1778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376672"/>
            <a:ext cx="3611880" cy="365760"/>
          </a:xfrm>
          <a:prstGeom prst="rect">
            <a:avLst/>
          </a:prstGeom>
          <a:noFill/>
        </p:spPr>
        <p:txBody>
          <a:bodyPr wrap="square">
            <a:spAutoFit/>
          </a:bodyPr>
          <a:lstStyle/>
          <a:p>
            <a:pPr algn="l">
              <a:spcAft>
                <a:spcPts val="200"/>
              </a:spcAft>
            </a:pPr>
            <a:r>
              <a:rPr sz="1500" b="1">
                <a:solidFill>
                  <a:srgbClr val="1F3864"/>
                </a:solidFill>
                <a:latin typeface="Calibri"/>
              </a:rPr>
              <a:t>A dictionary</a:t>
            </a:r>
          </a:p>
        </p:txBody>
      </p:sp>
      <p:sp>
        <p:nvSpPr>
          <p:cNvPr id="7" name="TextBox 6"/>
          <p:cNvSpPr txBox="1"/>
          <p:nvPr/>
        </p:nvSpPr>
        <p:spPr>
          <a:xfrm>
            <a:off x="822960" y="5760720"/>
            <a:ext cx="3337560" cy="548640"/>
          </a:xfrm>
          <a:prstGeom prst="rect">
            <a:avLst/>
          </a:prstGeom>
          <a:noFill/>
        </p:spPr>
        <p:txBody>
          <a:bodyPr wrap="square">
            <a:spAutoFit/>
          </a:bodyPr>
          <a:lstStyle/>
          <a:p>
            <a:pPr algn="l">
              <a:spcAft>
                <a:spcPts val="0"/>
              </a:spcAft>
            </a:pPr>
            <a:r>
              <a:rPr sz="1200" b="0">
                <a:solidFill>
                  <a:srgbClr val="5B6472"/>
                </a:solidFill>
                <a:latin typeface="Calibri"/>
              </a:rPr>
              <a:t>it sees the meaning of the data, never the data</a:t>
            </a:r>
          </a:p>
        </p:txBody>
      </p:sp>
      <p:sp>
        <p:nvSpPr>
          <p:cNvPr id="8" name="Rounded Rectangle 7"/>
          <p:cNvSpPr/>
          <p:nvPr/>
        </p:nvSpPr>
        <p:spPr>
          <a:xfrm>
            <a:off x="4480560" y="5257800"/>
            <a:ext cx="3611880" cy="1051560"/>
          </a:xfrm>
          <a:prstGeom prst="roundRect">
            <a:avLst>
              <a:gd name="adj" fmla="val 4000"/>
            </a:avLst>
          </a:prstGeom>
          <a:solidFill>
            <a:srgbClr val="F7F9FC"/>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5376672"/>
            <a:ext cx="3611880" cy="365760"/>
          </a:xfrm>
          <a:prstGeom prst="rect">
            <a:avLst/>
          </a:prstGeom>
          <a:noFill/>
        </p:spPr>
        <p:txBody>
          <a:bodyPr wrap="square">
            <a:spAutoFit/>
          </a:bodyPr>
          <a:lstStyle/>
          <a:p>
            <a:pPr algn="l">
              <a:spcAft>
                <a:spcPts val="200"/>
              </a:spcAft>
            </a:pPr>
            <a:r>
              <a:rPr sz="1500" b="1">
                <a:solidFill>
                  <a:srgbClr val="B45309"/>
                </a:solidFill>
                <a:latin typeface="Calibri"/>
              </a:rPr>
              <a:t>A bouncer</a:t>
            </a:r>
          </a:p>
        </p:txBody>
      </p:sp>
      <p:sp>
        <p:nvSpPr>
          <p:cNvPr id="10" name="TextBox 9"/>
          <p:cNvSpPr txBox="1"/>
          <p:nvPr/>
        </p:nvSpPr>
        <p:spPr>
          <a:xfrm>
            <a:off x="4663440" y="5760720"/>
            <a:ext cx="3337560" cy="548640"/>
          </a:xfrm>
          <a:prstGeom prst="rect">
            <a:avLst/>
          </a:prstGeom>
          <a:noFill/>
        </p:spPr>
        <p:txBody>
          <a:bodyPr wrap="square">
            <a:spAutoFit/>
          </a:bodyPr>
          <a:lstStyle/>
          <a:p>
            <a:pPr algn="l">
              <a:spcAft>
                <a:spcPts val="0"/>
              </a:spcAft>
            </a:pPr>
            <a:r>
              <a:rPr sz="1200" b="0">
                <a:solidFill>
                  <a:srgbClr val="5B6472"/>
                </a:solidFill>
                <a:latin typeface="Calibri"/>
              </a:rPr>
              <a:t>reads the AI's instruction properly before it runs</a:t>
            </a:r>
          </a:p>
        </p:txBody>
      </p:sp>
      <p:sp>
        <p:nvSpPr>
          <p:cNvPr id="11" name="Rounded Rectangle 10"/>
          <p:cNvSpPr/>
          <p:nvPr/>
        </p:nvSpPr>
        <p:spPr>
          <a:xfrm>
            <a:off x="8321040" y="5257800"/>
            <a:ext cx="3611880" cy="1051560"/>
          </a:xfrm>
          <a:prstGeom prst="roundRect">
            <a:avLst>
              <a:gd name="adj" fmla="val 4000"/>
            </a:avLst>
          </a:prstGeom>
          <a:solidFill>
            <a:srgbClr val="F7F9FC"/>
          </a:solidFill>
          <a:ln w="1778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5376672"/>
            <a:ext cx="3611880" cy="365760"/>
          </a:xfrm>
          <a:prstGeom prst="rect">
            <a:avLst/>
          </a:prstGeom>
          <a:noFill/>
        </p:spPr>
        <p:txBody>
          <a:bodyPr wrap="square">
            <a:spAutoFit/>
          </a:bodyPr>
          <a:lstStyle/>
          <a:p>
            <a:pPr algn="l">
              <a:spcAft>
                <a:spcPts val="200"/>
              </a:spcAft>
            </a:pPr>
            <a:r>
              <a:rPr sz="1500" b="1">
                <a:solidFill>
                  <a:srgbClr val="15803D"/>
                </a:solidFill>
                <a:latin typeface="Calibri"/>
              </a:rPr>
              <a:t>A lock on the shelf</a:t>
            </a:r>
          </a:p>
        </p:txBody>
      </p:sp>
      <p:sp>
        <p:nvSpPr>
          <p:cNvPr id="13" name="TextBox 12"/>
          <p:cNvSpPr txBox="1"/>
          <p:nvPr/>
        </p:nvSpPr>
        <p:spPr>
          <a:xfrm>
            <a:off x="8503920" y="5760720"/>
            <a:ext cx="3337560" cy="548640"/>
          </a:xfrm>
          <a:prstGeom prst="rect">
            <a:avLst/>
          </a:prstGeom>
          <a:noFill/>
        </p:spPr>
        <p:txBody>
          <a:bodyPr wrap="square">
            <a:spAutoFit/>
          </a:bodyPr>
          <a:lstStyle/>
          <a:p>
            <a:pPr algn="l">
              <a:spcAft>
                <a:spcPts val="0"/>
              </a:spcAft>
            </a:pPr>
            <a:r>
              <a:rPr sz="1200" b="0">
                <a:solidFill>
                  <a:srgbClr val="5B6472"/>
                </a:solidFill>
                <a:latin typeface="Calibri"/>
              </a:rPr>
              <a:t>the shelf itself hands over only your rows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058400" cy="457200"/>
          </a:xfrm>
          <a:prstGeom prst="rect">
            <a:avLst/>
          </a:prstGeom>
          <a:noFill/>
        </p:spPr>
        <p:txBody>
          <a:bodyPr wrap="square">
            <a:spAutoFit/>
          </a:bodyPr>
          <a:lstStyle/>
          <a:p>
            <a:pPr algn="l">
              <a:spcAft>
                <a:spcPts val="600"/>
              </a:spcAft>
            </a:pPr>
            <a:r>
              <a:rPr sz="1400" b="1">
                <a:solidFill>
                  <a:srgbClr val="9AB2D8"/>
                </a:solidFill>
                <a:latin typeface="Calibri"/>
              </a:rPr>
              <a:t>PART 2</a:t>
            </a:r>
          </a:p>
        </p:txBody>
      </p:sp>
      <p:sp>
        <p:nvSpPr>
          <p:cNvPr id="4" name="TextBox 3"/>
          <p:cNvSpPr txBox="1"/>
          <p:nvPr/>
        </p:nvSpPr>
        <p:spPr>
          <a:xfrm>
            <a:off x="1005840" y="2743200"/>
            <a:ext cx="10058400" cy="1097280"/>
          </a:xfrm>
          <a:prstGeom prst="rect">
            <a:avLst/>
          </a:prstGeom>
          <a:noFill/>
        </p:spPr>
        <p:txBody>
          <a:bodyPr wrap="square">
            <a:spAutoFit/>
          </a:bodyPr>
          <a:lstStyle/>
          <a:p>
            <a:pPr algn="l">
              <a:spcAft>
                <a:spcPts val="800"/>
              </a:spcAft>
            </a:pPr>
            <a:r>
              <a:rPr sz="4000" b="1">
                <a:solidFill>
                  <a:srgbClr val="FFFFFF"/>
                </a:solidFill>
                <a:latin typeface="Calibri"/>
              </a:rPr>
              <a:t>What it found, and what it answered</a:t>
            </a:r>
          </a:p>
        </p:txBody>
      </p:sp>
      <p:sp>
        <p:nvSpPr>
          <p:cNvPr id="5" name="TextBox 4"/>
          <p:cNvSpPr txBox="1"/>
          <p:nvPr/>
        </p:nvSpPr>
        <p:spPr>
          <a:xfrm>
            <a:off x="1005840" y="3931920"/>
            <a:ext cx="9144000" cy="731520"/>
          </a:xfrm>
          <a:prstGeom prst="rect">
            <a:avLst/>
          </a:prstGeom>
          <a:noFill/>
        </p:spPr>
        <p:txBody>
          <a:bodyPr wrap="square">
            <a:spAutoFit/>
          </a:bodyPr>
          <a:lstStyle/>
          <a:p>
            <a:pPr algn="l">
              <a:spcAft>
                <a:spcPts val="0"/>
              </a:spcAft>
            </a:pPr>
            <a:r>
              <a:rPr sz="1700" b="0">
                <a:solidFill>
                  <a:srgbClr val="C9D6EA"/>
                </a:solidFill>
                <a:latin typeface="Calibri"/>
              </a:rPr>
              <a:t>The three tasks the brief sets, and the evidence behind each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DATA QUALITY</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Task 1 — every defect found, and how to solve it</a:t>
            </a:r>
          </a:p>
        </p:txBody>
      </p:sp>
      <p:pic>
        <p:nvPicPr>
          <p:cNvPr id="4" name="Picture 3" descr="08_defect_catalogue.png"/>
          <p:cNvPicPr>
            <a:picLocks noChangeAspect="1"/>
          </p:cNvPicPr>
          <p:nvPr/>
        </p:nvPicPr>
        <p:blipFill>
          <a:blip r:embed="rId2"/>
          <a:stretch>
            <a:fillRect/>
          </a:stretch>
        </p:blipFill>
        <p:spPr>
          <a:xfrm>
            <a:off x="2566769" y="1280160"/>
            <a:ext cx="7058156" cy="4572000"/>
          </a:xfrm>
          <a:prstGeom prst="rect">
            <a:avLst/>
          </a:prstGeom>
        </p:spPr>
      </p:pic>
      <p:sp>
        <p:nvSpPr>
          <p:cNvPr id="5" name="TextBox 4"/>
          <p:cNvSpPr txBox="1"/>
          <p:nvPr/>
        </p:nvSpPr>
        <p:spPr>
          <a:xfrm>
            <a:off x="548640" y="5943600"/>
            <a:ext cx="11155680" cy="731520"/>
          </a:xfrm>
          <a:prstGeom prst="rect">
            <a:avLst/>
          </a:prstGeom>
          <a:noFill/>
        </p:spPr>
        <p:txBody>
          <a:bodyPr wrap="square">
            <a:spAutoFit/>
          </a:bodyPr>
          <a:lstStyle/>
          <a:p>
            <a:pPr algn="l">
              <a:spcAft>
                <a:spcPts val="0"/>
              </a:spcAft>
            </a:pPr>
            <a:r>
              <a:rPr sz="1500" b="1">
                <a:solidFill>
                  <a:srgbClr val="1F3864"/>
                </a:solidFill>
                <a:latin typeface="Calibri"/>
              </a:rPr>
              <a:t>Volume is not harm. One row in the red band changes two answers; 2.5 million rows in the green band change none. Nine of the fourteen need no fix at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DATA QUALITY</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Three things we found that the documentation does not mention</a:t>
            </a:r>
          </a:p>
        </p:txBody>
      </p:sp>
      <p:sp>
        <p:nvSpPr>
          <p:cNvPr id="4" name="Rounded Rectangle 3"/>
          <p:cNvSpPr/>
          <p:nvPr/>
        </p:nvSpPr>
        <p:spPr>
          <a:xfrm>
            <a:off x="548640" y="1508760"/>
            <a:ext cx="11155680" cy="1463040"/>
          </a:xfrm>
          <a:prstGeom prst="roundRect">
            <a:avLst>
              <a:gd name="adj" fmla="val 4000"/>
            </a:avLst>
          </a:prstGeom>
          <a:solidFill>
            <a:srgbClr val="F7F9FC"/>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36776"/>
            <a:ext cx="10698480" cy="365760"/>
          </a:xfrm>
          <a:prstGeom prst="rect">
            <a:avLst/>
          </a:prstGeom>
          <a:noFill/>
        </p:spPr>
        <p:txBody>
          <a:bodyPr wrap="square">
            <a:spAutoFit/>
          </a:bodyPr>
          <a:lstStyle/>
          <a:p>
            <a:pPr algn="l">
              <a:spcAft>
                <a:spcPts val="400"/>
              </a:spcAft>
            </a:pPr>
            <a:r>
              <a:rPr sz="1700" b="1">
                <a:solidFill>
                  <a:srgbClr val="B45309"/>
                </a:solidFill>
                <a:latin typeface="Calibri"/>
              </a:rPr>
              <a:t>The balance chain does not add up</a:t>
            </a:r>
          </a:p>
        </p:txBody>
      </p:sp>
      <p:sp>
        <p:nvSpPr>
          <p:cNvPr id="6" name="TextBox 5"/>
          <p:cNvSpPr txBox="1"/>
          <p:nvPr/>
        </p:nvSpPr>
        <p:spPr>
          <a:xfrm>
            <a:off x="777240" y="2039112"/>
            <a:ext cx="10698480" cy="914400"/>
          </a:xfrm>
          <a:prstGeom prst="rect">
            <a:avLst/>
          </a:prstGeom>
          <a:noFill/>
        </p:spPr>
        <p:txBody>
          <a:bodyPr wrap="square">
            <a:spAutoFit/>
          </a:bodyPr>
          <a:lstStyle/>
          <a:p>
            <a:pPr algn="l">
              <a:spcAft>
                <a:spcPts val="0"/>
              </a:spcAft>
            </a:pPr>
            <a:r>
              <a:rPr sz="1300" b="0">
                <a:solidFill>
                  <a:srgbClr val="5B6472"/>
                </a:solidFill>
                <a:latin typeface="Calibri"/>
              </a:rPr>
              <a:t>Testing order-independently: 3,869 of 4,500 accounts differ between the sum of their payments and their last stated balance. Most is rounding — every amount carries one decimal. But 55 accounts are out by more than 100, and one by exactly 1,200 with only 55 payments. That is a missing or duplicated posting, not rounding.</a:t>
            </a:r>
          </a:p>
        </p:txBody>
      </p:sp>
      <p:sp>
        <p:nvSpPr>
          <p:cNvPr id="7" name="Rounded Rectangle 6"/>
          <p:cNvSpPr/>
          <p:nvPr/>
        </p:nvSpPr>
        <p:spPr>
          <a:xfrm>
            <a:off x="548640" y="3136392"/>
            <a:ext cx="11155680" cy="1463040"/>
          </a:xfrm>
          <a:prstGeom prst="roundRect">
            <a:avLst>
              <a:gd name="adj" fmla="val 4000"/>
            </a:avLst>
          </a:prstGeom>
          <a:solidFill>
            <a:srgbClr val="F7F9FC"/>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64408"/>
            <a:ext cx="10698480" cy="365760"/>
          </a:xfrm>
          <a:prstGeom prst="rect">
            <a:avLst/>
          </a:prstGeom>
          <a:noFill/>
        </p:spPr>
        <p:txBody>
          <a:bodyPr wrap="square">
            <a:spAutoFit/>
          </a:bodyPr>
          <a:lstStyle/>
          <a:p>
            <a:pPr algn="l">
              <a:spcAft>
                <a:spcPts val="400"/>
              </a:spcAft>
            </a:pPr>
            <a:r>
              <a:rPr sz="1700" b="1">
                <a:solidFill>
                  <a:srgbClr val="B45309"/>
                </a:solidFill>
                <a:latin typeface="Calibri"/>
              </a:rPr>
              <a:t>Same-day order is simply not recorded</a:t>
            </a:r>
          </a:p>
        </p:txBody>
      </p:sp>
      <p:sp>
        <p:nvSpPr>
          <p:cNvPr id="9" name="TextBox 8"/>
          <p:cNvSpPr txBox="1"/>
          <p:nvPr/>
        </p:nvSpPr>
        <p:spPr>
          <a:xfrm>
            <a:off x="777240" y="3666744"/>
            <a:ext cx="10698480" cy="914400"/>
          </a:xfrm>
          <a:prstGeom prst="rect">
            <a:avLst/>
          </a:prstGeom>
          <a:noFill/>
        </p:spPr>
        <p:txBody>
          <a:bodyPr wrap="square">
            <a:spAutoFit/>
          </a:bodyPr>
          <a:lstStyle/>
          <a:p>
            <a:pPr algn="l">
              <a:spcAft>
                <a:spcPts val="0"/>
              </a:spcAft>
            </a:pPr>
            <a:r>
              <a:rPr sz="1300" b="0">
                <a:solidFill>
                  <a:srgbClr val="5B6472"/>
                </a:solidFill>
                <a:latin typeface="Calibri"/>
              </a:rPr>
              <a:t>Payment IDs are not in time order within a day. For 183 accounts that uncertainty lands on their very last active day — so "the closing balance" is a documented choice we made, not a fact the data contains. That is exactly what Q9 asks for.</a:t>
            </a:r>
          </a:p>
        </p:txBody>
      </p:sp>
      <p:sp>
        <p:nvSpPr>
          <p:cNvPr id="10" name="Rounded Rectangle 9"/>
          <p:cNvSpPr/>
          <p:nvPr/>
        </p:nvSpPr>
        <p:spPr>
          <a:xfrm>
            <a:off x="548640" y="4764024"/>
            <a:ext cx="11155680" cy="1463040"/>
          </a:xfrm>
          <a:prstGeom prst="roundRect">
            <a:avLst>
              <a:gd name="adj" fmla="val 4000"/>
            </a:avLst>
          </a:prstGeom>
          <a:solidFill>
            <a:srgbClr val="F7F9FC"/>
          </a:solidFill>
          <a:ln w="1778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92040"/>
            <a:ext cx="10698480" cy="365760"/>
          </a:xfrm>
          <a:prstGeom prst="rect">
            <a:avLst/>
          </a:prstGeom>
          <a:noFill/>
        </p:spPr>
        <p:txBody>
          <a:bodyPr wrap="square">
            <a:spAutoFit/>
          </a:bodyPr>
          <a:lstStyle/>
          <a:p>
            <a:pPr algn="l">
              <a:spcAft>
                <a:spcPts val="400"/>
              </a:spcAft>
            </a:pPr>
            <a:r>
              <a:rPr sz="1700" b="1">
                <a:solidFill>
                  <a:srgbClr val="991B1B"/>
                </a:solidFill>
                <a:latin typeface="Calibri"/>
              </a:rPr>
              <a:t>One duplicate no primary key could catch</a:t>
            </a:r>
          </a:p>
        </p:txBody>
      </p:sp>
      <p:sp>
        <p:nvSpPr>
          <p:cNvPr id="12" name="TextBox 11"/>
          <p:cNvSpPr txBox="1"/>
          <p:nvPr/>
        </p:nvSpPr>
        <p:spPr>
          <a:xfrm>
            <a:off x="777240" y="5294376"/>
            <a:ext cx="10698480" cy="914400"/>
          </a:xfrm>
          <a:prstGeom prst="rect">
            <a:avLst/>
          </a:prstGeom>
          <a:noFill/>
        </p:spPr>
        <p:txBody>
          <a:bodyPr wrap="square">
            <a:spAutoFit/>
          </a:bodyPr>
          <a:lstStyle/>
          <a:p>
            <a:pPr algn="l">
              <a:spcAft>
                <a:spcPts val="0"/>
              </a:spcAft>
            </a:pPr>
            <a:r>
              <a:rPr sz="1300" b="0">
                <a:solidFill>
                  <a:srgbClr val="5B6472"/>
                </a:solidFill>
                <a:latin typeface="Calibri"/>
              </a:rPr>
              <a:t>Same account, same date, same type, same amount, same resulting balance — different ID. A genuinely separate payment would have moved the balance. This is the single row that gets removed, and the product reports 1,056,319 where the file has 1,056,320.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DATA QUALITY</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And what "solving" one actually means</a:t>
            </a:r>
          </a:p>
        </p:txBody>
      </p:sp>
      <p:pic>
        <p:nvPicPr>
          <p:cNvPr id="4" name="Picture 3" descr="07_defect_lifecycle.png"/>
          <p:cNvPicPr>
            <a:picLocks noChangeAspect="1"/>
          </p:cNvPicPr>
          <p:nvPr/>
        </p:nvPicPr>
        <p:blipFill>
          <a:blip r:embed="rId2"/>
          <a:stretch>
            <a:fillRect/>
          </a:stretch>
        </p:blipFill>
        <p:spPr>
          <a:xfrm>
            <a:off x="1701186" y="1280160"/>
            <a:ext cx="8789323" cy="4754880"/>
          </a:xfrm>
          <a:prstGeom prst="rect">
            <a:avLst/>
          </a:prstGeom>
        </p:spPr>
      </p:pic>
      <p:sp>
        <p:nvSpPr>
          <p:cNvPr id="5" name="TextBox 4"/>
          <p:cNvSpPr txBox="1"/>
          <p:nvPr/>
        </p:nvSpPr>
        <p:spPr>
          <a:xfrm>
            <a:off x="548640" y="6126480"/>
            <a:ext cx="11155680" cy="548640"/>
          </a:xfrm>
          <a:prstGeom prst="rect">
            <a:avLst/>
          </a:prstGeom>
          <a:noFill/>
        </p:spPr>
        <p:txBody>
          <a:bodyPr wrap="square">
            <a:spAutoFit/>
          </a:bodyPr>
          <a:lstStyle/>
          <a:p>
            <a:pPr algn="l">
              <a:spcAft>
                <a:spcPts val="0"/>
              </a:spcAft>
            </a:pPr>
            <a:r>
              <a:rPr sz="1400" b="0">
                <a:solidFill>
                  <a:srgbClr val="5B6472"/>
                </a:solidFill>
                <a:latin typeface="Calibri"/>
              </a:rPr>
              <a:t>Red: fix at source and reload — nothing was destroyed. Orange: correct it, or accept it is reality and keep the caveat. Green: usually nothing, and the rule waits.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MODEL AND SEMANTIC LAYER</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Task 2 — the AI answered all ten, first time</a:t>
            </a:r>
          </a:p>
        </p:txBody>
      </p:sp>
      <p:sp>
        <p:nvSpPr>
          <p:cNvPr id="4" name="TextBox 3"/>
          <p:cNvSpPr txBox="1"/>
          <p:nvPr/>
        </p:nvSpPr>
        <p:spPr>
          <a:xfrm>
            <a:off x="640080" y="1417320"/>
            <a:ext cx="10972800" cy="548640"/>
          </a:xfrm>
          <a:prstGeom prst="rect">
            <a:avLst/>
          </a:prstGeom>
          <a:noFill/>
        </p:spPr>
        <p:txBody>
          <a:bodyPr wrap="square">
            <a:spAutoFit/>
          </a:bodyPr>
          <a:lstStyle/>
          <a:p>
            <a:pPr algn="l">
              <a:spcAft>
                <a:spcPts val="1200"/>
              </a:spcAft>
            </a:pPr>
            <a:r>
              <a:rPr sz="1800" b="1">
                <a:solidFill>
                  <a:srgbClr val="1F2A44"/>
                </a:solidFill>
                <a:latin typeface="Calibri"/>
              </a:rPr>
              <a:t>It never saw the database. It got the dictionary and the question, and nothing else.</a:t>
            </a:r>
          </a:p>
        </p:txBody>
      </p:sp>
      <p:sp>
        <p:nvSpPr>
          <p:cNvPr id="5" name="Rounded Rectangle 4"/>
          <p:cNvSpPr/>
          <p:nvPr/>
        </p:nvSpPr>
        <p:spPr>
          <a:xfrm>
            <a:off x="548640" y="2029968"/>
            <a:ext cx="11155680" cy="3840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57400"/>
            <a:ext cx="4023360" cy="347472"/>
          </a:xfrm>
          <a:prstGeom prst="rect">
            <a:avLst/>
          </a:prstGeom>
          <a:noFill/>
        </p:spPr>
        <p:txBody>
          <a:bodyPr wrap="square">
            <a:spAutoFit/>
          </a:bodyPr>
          <a:lstStyle/>
          <a:p>
            <a:pPr algn="l">
              <a:spcAft>
                <a:spcPts val="0"/>
              </a:spcAft>
            </a:pPr>
            <a:r>
              <a:rPr sz="1250" b="1">
                <a:solidFill>
                  <a:srgbClr val="1F2A44"/>
                </a:solidFill>
                <a:latin typeface="Calibri"/>
              </a:rPr>
              <a:t>Q1  clients per region</a:t>
            </a:r>
          </a:p>
        </p:txBody>
      </p:sp>
      <p:sp>
        <p:nvSpPr>
          <p:cNvPr id="7" name="TextBox 6"/>
          <p:cNvSpPr txBox="1"/>
          <p:nvPr/>
        </p:nvSpPr>
        <p:spPr>
          <a:xfrm>
            <a:off x="4754880" y="2057400"/>
            <a:ext cx="6949440" cy="347472"/>
          </a:xfrm>
          <a:prstGeom prst="rect">
            <a:avLst/>
          </a:prstGeom>
          <a:noFill/>
        </p:spPr>
        <p:txBody>
          <a:bodyPr wrap="square">
            <a:spAutoFit/>
          </a:bodyPr>
          <a:lstStyle/>
          <a:p>
            <a:pPr algn="l">
              <a:spcAft>
                <a:spcPts val="0"/>
              </a:spcAft>
            </a:pPr>
            <a:r>
              <a:rPr sz="1250" b="0">
                <a:solidFill>
                  <a:srgbClr val="5B6472"/>
                </a:solidFill>
                <a:latin typeface="Calibri"/>
              </a:rPr>
              <a:t>south Moravia 937, north Moravia 920, + 6 more</a:t>
            </a:r>
          </a:p>
        </p:txBody>
      </p:sp>
      <p:sp>
        <p:nvSpPr>
          <p:cNvPr id="8" name="TextBox 7"/>
          <p:cNvSpPr txBox="1"/>
          <p:nvPr/>
        </p:nvSpPr>
        <p:spPr>
          <a:xfrm>
            <a:off x="685800" y="2441448"/>
            <a:ext cx="4023360" cy="347472"/>
          </a:xfrm>
          <a:prstGeom prst="rect">
            <a:avLst/>
          </a:prstGeom>
          <a:noFill/>
        </p:spPr>
        <p:txBody>
          <a:bodyPr wrap="square">
            <a:spAutoFit/>
          </a:bodyPr>
          <a:lstStyle/>
          <a:p>
            <a:pPr algn="l">
              <a:spcAft>
                <a:spcPts val="0"/>
              </a:spcAft>
            </a:pPr>
            <a:r>
              <a:rPr sz="1250" b="1">
                <a:solidFill>
                  <a:srgbClr val="1F2A44"/>
                </a:solidFill>
                <a:latin typeface="Calibri"/>
              </a:rPr>
              <a:t>Q2  loans granted per year</a:t>
            </a:r>
          </a:p>
        </p:txBody>
      </p:sp>
      <p:sp>
        <p:nvSpPr>
          <p:cNvPr id="9" name="TextBox 8"/>
          <p:cNvSpPr txBox="1"/>
          <p:nvPr/>
        </p:nvSpPr>
        <p:spPr>
          <a:xfrm>
            <a:off x="4754880" y="2441448"/>
            <a:ext cx="6949440" cy="347472"/>
          </a:xfrm>
          <a:prstGeom prst="rect">
            <a:avLst/>
          </a:prstGeom>
          <a:noFill/>
        </p:spPr>
        <p:txBody>
          <a:bodyPr wrap="square">
            <a:spAutoFit/>
          </a:bodyPr>
          <a:lstStyle/>
          <a:p>
            <a:pPr algn="l">
              <a:spcAft>
                <a:spcPts val="0"/>
              </a:spcAft>
            </a:pPr>
            <a:r>
              <a:rPr sz="1250" b="0">
                <a:solidFill>
                  <a:srgbClr val="5B6472"/>
                </a:solidFill>
                <a:latin typeface="Calibri"/>
              </a:rPr>
              <a:t>1993: 2.6m · 1994: 13.4m · 1995: 13.3m · 1996: 18.3m · +2</a:t>
            </a:r>
          </a:p>
        </p:txBody>
      </p:sp>
      <p:sp>
        <p:nvSpPr>
          <p:cNvPr id="10" name="Rounded Rectangle 9"/>
          <p:cNvSpPr/>
          <p:nvPr/>
        </p:nvSpPr>
        <p:spPr>
          <a:xfrm>
            <a:off x="548640" y="2798064"/>
            <a:ext cx="11155680" cy="3840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825496"/>
            <a:ext cx="4023360" cy="347472"/>
          </a:xfrm>
          <a:prstGeom prst="rect">
            <a:avLst/>
          </a:prstGeom>
          <a:noFill/>
        </p:spPr>
        <p:txBody>
          <a:bodyPr wrap="square">
            <a:spAutoFit/>
          </a:bodyPr>
          <a:lstStyle/>
          <a:p>
            <a:pPr algn="l">
              <a:spcAft>
                <a:spcPts val="0"/>
              </a:spcAft>
            </a:pPr>
            <a:r>
              <a:rPr sz="1250" b="1">
                <a:solidFill>
                  <a:srgbClr val="1F2A44"/>
                </a:solidFill>
                <a:latin typeface="Calibri"/>
              </a:rPr>
              <a:t>Q3  problematic loans</a:t>
            </a:r>
          </a:p>
        </p:txBody>
      </p:sp>
      <p:sp>
        <p:nvSpPr>
          <p:cNvPr id="12" name="TextBox 11"/>
          <p:cNvSpPr txBox="1"/>
          <p:nvPr/>
        </p:nvSpPr>
        <p:spPr>
          <a:xfrm>
            <a:off x="4754880" y="2825496"/>
            <a:ext cx="6949440" cy="347472"/>
          </a:xfrm>
          <a:prstGeom prst="rect">
            <a:avLst/>
          </a:prstGeom>
          <a:noFill/>
        </p:spPr>
        <p:txBody>
          <a:bodyPr wrap="square">
            <a:spAutoFit/>
          </a:bodyPr>
          <a:lstStyle/>
          <a:p>
            <a:pPr algn="l">
              <a:spcAft>
                <a:spcPts val="0"/>
              </a:spcAft>
            </a:pPr>
            <a:r>
              <a:rPr sz="1250" b="0">
                <a:solidFill>
                  <a:srgbClr val="5B6472"/>
                </a:solidFill>
                <a:latin typeface="Calibri"/>
              </a:rPr>
              <a:t>76 of 682 = 11.14%  (matches the published figure exactly)</a:t>
            </a:r>
          </a:p>
        </p:txBody>
      </p:sp>
      <p:sp>
        <p:nvSpPr>
          <p:cNvPr id="13" name="TextBox 12"/>
          <p:cNvSpPr txBox="1"/>
          <p:nvPr/>
        </p:nvSpPr>
        <p:spPr>
          <a:xfrm>
            <a:off x="685800" y="3209544"/>
            <a:ext cx="4023360" cy="347472"/>
          </a:xfrm>
          <a:prstGeom prst="rect">
            <a:avLst/>
          </a:prstGeom>
          <a:noFill/>
        </p:spPr>
        <p:txBody>
          <a:bodyPr wrap="square">
            <a:spAutoFit/>
          </a:bodyPr>
          <a:lstStyle/>
          <a:p>
            <a:pPr algn="l">
              <a:spcAft>
                <a:spcPts val="0"/>
              </a:spcAft>
            </a:pPr>
            <a:r>
              <a:rPr sz="1250" b="1">
                <a:solidFill>
                  <a:srgbClr val="1F2A44"/>
                </a:solidFill>
                <a:latin typeface="Calibri"/>
              </a:rPr>
              <a:t>Q4  average loan by owner's card</a:t>
            </a:r>
          </a:p>
        </p:txBody>
      </p:sp>
      <p:sp>
        <p:nvSpPr>
          <p:cNvPr id="14" name="TextBox 13"/>
          <p:cNvSpPr txBox="1"/>
          <p:nvPr/>
        </p:nvSpPr>
        <p:spPr>
          <a:xfrm>
            <a:off x="4754880" y="3209544"/>
            <a:ext cx="6949440" cy="347472"/>
          </a:xfrm>
          <a:prstGeom prst="rect">
            <a:avLst/>
          </a:prstGeom>
          <a:noFill/>
        </p:spPr>
        <p:txBody>
          <a:bodyPr wrap="square">
            <a:spAutoFit/>
          </a:bodyPr>
          <a:lstStyle/>
          <a:p>
            <a:pPr algn="l">
              <a:spcAft>
                <a:spcPts val="0"/>
              </a:spcAft>
            </a:pPr>
            <a:r>
              <a:rPr sz="1250" b="0">
                <a:solidFill>
                  <a:srgbClr val="5B6472"/>
                </a:solidFill>
                <a:latin typeface="Calibri"/>
              </a:rPr>
              <a:t>junior 221,970 · gold 161,881 · no card 148,865 · classic 148,809</a:t>
            </a:r>
          </a:p>
        </p:txBody>
      </p:sp>
      <p:sp>
        <p:nvSpPr>
          <p:cNvPr id="15" name="Rounded Rectangle 14"/>
          <p:cNvSpPr/>
          <p:nvPr/>
        </p:nvSpPr>
        <p:spPr>
          <a:xfrm>
            <a:off x="548640" y="3566160"/>
            <a:ext cx="11155680" cy="3840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93592"/>
            <a:ext cx="4023360" cy="347472"/>
          </a:xfrm>
          <a:prstGeom prst="rect">
            <a:avLst/>
          </a:prstGeom>
          <a:noFill/>
        </p:spPr>
        <p:txBody>
          <a:bodyPr wrap="square">
            <a:spAutoFit/>
          </a:bodyPr>
          <a:lstStyle/>
          <a:p>
            <a:pPr algn="l">
              <a:spcAft>
                <a:spcPts val="0"/>
              </a:spcAft>
            </a:pPr>
            <a:r>
              <a:rPr sz="1250" b="1">
                <a:solidFill>
                  <a:srgbClr val="1F2A44"/>
                </a:solidFill>
                <a:latin typeface="Calibri"/>
              </a:rPr>
              <a:t>Q5  top districts, 1997</a:t>
            </a:r>
          </a:p>
        </p:txBody>
      </p:sp>
      <p:sp>
        <p:nvSpPr>
          <p:cNvPr id="17" name="TextBox 16"/>
          <p:cNvSpPr txBox="1"/>
          <p:nvPr/>
        </p:nvSpPr>
        <p:spPr>
          <a:xfrm>
            <a:off x="4754880" y="3593592"/>
            <a:ext cx="6949440" cy="347472"/>
          </a:xfrm>
          <a:prstGeom prst="rect">
            <a:avLst/>
          </a:prstGeom>
          <a:noFill/>
        </p:spPr>
        <p:txBody>
          <a:bodyPr wrap="square">
            <a:spAutoFit/>
          </a:bodyPr>
          <a:lstStyle/>
          <a:p>
            <a:pPr algn="l">
              <a:spcAft>
                <a:spcPts val="0"/>
              </a:spcAft>
            </a:pPr>
            <a:r>
              <a:rPr sz="1250" b="0">
                <a:solidFill>
                  <a:srgbClr val="5B6472"/>
                </a:solidFill>
                <a:latin typeface="Calibri"/>
              </a:rPr>
              <a:t>Prague 115.1m · Karvina 28.5m · Ostrava 27.7m · +7</a:t>
            </a:r>
          </a:p>
        </p:txBody>
      </p:sp>
      <p:sp>
        <p:nvSpPr>
          <p:cNvPr id="18" name="TextBox 17"/>
          <p:cNvSpPr txBox="1"/>
          <p:nvPr/>
        </p:nvSpPr>
        <p:spPr>
          <a:xfrm>
            <a:off x="685800" y="3977640"/>
            <a:ext cx="4023360" cy="347472"/>
          </a:xfrm>
          <a:prstGeom prst="rect">
            <a:avLst/>
          </a:prstGeom>
          <a:noFill/>
        </p:spPr>
        <p:txBody>
          <a:bodyPr wrap="square">
            <a:spAutoFit/>
          </a:bodyPr>
          <a:lstStyle/>
          <a:p>
            <a:pPr algn="l">
              <a:spcAft>
                <a:spcPts val="0"/>
              </a:spcAft>
            </a:pPr>
            <a:r>
              <a:rPr sz="1250" b="1">
                <a:solidFill>
                  <a:srgbClr val="1F2A44"/>
                </a:solidFill>
                <a:latin typeface="Calibri"/>
              </a:rPr>
              <a:t>Q6  new accounts per month 1996</a:t>
            </a:r>
          </a:p>
        </p:txBody>
      </p:sp>
      <p:sp>
        <p:nvSpPr>
          <p:cNvPr id="19" name="TextBox 18"/>
          <p:cNvSpPr txBox="1"/>
          <p:nvPr/>
        </p:nvSpPr>
        <p:spPr>
          <a:xfrm>
            <a:off x="4754880" y="3977640"/>
            <a:ext cx="6949440" cy="347472"/>
          </a:xfrm>
          <a:prstGeom prst="rect">
            <a:avLst/>
          </a:prstGeom>
          <a:noFill/>
        </p:spPr>
        <p:txBody>
          <a:bodyPr wrap="square">
            <a:spAutoFit/>
          </a:bodyPr>
          <a:lstStyle/>
          <a:p>
            <a:pPr algn="l">
              <a:spcAft>
                <a:spcPts val="0"/>
              </a:spcAft>
            </a:pPr>
            <a:r>
              <a:rPr sz="1250" b="0">
                <a:solidFill>
                  <a:srgbClr val="5B6472"/>
                </a:solidFill>
                <a:latin typeface="Calibri"/>
              </a:rPr>
              <a:t>all twelve months present — Jan 106, Feb 104, Mar 124 …</a:t>
            </a:r>
          </a:p>
        </p:txBody>
      </p:sp>
      <p:sp>
        <p:nvSpPr>
          <p:cNvPr id="20" name="Rounded Rectangle 19"/>
          <p:cNvSpPr/>
          <p:nvPr/>
        </p:nvSpPr>
        <p:spPr>
          <a:xfrm>
            <a:off x="548640" y="4334256"/>
            <a:ext cx="11155680" cy="3840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361688"/>
            <a:ext cx="4023360" cy="347472"/>
          </a:xfrm>
          <a:prstGeom prst="rect">
            <a:avLst/>
          </a:prstGeom>
          <a:noFill/>
        </p:spPr>
        <p:txBody>
          <a:bodyPr wrap="square">
            <a:spAutoFit/>
          </a:bodyPr>
          <a:lstStyle/>
          <a:p>
            <a:pPr algn="l">
              <a:spcAft>
                <a:spcPts val="0"/>
              </a:spcAft>
            </a:pPr>
            <a:r>
              <a:rPr sz="1250" b="1">
                <a:solidFill>
                  <a:srgbClr val="1F2A44"/>
                </a:solidFill>
                <a:latin typeface="Calibri"/>
              </a:rPr>
              <a:t>Q7  owner age at loan start</a:t>
            </a:r>
          </a:p>
        </p:txBody>
      </p:sp>
      <p:sp>
        <p:nvSpPr>
          <p:cNvPr id="22" name="TextBox 21"/>
          <p:cNvSpPr txBox="1"/>
          <p:nvPr/>
        </p:nvSpPr>
        <p:spPr>
          <a:xfrm>
            <a:off x="4754880" y="4361688"/>
            <a:ext cx="6949440" cy="347472"/>
          </a:xfrm>
          <a:prstGeom prst="rect">
            <a:avLst/>
          </a:prstGeom>
          <a:noFill/>
        </p:spPr>
        <p:txBody>
          <a:bodyPr wrap="square">
            <a:spAutoFit/>
          </a:bodyPr>
          <a:lstStyle/>
          <a:p>
            <a:pPr algn="l">
              <a:spcAft>
                <a:spcPts val="0"/>
              </a:spcAft>
            </a:pPr>
            <a:r>
              <a:rPr sz="1250" b="0">
                <a:solidFill>
                  <a:srgbClr val="5B6472"/>
                </a:solidFill>
                <a:latin typeface="Calibri"/>
              </a:rPr>
              <a:t>paid 37.1 · unpaid 39.6 · running 38.7 · in debt 37.0</a:t>
            </a:r>
          </a:p>
        </p:txBody>
      </p:sp>
      <p:sp>
        <p:nvSpPr>
          <p:cNvPr id="23" name="TextBox 22"/>
          <p:cNvSpPr txBox="1"/>
          <p:nvPr/>
        </p:nvSpPr>
        <p:spPr>
          <a:xfrm>
            <a:off x="685800" y="4745736"/>
            <a:ext cx="4023360" cy="347472"/>
          </a:xfrm>
          <a:prstGeom prst="rect">
            <a:avLst/>
          </a:prstGeom>
          <a:noFill/>
        </p:spPr>
        <p:txBody>
          <a:bodyPr wrap="square">
            <a:spAutoFit/>
          </a:bodyPr>
          <a:lstStyle/>
          <a:p>
            <a:pPr algn="l">
              <a:spcAft>
                <a:spcPts val="0"/>
              </a:spcAft>
            </a:pPr>
            <a:r>
              <a:rPr sz="1250" b="1">
                <a:solidFill>
                  <a:srgbClr val="1F2A44"/>
                </a:solidFill>
                <a:latin typeface="Calibri"/>
              </a:rPr>
              <a:t>Q8  gender split, gold cards</a:t>
            </a:r>
          </a:p>
        </p:txBody>
      </p:sp>
      <p:sp>
        <p:nvSpPr>
          <p:cNvPr id="24" name="TextBox 23"/>
          <p:cNvSpPr txBox="1"/>
          <p:nvPr/>
        </p:nvSpPr>
        <p:spPr>
          <a:xfrm>
            <a:off x="4754880" y="4745736"/>
            <a:ext cx="6949440" cy="347472"/>
          </a:xfrm>
          <a:prstGeom prst="rect">
            <a:avLst/>
          </a:prstGeom>
          <a:noFill/>
        </p:spPr>
        <p:txBody>
          <a:bodyPr wrap="square">
            <a:spAutoFit/>
          </a:bodyPr>
          <a:lstStyle/>
          <a:p>
            <a:pPr algn="l">
              <a:spcAft>
                <a:spcPts val="0"/>
              </a:spcAft>
            </a:pPr>
            <a:r>
              <a:rPr sz="1250" b="0">
                <a:solidFill>
                  <a:srgbClr val="5B6472"/>
                </a:solidFill>
                <a:latin typeface="Calibri"/>
              </a:rPr>
              <a:t>53 men (60.2%) · 35 women (39.8%)</a:t>
            </a:r>
          </a:p>
        </p:txBody>
      </p:sp>
      <p:sp>
        <p:nvSpPr>
          <p:cNvPr id="25" name="Rounded Rectangle 24"/>
          <p:cNvSpPr/>
          <p:nvPr/>
        </p:nvSpPr>
        <p:spPr>
          <a:xfrm>
            <a:off x="548640" y="5102352"/>
            <a:ext cx="11155680" cy="3840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129784"/>
            <a:ext cx="4023360" cy="347472"/>
          </a:xfrm>
          <a:prstGeom prst="rect">
            <a:avLst/>
          </a:prstGeom>
          <a:noFill/>
        </p:spPr>
        <p:txBody>
          <a:bodyPr wrap="square">
            <a:spAutoFit/>
          </a:bodyPr>
          <a:lstStyle/>
          <a:p>
            <a:pPr algn="l">
              <a:spcAft>
                <a:spcPts val="0"/>
              </a:spcAft>
            </a:pPr>
            <a:r>
              <a:rPr sz="1250" b="1">
                <a:solidFill>
                  <a:srgbClr val="1F2A44"/>
                </a:solidFill>
                <a:latin typeface="Calibri"/>
              </a:rPr>
              <a:t>Q9  average balance Dec 1998</a:t>
            </a:r>
          </a:p>
        </p:txBody>
      </p:sp>
      <p:sp>
        <p:nvSpPr>
          <p:cNvPr id="27" name="TextBox 26"/>
          <p:cNvSpPr txBox="1"/>
          <p:nvPr/>
        </p:nvSpPr>
        <p:spPr>
          <a:xfrm>
            <a:off x="4754880" y="5129784"/>
            <a:ext cx="6949440" cy="347472"/>
          </a:xfrm>
          <a:prstGeom prst="rect">
            <a:avLst/>
          </a:prstGeom>
          <a:noFill/>
        </p:spPr>
        <p:txBody>
          <a:bodyPr wrap="square">
            <a:spAutoFit/>
          </a:bodyPr>
          <a:lstStyle/>
          <a:p>
            <a:pPr algn="l">
              <a:spcAft>
                <a:spcPts val="0"/>
              </a:spcAft>
            </a:pPr>
            <a:r>
              <a:rPr sz="1250" b="0">
                <a:solidFill>
                  <a:srgbClr val="5B6472"/>
                </a:solidFill>
                <a:latin typeface="Calibri"/>
              </a:rPr>
              <a:t>43,808.94 over 4,500 accounts  (+ 2 caveats attached)</a:t>
            </a:r>
          </a:p>
        </p:txBody>
      </p:sp>
      <p:sp>
        <p:nvSpPr>
          <p:cNvPr id="28" name="TextBox 27"/>
          <p:cNvSpPr txBox="1"/>
          <p:nvPr/>
        </p:nvSpPr>
        <p:spPr>
          <a:xfrm>
            <a:off x="685800" y="5513832"/>
            <a:ext cx="4023360" cy="347472"/>
          </a:xfrm>
          <a:prstGeom prst="rect">
            <a:avLst/>
          </a:prstGeom>
          <a:noFill/>
        </p:spPr>
        <p:txBody>
          <a:bodyPr wrap="square">
            <a:spAutoFit/>
          </a:bodyPr>
          <a:lstStyle/>
          <a:p>
            <a:pPr algn="l">
              <a:spcAft>
                <a:spcPts val="0"/>
              </a:spcAft>
            </a:pPr>
            <a:r>
              <a:rPr sz="1250" b="1">
                <a:solidFill>
                  <a:srgbClr val="1F2A44"/>
                </a:solidFill>
                <a:latin typeface="Calibri"/>
              </a:rPr>
              <a:t>Q10 frequency with worst share</a:t>
            </a:r>
          </a:p>
        </p:txBody>
      </p:sp>
      <p:sp>
        <p:nvSpPr>
          <p:cNvPr id="29" name="TextBox 28"/>
          <p:cNvSpPr txBox="1"/>
          <p:nvPr/>
        </p:nvSpPr>
        <p:spPr>
          <a:xfrm>
            <a:off x="4754880" y="5513832"/>
            <a:ext cx="6949440" cy="347472"/>
          </a:xfrm>
          <a:prstGeom prst="rect">
            <a:avLst/>
          </a:prstGeom>
          <a:noFill/>
        </p:spPr>
        <p:txBody>
          <a:bodyPr wrap="square">
            <a:spAutoFit/>
          </a:bodyPr>
          <a:lstStyle/>
          <a:p>
            <a:pPr algn="l">
              <a:spcAft>
                <a:spcPts val="0"/>
              </a:spcAft>
            </a:pPr>
            <a:r>
              <a:rPr sz="1250" b="0">
                <a:solidFill>
                  <a:srgbClr val="5B6472"/>
                </a:solidFill>
                <a:latin typeface="Calibri"/>
              </a:rPr>
              <a:t>after each transaction 18.75% — but only 6 of 32 loans</a:t>
            </a:r>
          </a:p>
        </p:txBody>
      </p:sp>
      <p:sp>
        <p:nvSpPr>
          <p:cNvPr id="30" name="TextBox 29"/>
          <p:cNvSpPr txBox="1"/>
          <p:nvPr/>
        </p:nvSpPr>
        <p:spPr>
          <a:xfrm>
            <a:off x="548640" y="6080760"/>
            <a:ext cx="11155680" cy="457200"/>
          </a:xfrm>
          <a:prstGeom prst="rect">
            <a:avLst/>
          </a:prstGeom>
          <a:noFill/>
        </p:spPr>
        <p:txBody>
          <a:bodyPr wrap="square">
            <a:spAutoFit/>
          </a:bodyPr>
          <a:lstStyle/>
          <a:p>
            <a:pPr algn="l">
              <a:spcAft>
                <a:spcPts val="0"/>
              </a:spcAft>
            </a:pPr>
            <a:r>
              <a:rPr sz="1500" b="1">
                <a:solidFill>
                  <a:srgbClr val="15803D"/>
                </a:solidFill>
                <a:latin typeface="Calibri"/>
              </a:rPr>
              <a:t>10 of 10 matched the answers a person had worked out by hand beforehand. No retries. No SQL corrected by hand.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ENTITLEMENTS</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Task 3 — four people, four different answers to the same question</a:t>
            </a:r>
          </a:p>
        </p:txBody>
      </p:sp>
      <p:sp>
        <p:nvSpPr>
          <p:cNvPr id="4" name="TextBox 3"/>
          <p:cNvSpPr txBox="1"/>
          <p:nvPr/>
        </p:nvSpPr>
        <p:spPr>
          <a:xfrm>
            <a:off x="640080" y="1371600"/>
            <a:ext cx="10972800" cy="457200"/>
          </a:xfrm>
          <a:prstGeom prst="rect">
            <a:avLst/>
          </a:prstGeom>
          <a:noFill/>
        </p:spPr>
        <p:txBody>
          <a:bodyPr wrap="square">
            <a:spAutoFit/>
          </a:bodyPr>
          <a:lstStyle/>
          <a:p>
            <a:pPr algn="l">
              <a:spcAft>
                <a:spcPts val="1000"/>
              </a:spcAft>
            </a:pPr>
            <a:r>
              <a:rPr sz="1700" b="0">
                <a:solidFill>
                  <a:srgbClr val="5B6472"/>
                </a:solidFill>
                <a:latin typeface="Calibri"/>
              </a:rPr>
              <a:t>Measured by logging in as each one and counting — not by reading the settings.</a:t>
            </a:r>
          </a:p>
        </p:txBody>
      </p:sp>
      <p:sp>
        <p:nvSpPr>
          <p:cNvPr id="5" name="Rounded Rectangle 4"/>
          <p:cNvSpPr/>
          <p:nvPr/>
        </p:nvSpPr>
        <p:spPr>
          <a:xfrm>
            <a:off x="548640" y="2057400"/>
            <a:ext cx="2724912" cy="1737360"/>
          </a:xfrm>
          <a:prstGeom prst="roundRect">
            <a:avLst>
              <a:gd name="adj" fmla="val 4000"/>
            </a:avLst>
          </a:prstGeom>
          <a:solidFill>
            <a:srgbClr val="FFFFFF"/>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12848"/>
            <a:ext cx="2724912" cy="365760"/>
          </a:xfrm>
          <a:prstGeom prst="rect">
            <a:avLst/>
          </a:prstGeom>
          <a:noFill/>
        </p:spPr>
        <p:txBody>
          <a:bodyPr wrap="square">
            <a:spAutoFit/>
          </a:bodyPr>
          <a:lstStyle/>
          <a:p>
            <a:pPr algn="l">
              <a:spcAft>
                <a:spcPts val="200"/>
              </a:spcAft>
            </a:pPr>
            <a:r>
              <a:rPr sz="1400" b="1">
                <a:solidFill>
                  <a:srgbClr val="15803D"/>
                </a:solidFill>
                <a:latin typeface="Calibri"/>
              </a:rPr>
              <a:t>cro_global</a:t>
            </a:r>
          </a:p>
        </p:txBody>
      </p:sp>
      <p:sp>
        <p:nvSpPr>
          <p:cNvPr id="7" name="TextBox 6"/>
          <p:cNvSpPr txBox="1"/>
          <p:nvPr/>
        </p:nvSpPr>
        <p:spPr>
          <a:xfrm>
            <a:off x="731520" y="2560320"/>
            <a:ext cx="2724912" cy="274320"/>
          </a:xfrm>
          <a:prstGeom prst="rect">
            <a:avLst/>
          </a:prstGeom>
          <a:noFill/>
        </p:spPr>
        <p:txBody>
          <a:bodyPr wrap="square">
            <a:spAutoFit/>
          </a:bodyPr>
          <a:lstStyle/>
          <a:p>
            <a:pPr algn="l">
              <a:spcAft>
                <a:spcPts val="0"/>
              </a:spcAft>
            </a:pPr>
            <a:r>
              <a:rPr sz="1100" b="0">
                <a:solidFill>
                  <a:srgbClr val="5B6472"/>
                </a:solidFill>
                <a:latin typeface="Calibri"/>
              </a:rPr>
              <a:t>group risk</a:t>
            </a:r>
          </a:p>
        </p:txBody>
      </p:sp>
      <p:sp>
        <p:nvSpPr>
          <p:cNvPr id="8" name="TextBox 7"/>
          <p:cNvSpPr txBox="1"/>
          <p:nvPr/>
        </p:nvSpPr>
        <p:spPr>
          <a:xfrm>
            <a:off x="731520" y="2926080"/>
            <a:ext cx="2450592" cy="640080"/>
          </a:xfrm>
          <a:prstGeom prst="rect">
            <a:avLst/>
          </a:prstGeom>
          <a:noFill/>
        </p:spPr>
        <p:txBody>
          <a:bodyPr wrap="square">
            <a:spAutoFit/>
          </a:bodyPr>
          <a:lstStyle/>
          <a:p>
            <a:pPr algn="l">
              <a:spcAft>
                <a:spcPts val="0"/>
              </a:spcAft>
            </a:pPr>
            <a:r>
              <a:rPr sz="3200" b="1">
                <a:solidFill>
                  <a:srgbClr val="15803D"/>
                </a:solidFill>
                <a:latin typeface="Calibri"/>
              </a:rPr>
              <a:t>5,369</a:t>
            </a:r>
          </a:p>
        </p:txBody>
      </p:sp>
      <p:sp>
        <p:nvSpPr>
          <p:cNvPr id="9" name="TextBox 8"/>
          <p:cNvSpPr txBox="1"/>
          <p:nvPr/>
        </p:nvSpPr>
        <p:spPr>
          <a:xfrm>
            <a:off x="731520" y="3456432"/>
            <a:ext cx="2724912" cy="274320"/>
          </a:xfrm>
          <a:prstGeom prst="rect">
            <a:avLst/>
          </a:prstGeom>
          <a:noFill/>
        </p:spPr>
        <p:txBody>
          <a:bodyPr wrap="square">
            <a:spAutoFit/>
          </a:bodyPr>
          <a:lstStyle/>
          <a:p>
            <a:pPr algn="l">
              <a:spcAft>
                <a:spcPts val="0"/>
              </a:spcAft>
            </a:pPr>
            <a:r>
              <a:rPr sz="1100" b="0">
                <a:solidFill>
                  <a:srgbClr val="5B6472"/>
                </a:solidFill>
                <a:latin typeface="Calibri"/>
              </a:rPr>
              <a:t>clients visible</a:t>
            </a:r>
          </a:p>
        </p:txBody>
      </p:sp>
      <p:sp>
        <p:nvSpPr>
          <p:cNvPr id="10" name="Rounded Rectangle 9"/>
          <p:cNvSpPr/>
          <p:nvPr/>
        </p:nvSpPr>
        <p:spPr>
          <a:xfrm>
            <a:off x="3456432" y="2057400"/>
            <a:ext cx="2724912" cy="1737360"/>
          </a:xfrm>
          <a:prstGeom prst="roundRect">
            <a:avLst>
              <a:gd name="adj" fmla="val 4000"/>
            </a:avLst>
          </a:prstGeom>
          <a:solidFill>
            <a:srgbClr val="FFFFFF"/>
          </a:solidFill>
          <a:ln w="254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2212848"/>
            <a:ext cx="2724912" cy="365760"/>
          </a:xfrm>
          <a:prstGeom prst="rect">
            <a:avLst/>
          </a:prstGeom>
          <a:noFill/>
        </p:spPr>
        <p:txBody>
          <a:bodyPr wrap="square">
            <a:spAutoFit/>
          </a:bodyPr>
          <a:lstStyle/>
          <a:p>
            <a:pPr algn="l">
              <a:spcAft>
                <a:spcPts val="200"/>
              </a:spcAft>
            </a:pPr>
            <a:r>
              <a:rPr sz="1400" b="1">
                <a:solidFill>
                  <a:srgbClr val="1F3864"/>
                </a:solidFill>
                <a:latin typeface="Calibri"/>
              </a:rPr>
              <a:t>rm_north</a:t>
            </a:r>
          </a:p>
        </p:txBody>
      </p:sp>
      <p:sp>
        <p:nvSpPr>
          <p:cNvPr id="12" name="TextBox 11"/>
          <p:cNvSpPr txBox="1"/>
          <p:nvPr/>
        </p:nvSpPr>
        <p:spPr>
          <a:xfrm>
            <a:off x="3639312" y="2560320"/>
            <a:ext cx="2724912" cy="274320"/>
          </a:xfrm>
          <a:prstGeom prst="rect">
            <a:avLst/>
          </a:prstGeom>
          <a:noFill/>
        </p:spPr>
        <p:txBody>
          <a:bodyPr wrap="square">
            <a:spAutoFit/>
          </a:bodyPr>
          <a:lstStyle/>
          <a:p>
            <a:pPr algn="l">
              <a:spcAft>
                <a:spcPts val="0"/>
              </a:spcAft>
            </a:pPr>
            <a:r>
              <a:rPr sz="1100" b="0">
                <a:solidFill>
                  <a:srgbClr val="5B6472"/>
                </a:solidFill>
                <a:latin typeface="Calibri"/>
              </a:rPr>
              <a:t>northern book</a:t>
            </a:r>
          </a:p>
        </p:txBody>
      </p:sp>
      <p:sp>
        <p:nvSpPr>
          <p:cNvPr id="13" name="TextBox 12"/>
          <p:cNvSpPr txBox="1"/>
          <p:nvPr/>
        </p:nvSpPr>
        <p:spPr>
          <a:xfrm>
            <a:off x="3639312" y="2926080"/>
            <a:ext cx="2450592" cy="640080"/>
          </a:xfrm>
          <a:prstGeom prst="rect">
            <a:avLst/>
          </a:prstGeom>
          <a:noFill/>
        </p:spPr>
        <p:txBody>
          <a:bodyPr wrap="square">
            <a:spAutoFit/>
          </a:bodyPr>
          <a:lstStyle/>
          <a:p>
            <a:pPr algn="l">
              <a:spcAft>
                <a:spcPts val="0"/>
              </a:spcAft>
            </a:pPr>
            <a:r>
              <a:rPr sz="3200" b="1">
                <a:solidFill>
                  <a:srgbClr val="1F3864"/>
                </a:solidFill>
                <a:latin typeface="Calibri"/>
              </a:rPr>
              <a:t>1,481</a:t>
            </a:r>
          </a:p>
        </p:txBody>
      </p:sp>
      <p:sp>
        <p:nvSpPr>
          <p:cNvPr id="14" name="TextBox 13"/>
          <p:cNvSpPr txBox="1"/>
          <p:nvPr/>
        </p:nvSpPr>
        <p:spPr>
          <a:xfrm>
            <a:off x="3639312" y="3456432"/>
            <a:ext cx="2724912" cy="274320"/>
          </a:xfrm>
          <a:prstGeom prst="rect">
            <a:avLst/>
          </a:prstGeom>
          <a:noFill/>
        </p:spPr>
        <p:txBody>
          <a:bodyPr wrap="square">
            <a:spAutoFit/>
          </a:bodyPr>
          <a:lstStyle/>
          <a:p>
            <a:pPr algn="l">
              <a:spcAft>
                <a:spcPts val="0"/>
              </a:spcAft>
            </a:pPr>
            <a:r>
              <a:rPr sz="1100" b="0">
                <a:solidFill>
                  <a:srgbClr val="5B6472"/>
                </a:solidFill>
                <a:latin typeface="Calibri"/>
              </a:rPr>
              <a:t>clients visible</a:t>
            </a:r>
          </a:p>
        </p:txBody>
      </p:sp>
      <p:sp>
        <p:nvSpPr>
          <p:cNvPr id="15" name="Rounded Rectangle 14"/>
          <p:cNvSpPr/>
          <p:nvPr/>
        </p:nvSpPr>
        <p:spPr>
          <a:xfrm>
            <a:off x="6364224" y="2057400"/>
            <a:ext cx="2724912" cy="1737360"/>
          </a:xfrm>
          <a:prstGeom prst="roundRect">
            <a:avLst>
              <a:gd name="adj" fmla="val 4000"/>
            </a:avLst>
          </a:prstGeom>
          <a:solidFill>
            <a:srgbClr val="FFFFFF"/>
          </a:solidFill>
          <a:ln w="254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4" y="2212848"/>
            <a:ext cx="2724912" cy="365760"/>
          </a:xfrm>
          <a:prstGeom prst="rect">
            <a:avLst/>
          </a:prstGeom>
          <a:noFill/>
        </p:spPr>
        <p:txBody>
          <a:bodyPr wrap="square">
            <a:spAutoFit/>
          </a:bodyPr>
          <a:lstStyle/>
          <a:p>
            <a:pPr algn="l">
              <a:spcAft>
                <a:spcPts val="200"/>
              </a:spcAft>
            </a:pPr>
            <a:r>
              <a:rPr sz="1400" b="1">
                <a:solidFill>
                  <a:srgbClr val="1F3864"/>
                </a:solidFill>
                <a:latin typeface="Calibri"/>
              </a:rPr>
              <a:t>rm_south</a:t>
            </a:r>
          </a:p>
        </p:txBody>
      </p:sp>
      <p:sp>
        <p:nvSpPr>
          <p:cNvPr id="17" name="TextBox 16"/>
          <p:cNvSpPr txBox="1"/>
          <p:nvPr/>
        </p:nvSpPr>
        <p:spPr>
          <a:xfrm>
            <a:off x="6547104" y="2560320"/>
            <a:ext cx="2724912" cy="274320"/>
          </a:xfrm>
          <a:prstGeom prst="rect">
            <a:avLst/>
          </a:prstGeom>
          <a:noFill/>
        </p:spPr>
        <p:txBody>
          <a:bodyPr wrap="square">
            <a:spAutoFit/>
          </a:bodyPr>
          <a:lstStyle/>
          <a:p>
            <a:pPr algn="l">
              <a:spcAft>
                <a:spcPts val="0"/>
              </a:spcAft>
            </a:pPr>
            <a:r>
              <a:rPr sz="1100" b="0">
                <a:solidFill>
                  <a:srgbClr val="5B6472"/>
                </a:solidFill>
                <a:latin typeface="Calibri"/>
              </a:rPr>
              <a:t>southern book</a:t>
            </a:r>
          </a:p>
        </p:txBody>
      </p:sp>
      <p:sp>
        <p:nvSpPr>
          <p:cNvPr id="18" name="TextBox 17"/>
          <p:cNvSpPr txBox="1"/>
          <p:nvPr/>
        </p:nvSpPr>
        <p:spPr>
          <a:xfrm>
            <a:off x="6547104" y="2926080"/>
            <a:ext cx="2450592" cy="640080"/>
          </a:xfrm>
          <a:prstGeom prst="rect">
            <a:avLst/>
          </a:prstGeom>
          <a:noFill/>
        </p:spPr>
        <p:txBody>
          <a:bodyPr wrap="square">
            <a:spAutoFit/>
          </a:bodyPr>
          <a:lstStyle/>
          <a:p>
            <a:pPr algn="l">
              <a:spcAft>
                <a:spcPts val="0"/>
              </a:spcAft>
            </a:pPr>
            <a:r>
              <a:rPr sz="3200" b="1">
                <a:solidFill>
                  <a:srgbClr val="1F3864"/>
                </a:solidFill>
                <a:latin typeface="Calibri"/>
              </a:rPr>
              <a:t>1,386</a:t>
            </a:r>
          </a:p>
        </p:txBody>
      </p:sp>
      <p:sp>
        <p:nvSpPr>
          <p:cNvPr id="19" name="TextBox 18"/>
          <p:cNvSpPr txBox="1"/>
          <p:nvPr/>
        </p:nvSpPr>
        <p:spPr>
          <a:xfrm>
            <a:off x="6547104" y="3456432"/>
            <a:ext cx="2724912" cy="274320"/>
          </a:xfrm>
          <a:prstGeom prst="rect">
            <a:avLst/>
          </a:prstGeom>
          <a:noFill/>
        </p:spPr>
        <p:txBody>
          <a:bodyPr wrap="square">
            <a:spAutoFit/>
          </a:bodyPr>
          <a:lstStyle/>
          <a:p>
            <a:pPr algn="l">
              <a:spcAft>
                <a:spcPts val="0"/>
              </a:spcAft>
            </a:pPr>
            <a:r>
              <a:rPr sz="1100" b="0">
                <a:solidFill>
                  <a:srgbClr val="5B6472"/>
                </a:solidFill>
                <a:latin typeface="Calibri"/>
              </a:rPr>
              <a:t>clients visible</a:t>
            </a:r>
          </a:p>
        </p:txBody>
      </p:sp>
      <p:sp>
        <p:nvSpPr>
          <p:cNvPr id="20" name="Rounded Rectangle 19"/>
          <p:cNvSpPr/>
          <p:nvPr/>
        </p:nvSpPr>
        <p:spPr>
          <a:xfrm>
            <a:off x="9272016" y="2057400"/>
            <a:ext cx="2724912" cy="1737360"/>
          </a:xfrm>
          <a:prstGeom prst="roundRect">
            <a:avLst>
              <a:gd name="adj" fmla="val 4000"/>
            </a:avLst>
          </a:prstGeom>
          <a:solidFill>
            <a:srgbClr val="FFFFFF"/>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54896" y="2212848"/>
            <a:ext cx="2724912" cy="365760"/>
          </a:xfrm>
          <a:prstGeom prst="rect">
            <a:avLst/>
          </a:prstGeom>
          <a:noFill/>
        </p:spPr>
        <p:txBody>
          <a:bodyPr wrap="square">
            <a:spAutoFit/>
          </a:bodyPr>
          <a:lstStyle/>
          <a:p>
            <a:pPr algn="l">
              <a:spcAft>
                <a:spcPts val="200"/>
              </a:spcAft>
            </a:pPr>
            <a:r>
              <a:rPr sz="1400" b="1">
                <a:solidFill>
                  <a:srgbClr val="991B1B"/>
                </a:solidFill>
                <a:latin typeface="Calibri"/>
              </a:rPr>
              <a:t>rm_unassigned</a:t>
            </a:r>
          </a:p>
        </p:txBody>
      </p:sp>
      <p:sp>
        <p:nvSpPr>
          <p:cNvPr id="22" name="TextBox 21"/>
          <p:cNvSpPr txBox="1"/>
          <p:nvPr/>
        </p:nvSpPr>
        <p:spPr>
          <a:xfrm>
            <a:off x="9454896" y="2560320"/>
            <a:ext cx="2724912" cy="274320"/>
          </a:xfrm>
          <a:prstGeom prst="rect">
            <a:avLst/>
          </a:prstGeom>
          <a:noFill/>
        </p:spPr>
        <p:txBody>
          <a:bodyPr wrap="square">
            <a:spAutoFit/>
          </a:bodyPr>
          <a:lstStyle/>
          <a:p>
            <a:pPr algn="l">
              <a:spcAft>
                <a:spcPts val="0"/>
              </a:spcAft>
            </a:pPr>
            <a:r>
              <a:rPr sz="1100" b="0">
                <a:solidFill>
                  <a:srgbClr val="5B6472"/>
                </a:solidFill>
                <a:latin typeface="Calibri"/>
              </a:rPr>
              <a:t>brand new, no book yet</a:t>
            </a:r>
          </a:p>
        </p:txBody>
      </p:sp>
      <p:sp>
        <p:nvSpPr>
          <p:cNvPr id="23" name="TextBox 22"/>
          <p:cNvSpPr txBox="1"/>
          <p:nvPr/>
        </p:nvSpPr>
        <p:spPr>
          <a:xfrm>
            <a:off x="9454896" y="2926080"/>
            <a:ext cx="2450592" cy="640080"/>
          </a:xfrm>
          <a:prstGeom prst="rect">
            <a:avLst/>
          </a:prstGeom>
          <a:noFill/>
        </p:spPr>
        <p:txBody>
          <a:bodyPr wrap="square">
            <a:spAutoFit/>
          </a:bodyPr>
          <a:lstStyle/>
          <a:p>
            <a:pPr algn="l">
              <a:spcAft>
                <a:spcPts val="0"/>
              </a:spcAft>
            </a:pPr>
            <a:r>
              <a:rPr sz="3200" b="1">
                <a:solidFill>
                  <a:srgbClr val="991B1B"/>
                </a:solidFill>
                <a:latin typeface="Calibri"/>
              </a:rPr>
              <a:t>0</a:t>
            </a:r>
          </a:p>
        </p:txBody>
      </p:sp>
      <p:sp>
        <p:nvSpPr>
          <p:cNvPr id="24" name="TextBox 23"/>
          <p:cNvSpPr txBox="1"/>
          <p:nvPr/>
        </p:nvSpPr>
        <p:spPr>
          <a:xfrm>
            <a:off x="9454896" y="3456432"/>
            <a:ext cx="2724912" cy="274320"/>
          </a:xfrm>
          <a:prstGeom prst="rect">
            <a:avLst/>
          </a:prstGeom>
          <a:noFill/>
        </p:spPr>
        <p:txBody>
          <a:bodyPr wrap="square">
            <a:spAutoFit/>
          </a:bodyPr>
          <a:lstStyle/>
          <a:p>
            <a:pPr algn="l">
              <a:spcAft>
                <a:spcPts val="0"/>
              </a:spcAft>
            </a:pPr>
            <a:r>
              <a:rPr sz="1100" b="0">
                <a:solidFill>
                  <a:srgbClr val="5B6472"/>
                </a:solidFill>
                <a:latin typeface="Calibri"/>
              </a:rPr>
              <a:t>clients visible</a:t>
            </a:r>
          </a:p>
        </p:txBody>
      </p:sp>
      <p:sp>
        <p:nvSpPr>
          <p:cNvPr id="25" name="TextBox 24"/>
          <p:cNvSpPr txBox="1"/>
          <p:nvPr/>
        </p:nvSpPr>
        <p:spPr>
          <a:xfrm>
            <a:off x="548640" y="4069080"/>
            <a:ext cx="11155680" cy="1371600"/>
          </a:xfrm>
          <a:prstGeom prst="rect">
            <a:avLst/>
          </a:prstGeom>
          <a:noFill/>
        </p:spPr>
        <p:txBody>
          <a:bodyPr wrap="square">
            <a:spAutoFit/>
          </a:bodyPr>
          <a:lstStyle/>
          <a:p>
            <a:pPr algn="l">
              <a:spcAft>
                <a:spcPts val="1000"/>
              </a:spcAft>
            </a:pPr>
            <a:r>
              <a:rPr sz="1800" b="1">
                <a:solidFill>
                  <a:srgbClr val="991B1B"/>
                </a:solidFill>
                <a:latin typeface="Calibri"/>
              </a:rPr>
              <a:t>The zero is the important one. A badly built system defaults to showing everything.</a:t>
            </a:r>
          </a:p>
          <a:p>
            <a:pPr algn="l">
              <a:spcAft>
                <a:spcPts val="1000"/>
              </a:spcAft>
            </a:pPr>
            <a:r>
              <a:rPr sz="1500" b="0">
                <a:solidFill>
                  <a:srgbClr val="5B6472"/>
                </a:solidFill>
                <a:latin typeface="Calibri"/>
              </a:rPr>
              <a:t>And "sees everything" is not an exemption — the risk manager holds a portfolio containing every client and goes through exactly the same lock as everyone else.</a:t>
            </a:r>
          </a:p>
        </p:txBody>
      </p:sp>
      <p:sp>
        <p:nvSpPr>
          <p:cNvPr id="26" name="Rounded Rectangle 25"/>
          <p:cNvSpPr/>
          <p:nvPr/>
        </p:nvSpPr>
        <p:spPr>
          <a:xfrm>
            <a:off x="548640" y="5257800"/>
            <a:ext cx="2602153" cy="1234440"/>
          </a:xfrm>
          <a:prstGeom prst="roundRect">
            <a:avLst>
              <a:gd name="adj" fmla="val 4000"/>
            </a:avLst>
          </a:prstGeom>
          <a:solidFill>
            <a:srgbClr val="F7F9FC"/>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385816"/>
            <a:ext cx="2602153" cy="548640"/>
          </a:xfrm>
          <a:prstGeom prst="rect">
            <a:avLst/>
          </a:prstGeom>
          <a:noFill/>
        </p:spPr>
        <p:txBody>
          <a:bodyPr wrap="square">
            <a:spAutoFit/>
          </a:bodyPr>
          <a:lstStyle/>
          <a:p>
            <a:pPr algn="ctr">
              <a:spcAft>
                <a:spcPts val="0"/>
              </a:spcAft>
            </a:pPr>
            <a:r>
              <a:rPr sz="2600" b="1">
                <a:solidFill>
                  <a:srgbClr val="15803D"/>
                </a:solidFill>
                <a:latin typeface="Calibri"/>
              </a:rPr>
              <a:t>9</a:t>
            </a:r>
          </a:p>
        </p:txBody>
      </p:sp>
      <p:sp>
        <p:nvSpPr>
          <p:cNvPr id="28" name="TextBox 27"/>
          <p:cNvSpPr txBox="1"/>
          <p:nvPr/>
        </p:nvSpPr>
        <p:spPr>
          <a:xfrm>
            <a:off x="640080" y="5916168"/>
            <a:ext cx="2419273" cy="457200"/>
          </a:xfrm>
          <a:prstGeom prst="rect">
            <a:avLst/>
          </a:prstGeom>
          <a:noFill/>
        </p:spPr>
        <p:txBody>
          <a:bodyPr wrap="square">
            <a:spAutoFit/>
          </a:bodyPr>
          <a:lstStyle/>
          <a:p>
            <a:pPr algn="ctr">
              <a:spcAft>
                <a:spcPts val="0"/>
              </a:spcAft>
            </a:pPr>
            <a:r>
              <a:rPr sz="1100" b="0">
                <a:solidFill>
                  <a:srgbClr val="5B6472"/>
                </a:solidFill>
                <a:latin typeface="Calibri"/>
              </a:rPr>
              <a:t>ways we tried to break in</a:t>
            </a:r>
          </a:p>
        </p:txBody>
      </p:sp>
      <p:sp>
        <p:nvSpPr>
          <p:cNvPr id="29" name="Rounded Rectangle 28"/>
          <p:cNvSpPr/>
          <p:nvPr/>
        </p:nvSpPr>
        <p:spPr>
          <a:xfrm>
            <a:off x="3379393" y="5257800"/>
            <a:ext cx="2602153" cy="1234440"/>
          </a:xfrm>
          <a:prstGeom prst="roundRect">
            <a:avLst>
              <a:gd name="adj" fmla="val 4000"/>
            </a:avLst>
          </a:prstGeom>
          <a:solidFill>
            <a:srgbClr val="F7F9FC"/>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79393" y="5385816"/>
            <a:ext cx="2602153" cy="548640"/>
          </a:xfrm>
          <a:prstGeom prst="rect">
            <a:avLst/>
          </a:prstGeom>
          <a:noFill/>
        </p:spPr>
        <p:txBody>
          <a:bodyPr wrap="square">
            <a:spAutoFit/>
          </a:bodyPr>
          <a:lstStyle/>
          <a:p>
            <a:pPr algn="ctr">
              <a:spcAft>
                <a:spcPts val="0"/>
              </a:spcAft>
            </a:pPr>
            <a:r>
              <a:rPr sz="2600" b="1">
                <a:solidFill>
                  <a:srgbClr val="15803D"/>
                </a:solidFill>
                <a:latin typeface="Calibri"/>
              </a:rPr>
              <a:t>9</a:t>
            </a:r>
          </a:p>
        </p:txBody>
      </p:sp>
      <p:sp>
        <p:nvSpPr>
          <p:cNvPr id="31" name="TextBox 30"/>
          <p:cNvSpPr txBox="1"/>
          <p:nvPr/>
        </p:nvSpPr>
        <p:spPr>
          <a:xfrm>
            <a:off x="3470833" y="5916168"/>
            <a:ext cx="2419273" cy="457200"/>
          </a:xfrm>
          <a:prstGeom prst="rect">
            <a:avLst/>
          </a:prstGeom>
          <a:noFill/>
        </p:spPr>
        <p:txBody>
          <a:bodyPr wrap="square">
            <a:spAutoFit/>
          </a:bodyPr>
          <a:lstStyle/>
          <a:p>
            <a:pPr algn="ctr">
              <a:spcAft>
                <a:spcPts val="0"/>
              </a:spcAft>
            </a:pPr>
            <a:r>
              <a:rPr sz="1100" b="0">
                <a:solidFill>
                  <a:srgbClr val="5B6472"/>
                </a:solidFill>
                <a:latin typeface="Calibri"/>
              </a:rPr>
              <a:t>that failed</a:t>
            </a:r>
          </a:p>
        </p:txBody>
      </p:sp>
      <p:sp>
        <p:nvSpPr>
          <p:cNvPr id="32" name="Rounded Rectangle 31"/>
          <p:cNvSpPr/>
          <p:nvPr/>
        </p:nvSpPr>
        <p:spPr>
          <a:xfrm>
            <a:off x="6210147" y="5257800"/>
            <a:ext cx="2602153" cy="1234440"/>
          </a:xfrm>
          <a:prstGeom prst="roundRect">
            <a:avLst>
              <a:gd name="adj" fmla="val 4000"/>
            </a:avLst>
          </a:prstGeom>
          <a:solidFill>
            <a:srgbClr val="F7F9FC"/>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0147" y="5385816"/>
            <a:ext cx="2602153" cy="548640"/>
          </a:xfrm>
          <a:prstGeom prst="rect">
            <a:avLst/>
          </a:prstGeom>
          <a:noFill/>
        </p:spPr>
        <p:txBody>
          <a:bodyPr wrap="square">
            <a:spAutoFit/>
          </a:bodyPr>
          <a:lstStyle/>
          <a:p>
            <a:pPr algn="ctr">
              <a:spcAft>
                <a:spcPts val="0"/>
              </a:spcAft>
            </a:pPr>
            <a:r>
              <a:rPr sz="2600" b="1">
                <a:solidFill>
                  <a:srgbClr val="15803D"/>
                </a:solidFill>
                <a:latin typeface="Calibri"/>
              </a:rPr>
              <a:t>4 inserts</a:t>
            </a:r>
          </a:p>
        </p:txBody>
      </p:sp>
      <p:sp>
        <p:nvSpPr>
          <p:cNvPr id="34" name="TextBox 33"/>
          <p:cNvSpPr txBox="1"/>
          <p:nvPr/>
        </p:nvSpPr>
        <p:spPr>
          <a:xfrm>
            <a:off x="6301587" y="5916168"/>
            <a:ext cx="2419273" cy="457200"/>
          </a:xfrm>
          <a:prstGeom prst="rect">
            <a:avLst/>
          </a:prstGeom>
          <a:noFill/>
        </p:spPr>
        <p:txBody>
          <a:bodyPr wrap="square">
            <a:spAutoFit/>
          </a:bodyPr>
          <a:lstStyle/>
          <a:p>
            <a:pPr algn="ctr">
              <a:spcAft>
                <a:spcPts val="0"/>
              </a:spcAft>
            </a:pPr>
            <a:r>
              <a:rPr sz="1100" b="0">
                <a:solidFill>
                  <a:srgbClr val="5B6472"/>
                </a:solidFill>
                <a:latin typeface="Calibri"/>
              </a:rPr>
              <a:t>to onboard a new person</a:t>
            </a:r>
          </a:p>
        </p:txBody>
      </p:sp>
      <p:sp>
        <p:nvSpPr>
          <p:cNvPr id="35" name="Rounded Rectangle 34"/>
          <p:cNvSpPr/>
          <p:nvPr/>
        </p:nvSpPr>
        <p:spPr>
          <a:xfrm>
            <a:off x="9040901" y="5257800"/>
            <a:ext cx="2602153" cy="1234440"/>
          </a:xfrm>
          <a:prstGeom prst="roundRect">
            <a:avLst>
              <a:gd name="adj" fmla="val 4000"/>
            </a:avLst>
          </a:prstGeom>
          <a:solidFill>
            <a:srgbClr val="F7F9FC"/>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40901" y="5385816"/>
            <a:ext cx="2602153" cy="548640"/>
          </a:xfrm>
          <a:prstGeom prst="rect">
            <a:avLst/>
          </a:prstGeom>
          <a:noFill/>
        </p:spPr>
        <p:txBody>
          <a:bodyPr wrap="square">
            <a:spAutoFit/>
          </a:bodyPr>
          <a:lstStyle/>
          <a:p>
            <a:pPr algn="ctr">
              <a:spcAft>
                <a:spcPts val="0"/>
              </a:spcAft>
            </a:pPr>
            <a:r>
              <a:rPr sz="2600" b="1">
                <a:solidFill>
                  <a:srgbClr val="15803D"/>
                </a:solidFill>
                <a:latin typeface="Calibri"/>
              </a:rPr>
              <a:t>0</a:t>
            </a:r>
          </a:p>
        </p:txBody>
      </p:sp>
      <p:sp>
        <p:nvSpPr>
          <p:cNvPr id="37" name="TextBox 36"/>
          <p:cNvSpPr txBox="1"/>
          <p:nvPr/>
        </p:nvSpPr>
        <p:spPr>
          <a:xfrm>
            <a:off x="9132341" y="5916168"/>
            <a:ext cx="2419273" cy="457200"/>
          </a:xfrm>
          <a:prstGeom prst="rect">
            <a:avLst/>
          </a:prstGeom>
          <a:noFill/>
        </p:spPr>
        <p:txBody>
          <a:bodyPr wrap="square">
            <a:spAutoFit/>
          </a:bodyPr>
          <a:lstStyle/>
          <a:p>
            <a:pPr algn="ctr">
              <a:spcAft>
                <a:spcPts val="0"/>
              </a:spcAft>
            </a:pPr>
            <a:r>
              <a:rPr sz="1100" b="0">
                <a:solidFill>
                  <a:srgbClr val="5B6472"/>
                </a:solidFill>
                <a:latin typeface="Calibri"/>
              </a:rPr>
              <a:t>code changes to do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058400" cy="457200"/>
          </a:xfrm>
          <a:prstGeom prst="rect">
            <a:avLst/>
          </a:prstGeom>
          <a:noFill/>
        </p:spPr>
        <p:txBody>
          <a:bodyPr wrap="square">
            <a:spAutoFit/>
          </a:bodyPr>
          <a:lstStyle/>
          <a:p>
            <a:pPr algn="l">
              <a:spcAft>
                <a:spcPts val="600"/>
              </a:spcAft>
            </a:pPr>
            <a:r>
              <a:rPr sz="1400" b="1">
                <a:solidFill>
                  <a:srgbClr val="9AB2D8"/>
                </a:solidFill>
                <a:latin typeface="Calibri"/>
              </a:rPr>
              <a:t>PART 2b</a:t>
            </a:r>
          </a:p>
        </p:txBody>
      </p:sp>
      <p:sp>
        <p:nvSpPr>
          <p:cNvPr id="4" name="TextBox 3"/>
          <p:cNvSpPr txBox="1"/>
          <p:nvPr/>
        </p:nvSpPr>
        <p:spPr>
          <a:xfrm>
            <a:off x="1005840" y="2743200"/>
            <a:ext cx="10058400" cy="1097280"/>
          </a:xfrm>
          <a:prstGeom prst="rect">
            <a:avLst/>
          </a:prstGeom>
          <a:noFill/>
        </p:spPr>
        <p:txBody>
          <a:bodyPr wrap="square">
            <a:spAutoFit/>
          </a:bodyPr>
          <a:lstStyle/>
          <a:p>
            <a:pPr algn="l">
              <a:spcAft>
                <a:spcPts val="800"/>
              </a:spcAft>
            </a:pPr>
            <a:r>
              <a:rPr sz="4000" b="1">
                <a:solidFill>
                  <a:srgbClr val="FFFFFF"/>
                </a:solidFill>
                <a:latin typeface="Calibri"/>
              </a:rPr>
              <a:t>One client, all the way through</a:t>
            </a:r>
          </a:p>
        </p:txBody>
      </p:sp>
      <p:sp>
        <p:nvSpPr>
          <p:cNvPr id="5" name="TextBox 4"/>
          <p:cNvSpPr txBox="1"/>
          <p:nvPr/>
        </p:nvSpPr>
        <p:spPr>
          <a:xfrm>
            <a:off x="1005840" y="3931920"/>
            <a:ext cx="9144000" cy="731520"/>
          </a:xfrm>
          <a:prstGeom prst="rect">
            <a:avLst/>
          </a:prstGeom>
          <a:noFill/>
        </p:spPr>
        <p:txBody>
          <a:bodyPr wrap="square">
            <a:spAutoFit/>
          </a:bodyPr>
          <a:lstStyle/>
          <a:p>
            <a:pPr algn="l">
              <a:spcAft>
                <a:spcPts val="0"/>
              </a:spcAft>
            </a:pPr>
            <a:r>
              <a:rPr sz="1700" b="0">
                <a:solidFill>
                  <a:srgbClr val="C9D6EA"/>
                </a:solidFill>
                <a:latin typeface="Calibri"/>
              </a:rPr>
              <a:t>The same claims, told small enough to check: client 11409, from the line of text she arrives as to who is allowed to read 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AND ALMOST NOTHING IS ANSWERABLE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What arrives: three lines of text</a:t>
            </a:r>
          </a:p>
        </p:txBody>
      </p:sp>
      <p:sp>
        <p:nvSpPr>
          <p:cNvPr id="4" name="TextBox 3"/>
          <p:cNvSpPr txBox="1"/>
          <p:nvPr/>
        </p:nvSpPr>
        <p:spPr>
          <a:xfrm>
            <a:off x="640080" y="1188720"/>
            <a:ext cx="10972800" cy="365760"/>
          </a:xfrm>
          <a:prstGeom prst="rect">
            <a:avLst/>
          </a:prstGeom>
          <a:noFill/>
        </p:spPr>
        <p:txBody>
          <a:bodyPr wrap="square">
            <a:spAutoFit/>
          </a:bodyPr>
          <a:lstStyle/>
          <a:p>
            <a:pPr algn="l">
              <a:spcAft>
                <a:spcPts val="800"/>
              </a:spcAft>
            </a:pPr>
            <a:r>
              <a:rPr sz="1600" b="0">
                <a:solidFill>
                  <a:srgbClr val="5B6472"/>
                </a:solidFill>
                <a:latin typeface="Calibri"/>
              </a:rPr>
              <a:t>This is the whole of what the bank's files say about her.</a:t>
            </a:r>
          </a:p>
        </p:txBody>
      </p:sp>
      <p:sp>
        <p:nvSpPr>
          <p:cNvPr id="5" name="Rounded Rectangle 4"/>
          <p:cNvSpPr/>
          <p:nvPr/>
        </p:nvSpPr>
        <p:spPr>
          <a:xfrm>
            <a:off x="548640" y="1691640"/>
            <a:ext cx="11109960" cy="160020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515600" cy="1371600"/>
          </a:xfrm>
          <a:prstGeom prst="rect">
            <a:avLst/>
          </a:prstGeom>
          <a:noFill/>
        </p:spPr>
        <p:txBody>
          <a:bodyPr wrap="square">
            <a:spAutoFit/>
          </a:bodyPr>
          <a:lstStyle/>
          <a:p>
            <a:pPr algn="l">
              <a:spcAft>
                <a:spcPts val="700"/>
              </a:spcAft>
            </a:pPr>
            <a:r>
              <a:rPr sz="1250" b="0">
                <a:solidFill>
                  <a:srgbClr val="1F2A44"/>
                </a:solidFill>
                <a:latin typeface="Calibri"/>
              </a:rPr>
              <a:t>client.asc   line 5179    client_id=11409   birth_number=805502   district_id=32</a:t>
            </a:r>
          </a:p>
          <a:p>
            <a:pPr algn="l">
              <a:spcAft>
                <a:spcPts val="700"/>
              </a:spcAft>
            </a:pPr>
            <a:r>
              <a:rPr sz="1250" b="0">
                <a:solidFill>
                  <a:srgbClr val="1F2A44"/>
                </a:solidFill>
                <a:latin typeface="Calibri"/>
              </a:rPr>
              <a:t>account.asc  line  109    account_id=9265   frequency=POPLATEK MESICNE   date=930204</a:t>
            </a:r>
          </a:p>
          <a:p>
            <a:pPr algn="l">
              <a:spcAft>
                <a:spcPts val="700"/>
              </a:spcAft>
            </a:pPr>
            <a:r>
              <a:rPr sz="1250" b="0">
                <a:solidFill>
                  <a:srgbClr val="1F2A44"/>
                </a:solidFill>
                <a:latin typeface="Calibri"/>
              </a:rPr>
              <a:t>loan.asc     line   70    loan_id=6888   amount=39576   duration=12   status=A</a:t>
            </a:r>
          </a:p>
          <a:p>
            <a:pPr algn="l">
              <a:spcAft>
                <a:spcPts val="700"/>
              </a:spcAft>
            </a:pPr>
            <a:r>
              <a:rPr sz="1250" b="0">
                <a:solidFill>
                  <a:srgbClr val="5B6472"/>
                </a:solidFill>
                <a:latin typeface="Calibri"/>
              </a:rPr>
              <a:t>trans.asc    643 more lines for this one account</a:t>
            </a:r>
          </a:p>
        </p:txBody>
      </p:sp>
      <p:sp>
        <p:nvSpPr>
          <p:cNvPr id="7" name="Rounded Rectangle 6"/>
          <p:cNvSpPr/>
          <p:nvPr/>
        </p:nvSpPr>
        <p:spPr>
          <a:xfrm>
            <a:off x="548640" y="3657600"/>
            <a:ext cx="2743200" cy="56692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94760"/>
            <a:ext cx="2743200" cy="320040"/>
          </a:xfrm>
          <a:prstGeom prst="rect">
            <a:avLst/>
          </a:prstGeom>
          <a:noFill/>
        </p:spPr>
        <p:txBody>
          <a:bodyPr wrap="square">
            <a:spAutoFit/>
          </a:bodyPr>
          <a:lstStyle/>
          <a:p>
            <a:pPr algn="ctr">
              <a:spcAft>
                <a:spcPts val="0"/>
              </a:spcAft>
            </a:pPr>
            <a:r>
              <a:rPr sz="1400" b="1">
                <a:solidFill>
                  <a:srgbClr val="FFFFFF"/>
                </a:solidFill>
                <a:latin typeface="Calibri"/>
              </a:rPr>
              <a:t>805502</a:t>
            </a:r>
          </a:p>
        </p:txBody>
      </p:sp>
      <p:sp>
        <p:nvSpPr>
          <p:cNvPr id="9" name="Rounded Rectangle 8"/>
          <p:cNvSpPr/>
          <p:nvPr/>
        </p:nvSpPr>
        <p:spPr>
          <a:xfrm>
            <a:off x="3291840" y="3657600"/>
            <a:ext cx="8366760"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3794760"/>
            <a:ext cx="7955279" cy="320040"/>
          </a:xfrm>
          <a:prstGeom prst="rect">
            <a:avLst/>
          </a:prstGeom>
          <a:noFill/>
        </p:spPr>
        <p:txBody>
          <a:bodyPr wrap="square">
            <a:spAutoFit/>
          </a:bodyPr>
          <a:lstStyle/>
          <a:p>
            <a:pPr algn="l">
              <a:spcAft>
                <a:spcPts val="0"/>
              </a:spcAft>
            </a:pPr>
            <a:r>
              <a:rPr sz="1350" b="0">
                <a:solidFill>
                  <a:srgbClr val="1F2A44"/>
                </a:solidFill>
                <a:latin typeface="Calibri"/>
              </a:rPr>
              <a:t>is not a date of birth. It is three facts in one number.</a:t>
            </a:r>
          </a:p>
        </p:txBody>
      </p:sp>
      <p:sp>
        <p:nvSpPr>
          <p:cNvPr id="11" name="Rounded Rectangle 10"/>
          <p:cNvSpPr/>
          <p:nvPr/>
        </p:nvSpPr>
        <p:spPr>
          <a:xfrm>
            <a:off x="548640" y="4315968"/>
            <a:ext cx="2743200" cy="56692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453128"/>
            <a:ext cx="2743200" cy="320040"/>
          </a:xfrm>
          <a:prstGeom prst="rect">
            <a:avLst/>
          </a:prstGeom>
          <a:noFill/>
        </p:spPr>
        <p:txBody>
          <a:bodyPr wrap="square">
            <a:spAutoFit/>
          </a:bodyPr>
          <a:lstStyle/>
          <a:p>
            <a:pPr algn="ctr">
              <a:spcAft>
                <a:spcPts val="0"/>
              </a:spcAft>
            </a:pPr>
            <a:r>
              <a:rPr sz="1400" b="1">
                <a:solidFill>
                  <a:srgbClr val="FFFFFF"/>
                </a:solidFill>
                <a:latin typeface="Calibri"/>
              </a:rPr>
              <a:t>POPLATEK MESICNE</a:t>
            </a:r>
          </a:p>
        </p:txBody>
      </p:sp>
      <p:sp>
        <p:nvSpPr>
          <p:cNvPr id="13" name="Rounded Rectangle 12"/>
          <p:cNvSpPr/>
          <p:nvPr/>
        </p:nvSpPr>
        <p:spPr>
          <a:xfrm>
            <a:off x="3291840" y="4315968"/>
            <a:ext cx="8366760"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4453128"/>
            <a:ext cx="7955279" cy="320040"/>
          </a:xfrm>
          <a:prstGeom prst="rect">
            <a:avLst/>
          </a:prstGeom>
          <a:noFill/>
        </p:spPr>
        <p:txBody>
          <a:bodyPr wrap="square">
            <a:spAutoFit/>
          </a:bodyPr>
          <a:lstStyle/>
          <a:p>
            <a:pPr algn="l">
              <a:spcAft>
                <a:spcPts val="0"/>
              </a:spcAft>
            </a:pPr>
            <a:r>
              <a:rPr sz="1350" b="0">
                <a:solidFill>
                  <a:srgbClr val="1F2A44"/>
                </a:solidFill>
                <a:latin typeface="Calibri"/>
              </a:rPr>
              <a:t>is not something anyone can group a report by.</a:t>
            </a:r>
          </a:p>
        </p:txBody>
      </p:sp>
      <p:sp>
        <p:nvSpPr>
          <p:cNvPr id="15" name="Rounded Rectangle 14"/>
          <p:cNvSpPr/>
          <p:nvPr/>
        </p:nvSpPr>
        <p:spPr>
          <a:xfrm>
            <a:off x="548640" y="4974336"/>
            <a:ext cx="2743200" cy="56692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111496"/>
            <a:ext cx="2743200" cy="320040"/>
          </a:xfrm>
          <a:prstGeom prst="rect">
            <a:avLst/>
          </a:prstGeom>
          <a:noFill/>
        </p:spPr>
        <p:txBody>
          <a:bodyPr wrap="square">
            <a:spAutoFit/>
          </a:bodyPr>
          <a:lstStyle/>
          <a:p>
            <a:pPr algn="ctr">
              <a:spcAft>
                <a:spcPts val="0"/>
              </a:spcAft>
            </a:pPr>
            <a:r>
              <a:rPr sz="1400" b="1">
                <a:solidFill>
                  <a:srgbClr val="FFFFFF"/>
                </a:solidFill>
                <a:latin typeface="Calibri"/>
              </a:rPr>
              <a:t>A</a:t>
            </a:r>
          </a:p>
        </p:txBody>
      </p:sp>
      <p:sp>
        <p:nvSpPr>
          <p:cNvPr id="17" name="Rounded Rectangle 16"/>
          <p:cNvSpPr/>
          <p:nvPr/>
        </p:nvSpPr>
        <p:spPr>
          <a:xfrm>
            <a:off x="3291840" y="4974336"/>
            <a:ext cx="8366760"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5111496"/>
            <a:ext cx="7955279" cy="320040"/>
          </a:xfrm>
          <a:prstGeom prst="rect">
            <a:avLst/>
          </a:prstGeom>
          <a:noFill/>
        </p:spPr>
        <p:txBody>
          <a:bodyPr wrap="square">
            <a:spAutoFit/>
          </a:bodyPr>
          <a:lstStyle/>
          <a:p>
            <a:pPr algn="l">
              <a:spcAft>
                <a:spcPts val="0"/>
              </a:spcAft>
            </a:pPr>
            <a:r>
              <a:rPr sz="1350" b="0">
                <a:solidFill>
                  <a:srgbClr val="1F2A44"/>
                </a:solidFill>
                <a:latin typeface="Calibri"/>
              </a:rPr>
              <a:t>is not a loan outcome. It is a letter.</a:t>
            </a:r>
          </a:p>
        </p:txBody>
      </p:sp>
      <p:sp>
        <p:nvSpPr>
          <p:cNvPr id="19" name="Rounded Rectangle 18"/>
          <p:cNvSpPr/>
          <p:nvPr/>
        </p:nvSpPr>
        <p:spPr>
          <a:xfrm>
            <a:off x="548640" y="5632704"/>
            <a:ext cx="2743200" cy="56692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769864"/>
            <a:ext cx="2743200" cy="320040"/>
          </a:xfrm>
          <a:prstGeom prst="rect">
            <a:avLst/>
          </a:prstGeom>
          <a:noFill/>
        </p:spPr>
        <p:txBody>
          <a:bodyPr wrap="square">
            <a:spAutoFit/>
          </a:bodyPr>
          <a:lstStyle/>
          <a:p>
            <a:pPr algn="ctr">
              <a:spcAft>
                <a:spcPts val="0"/>
              </a:spcAft>
            </a:pPr>
            <a:r>
              <a:rPr sz="1400" b="1">
                <a:solidFill>
                  <a:srgbClr val="FFFFFF"/>
                </a:solidFill>
                <a:latin typeface="Calibri"/>
              </a:rPr>
              <a:t>930204</a:t>
            </a:r>
          </a:p>
        </p:txBody>
      </p:sp>
      <p:sp>
        <p:nvSpPr>
          <p:cNvPr id="21" name="Rounded Rectangle 20"/>
          <p:cNvSpPr/>
          <p:nvPr/>
        </p:nvSpPr>
        <p:spPr>
          <a:xfrm>
            <a:off x="3291840" y="5632704"/>
            <a:ext cx="8366760"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66160" y="5769864"/>
            <a:ext cx="7955279" cy="320040"/>
          </a:xfrm>
          <a:prstGeom prst="rect">
            <a:avLst/>
          </a:prstGeom>
          <a:noFill/>
        </p:spPr>
        <p:txBody>
          <a:bodyPr wrap="square">
            <a:spAutoFit/>
          </a:bodyPr>
          <a:lstStyle/>
          <a:p>
            <a:pPr algn="l">
              <a:spcAft>
                <a:spcPts val="0"/>
              </a:spcAft>
            </a:pPr>
            <a:r>
              <a:rPr sz="1350" b="0">
                <a:solidFill>
                  <a:srgbClr val="1F2A44"/>
                </a:solidFill>
                <a:latin typeface="Calibri"/>
              </a:rPr>
              <a:t>is not a date until someone decides which century.</a:t>
            </a:r>
          </a:p>
        </p:txBody>
      </p:sp>
      <p:sp>
        <p:nvSpPr>
          <p:cNvPr id="23" name="TextBox 22"/>
          <p:cNvSpPr txBox="1"/>
          <p:nvPr/>
        </p:nvSpPr>
        <p:spPr>
          <a:xfrm>
            <a:off x="548640" y="6400800"/>
            <a:ext cx="11155680" cy="320040"/>
          </a:xfrm>
          <a:prstGeom prst="rect">
            <a:avLst/>
          </a:prstGeom>
          <a:noFill/>
        </p:spPr>
        <p:txBody>
          <a:bodyPr wrap="square">
            <a:spAutoFit/>
          </a:bodyPr>
          <a:lstStyle/>
          <a:p>
            <a:pPr algn="l">
              <a:spcAft>
                <a:spcPts val="0"/>
              </a:spcAft>
            </a:pPr>
            <a:r>
              <a:rPr sz="1350" b="1">
                <a:solidFill>
                  <a:srgbClr val="1F3864"/>
                </a:solidFill>
                <a:latin typeface="Calibri"/>
              </a:rPr>
              <a:t>Closing that gap is the whole job. Everything else is downstream of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EACH ONE TRACEABLE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What the cleaning did to her, step by step</a:t>
            </a:r>
          </a:p>
        </p:txBody>
      </p:sp>
      <p:sp>
        <p:nvSpPr>
          <p:cNvPr id="4" name="Rounded Rectangle 3"/>
          <p:cNvSpPr/>
          <p:nvPr/>
        </p:nvSpPr>
        <p:spPr>
          <a:xfrm>
            <a:off x="548640" y="1417320"/>
            <a:ext cx="566928" cy="56692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566928" cy="320040"/>
          </a:xfrm>
          <a:prstGeom prst="rect">
            <a:avLst/>
          </a:prstGeom>
          <a:noFill/>
        </p:spPr>
        <p:txBody>
          <a:bodyPr wrap="square">
            <a:spAutoFit/>
          </a:bodyPr>
          <a:lstStyle/>
          <a:p>
            <a:pPr algn="ctr">
              <a:spcAft>
                <a:spcPts val="0"/>
              </a:spcAft>
            </a:pPr>
            <a:r>
              <a:rPr sz="1200" b="1">
                <a:solidFill>
                  <a:srgbClr val="FFFFFF"/>
                </a:solidFill>
                <a:latin typeface="Calibri"/>
              </a:rPr>
              <a:t>C07</a:t>
            </a:r>
          </a:p>
        </p:txBody>
      </p:sp>
      <p:sp>
        <p:nvSpPr>
          <p:cNvPr id="6" name="Rounded Rectangle 5"/>
          <p:cNvSpPr/>
          <p:nvPr/>
        </p:nvSpPr>
        <p:spPr>
          <a:xfrm>
            <a:off x="1115568" y="1417320"/>
            <a:ext cx="1054303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554480"/>
            <a:ext cx="3017520" cy="320040"/>
          </a:xfrm>
          <a:prstGeom prst="rect">
            <a:avLst/>
          </a:prstGeom>
          <a:noFill/>
        </p:spPr>
        <p:txBody>
          <a:bodyPr wrap="square">
            <a:spAutoFit/>
          </a:bodyPr>
          <a:lstStyle/>
          <a:p>
            <a:pPr algn="l">
              <a:spcAft>
                <a:spcPts val="0"/>
              </a:spcAft>
            </a:pPr>
            <a:r>
              <a:rPr sz="1250" b="0">
                <a:solidFill>
                  <a:srgbClr val="5B6472"/>
                </a:solidFill>
                <a:latin typeface="Calibri"/>
              </a:rPr>
              <a:t>805502</a:t>
            </a:r>
          </a:p>
        </p:txBody>
      </p:sp>
      <p:sp>
        <p:nvSpPr>
          <p:cNvPr id="8" name="TextBox 7"/>
          <p:cNvSpPr txBox="1"/>
          <p:nvPr/>
        </p:nvSpPr>
        <p:spPr>
          <a:xfrm>
            <a:off x="4480560" y="1545336"/>
            <a:ext cx="3200400" cy="320040"/>
          </a:xfrm>
          <a:prstGeom prst="rect">
            <a:avLst/>
          </a:prstGeom>
          <a:noFill/>
        </p:spPr>
        <p:txBody>
          <a:bodyPr wrap="square">
            <a:spAutoFit/>
          </a:bodyPr>
          <a:lstStyle/>
          <a:p>
            <a:pPr algn="l">
              <a:spcAft>
                <a:spcPts val="0"/>
              </a:spcAft>
            </a:pPr>
            <a:r>
              <a:rPr sz="1300" b="1">
                <a:solidFill>
                  <a:srgbClr val="1F2A44"/>
                </a:solidFill>
                <a:latin typeface="Calibri"/>
              </a:rPr>
              <a:t>born 1980-05-02</a:t>
            </a:r>
          </a:p>
        </p:txBody>
      </p:sp>
      <p:sp>
        <p:nvSpPr>
          <p:cNvPr id="9" name="TextBox 8"/>
          <p:cNvSpPr txBox="1"/>
          <p:nvPr/>
        </p:nvSpPr>
        <p:spPr>
          <a:xfrm>
            <a:off x="7772400" y="1563624"/>
            <a:ext cx="3657600" cy="320040"/>
          </a:xfrm>
          <a:prstGeom prst="rect">
            <a:avLst/>
          </a:prstGeom>
          <a:noFill/>
        </p:spPr>
        <p:txBody>
          <a:bodyPr wrap="square">
            <a:spAutoFit/>
          </a:bodyPr>
          <a:lstStyle/>
          <a:p>
            <a:pPr algn="l">
              <a:spcAft>
                <a:spcPts val="0"/>
              </a:spcAft>
            </a:pPr>
            <a:r>
              <a:rPr sz="1150" b="0">
                <a:solidFill>
                  <a:srgbClr val="5B6472"/>
                </a:solidFill>
                <a:latin typeface="Calibri"/>
              </a:rPr>
              <a:t>month 55 = May, +50 marks a woman</a:t>
            </a:r>
          </a:p>
        </p:txBody>
      </p:sp>
      <p:sp>
        <p:nvSpPr>
          <p:cNvPr id="10" name="Rounded Rectangle 9"/>
          <p:cNvSpPr/>
          <p:nvPr/>
        </p:nvSpPr>
        <p:spPr>
          <a:xfrm>
            <a:off x="548640" y="2075688"/>
            <a:ext cx="566928" cy="56692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320040"/>
          </a:xfrm>
          <a:prstGeom prst="rect">
            <a:avLst/>
          </a:prstGeom>
          <a:noFill/>
        </p:spPr>
        <p:txBody>
          <a:bodyPr wrap="square">
            <a:spAutoFit/>
          </a:bodyPr>
          <a:lstStyle/>
          <a:p>
            <a:pPr algn="ctr">
              <a:spcAft>
                <a:spcPts val="0"/>
              </a:spcAft>
            </a:pPr>
            <a:r>
              <a:rPr sz="1200" b="1">
                <a:solidFill>
                  <a:srgbClr val="FFFFFF"/>
                </a:solidFill>
                <a:latin typeface="Calibri"/>
              </a:rPr>
              <a:t>C08</a:t>
            </a:r>
          </a:p>
        </p:txBody>
      </p:sp>
      <p:sp>
        <p:nvSpPr>
          <p:cNvPr id="12" name="Rounded Rectangle 11"/>
          <p:cNvSpPr/>
          <p:nvPr/>
        </p:nvSpPr>
        <p:spPr>
          <a:xfrm>
            <a:off x="1115568" y="2075688"/>
            <a:ext cx="1054303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2212848"/>
            <a:ext cx="3017520" cy="320040"/>
          </a:xfrm>
          <a:prstGeom prst="rect">
            <a:avLst/>
          </a:prstGeom>
          <a:noFill/>
        </p:spPr>
        <p:txBody>
          <a:bodyPr wrap="square">
            <a:spAutoFit/>
          </a:bodyPr>
          <a:lstStyle/>
          <a:p>
            <a:pPr algn="l">
              <a:spcAft>
                <a:spcPts val="0"/>
              </a:spcAft>
            </a:pPr>
            <a:r>
              <a:rPr sz="1250" b="0">
                <a:solidFill>
                  <a:srgbClr val="5B6472"/>
                </a:solidFill>
                <a:latin typeface="Calibri"/>
              </a:rPr>
              <a:t>805502</a:t>
            </a:r>
          </a:p>
        </p:txBody>
      </p:sp>
      <p:sp>
        <p:nvSpPr>
          <p:cNvPr id="14" name="TextBox 13"/>
          <p:cNvSpPr txBox="1"/>
          <p:nvPr/>
        </p:nvSpPr>
        <p:spPr>
          <a:xfrm>
            <a:off x="4480560" y="2203704"/>
            <a:ext cx="3200400" cy="320040"/>
          </a:xfrm>
          <a:prstGeom prst="rect">
            <a:avLst/>
          </a:prstGeom>
          <a:noFill/>
        </p:spPr>
        <p:txBody>
          <a:bodyPr wrap="square">
            <a:spAutoFit/>
          </a:bodyPr>
          <a:lstStyle/>
          <a:p>
            <a:pPr algn="l">
              <a:spcAft>
                <a:spcPts val="0"/>
              </a:spcAft>
            </a:pPr>
            <a:r>
              <a:rPr sz="1300" b="1">
                <a:solidFill>
                  <a:srgbClr val="1F2A44"/>
                </a:solidFill>
                <a:latin typeface="Calibri"/>
              </a:rPr>
              <a:t>gender: female</a:t>
            </a:r>
          </a:p>
        </p:txBody>
      </p:sp>
      <p:sp>
        <p:nvSpPr>
          <p:cNvPr id="15" name="TextBox 14"/>
          <p:cNvSpPr txBox="1"/>
          <p:nvPr/>
        </p:nvSpPr>
        <p:spPr>
          <a:xfrm>
            <a:off x="7772400" y="2221992"/>
            <a:ext cx="3657600" cy="320040"/>
          </a:xfrm>
          <a:prstGeom prst="rect">
            <a:avLst/>
          </a:prstGeom>
          <a:noFill/>
        </p:spPr>
        <p:txBody>
          <a:bodyPr wrap="square">
            <a:spAutoFit/>
          </a:bodyPr>
          <a:lstStyle/>
          <a:p>
            <a:pPr algn="l">
              <a:spcAft>
                <a:spcPts val="0"/>
              </a:spcAft>
            </a:pPr>
            <a:r>
              <a:rPr sz="1150" b="0">
                <a:solidFill>
                  <a:srgbClr val="5B6472"/>
                </a:solidFill>
                <a:latin typeface="Calibri"/>
              </a:rPr>
              <a:t>the same digits again, read differently</a:t>
            </a:r>
          </a:p>
        </p:txBody>
      </p:sp>
      <p:sp>
        <p:nvSpPr>
          <p:cNvPr id="16" name="Rounded Rectangle 15"/>
          <p:cNvSpPr/>
          <p:nvPr/>
        </p:nvSpPr>
        <p:spPr>
          <a:xfrm>
            <a:off x="548640" y="2734056"/>
            <a:ext cx="566928" cy="56692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871216"/>
            <a:ext cx="566928" cy="320040"/>
          </a:xfrm>
          <a:prstGeom prst="rect">
            <a:avLst/>
          </a:prstGeom>
          <a:noFill/>
        </p:spPr>
        <p:txBody>
          <a:bodyPr wrap="square">
            <a:spAutoFit/>
          </a:bodyPr>
          <a:lstStyle/>
          <a:p>
            <a:pPr algn="ctr">
              <a:spcAft>
                <a:spcPts val="0"/>
              </a:spcAft>
            </a:pPr>
            <a:r>
              <a:rPr sz="1200" b="1">
                <a:solidFill>
                  <a:srgbClr val="FFFFFF"/>
                </a:solidFill>
                <a:latin typeface="Calibri"/>
              </a:rPr>
              <a:t>C05</a:t>
            </a:r>
          </a:p>
        </p:txBody>
      </p:sp>
      <p:sp>
        <p:nvSpPr>
          <p:cNvPr id="18" name="Rounded Rectangle 17"/>
          <p:cNvSpPr/>
          <p:nvPr/>
        </p:nvSpPr>
        <p:spPr>
          <a:xfrm>
            <a:off x="1115568" y="2734056"/>
            <a:ext cx="1054303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2871216"/>
            <a:ext cx="3017520" cy="320040"/>
          </a:xfrm>
          <a:prstGeom prst="rect">
            <a:avLst/>
          </a:prstGeom>
          <a:noFill/>
        </p:spPr>
        <p:txBody>
          <a:bodyPr wrap="square">
            <a:spAutoFit/>
          </a:bodyPr>
          <a:lstStyle/>
          <a:p>
            <a:pPr algn="l">
              <a:spcAft>
                <a:spcPts val="0"/>
              </a:spcAft>
            </a:pPr>
            <a:r>
              <a:rPr sz="1250" b="0">
                <a:solidFill>
                  <a:srgbClr val="5B6472"/>
                </a:solidFill>
                <a:latin typeface="Calibri"/>
              </a:rPr>
              <a:t>930204</a:t>
            </a:r>
          </a:p>
        </p:txBody>
      </p:sp>
      <p:sp>
        <p:nvSpPr>
          <p:cNvPr id="20" name="TextBox 19"/>
          <p:cNvSpPr txBox="1"/>
          <p:nvPr/>
        </p:nvSpPr>
        <p:spPr>
          <a:xfrm>
            <a:off x="4480560" y="2862072"/>
            <a:ext cx="3200400" cy="320040"/>
          </a:xfrm>
          <a:prstGeom prst="rect">
            <a:avLst/>
          </a:prstGeom>
          <a:noFill/>
        </p:spPr>
        <p:txBody>
          <a:bodyPr wrap="square">
            <a:spAutoFit/>
          </a:bodyPr>
          <a:lstStyle/>
          <a:p>
            <a:pPr algn="l">
              <a:spcAft>
                <a:spcPts val="0"/>
              </a:spcAft>
            </a:pPr>
            <a:r>
              <a:rPr sz="1300" b="1">
                <a:solidFill>
                  <a:srgbClr val="1F2A44"/>
                </a:solidFill>
                <a:latin typeface="Calibri"/>
              </a:rPr>
              <a:t>opened 1993-02-04</a:t>
            </a:r>
          </a:p>
        </p:txBody>
      </p:sp>
      <p:sp>
        <p:nvSpPr>
          <p:cNvPr id="21" name="TextBox 20"/>
          <p:cNvSpPr txBox="1"/>
          <p:nvPr/>
        </p:nvSpPr>
        <p:spPr>
          <a:xfrm>
            <a:off x="7772400" y="2880360"/>
            <a:ext cx="3657600" cy="320040"/>
          </a:xfrm>
          <a:prstGeom prst="rect">
            <a:avLst/>
          </a:prstGeom>
          <a:noFill/>
        </p:spPr>
        <p:txBody>
          <a:bodyPr wrap="square">
            <a:spAutoFit/>
          </a:bodyPr>
          <a:lstStyle/>
          <a:p>
            <a:pPr algn="l">
              <a:spcAft>
                <a:spcPts val="0"/>
              </a:spcAft>
            </a:pPr>
            <a:r>
              <a:rPr sz="1150" b="0">
                <a:solidFill>
                  <a:srgbClr val="5B6472"/>
                </a:solidFill>
                <a:latin typeface="Calibri"/>
              </a:rPr>
              <a:t>YYMMDD, and 19xx not 20xx</a:t>
            </a:r>
          </a:p>
        </p:txBody>
      </p:sp>
      <p:sp>
        <p:nvSpPr>
          <p:cNvPr id="22" name="Rounded Rectangle 21"/>
          <p:cNvSpPr/>
          <p:nvPr/>
        </p:nvSpPr>
        <p:spPr>
          <a:xfrm>
            <a:off x="548640" y="3392424"/>
            <a:ext cx="566928" cy="56692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529584"/>
            <a:ext cx="566928" cy="320040"/>
          </a:xfrm>
          <a:prstGeom prst="rect">
            <a:avLst/>
          </a:prstGeom>
          <a:noFill/>
        </p:spPr>
        <p:txBody>
          <a:bodyPr wrap="square">
            <a:spAutoFit/>
          </a:bodyPr>
          <a:lstStyle/>
          <a:p>
            <a:pPr algn="ctr">
              <a:spcAft>
                <a:spcPts val="0"/>
              </a:spcAft>
            </a:pPr>
            <a:r>
              <a:rPr sz="1200" b="1">
                <a:solidFill>
                  <a:srgbClr val="FFFFFF"/>
                </a:solidFill>
                <a:latin typeface="Calibri"/>
              </a:rPr>
              <a:t>C09</a:t>
            </a:r>
          </a:p>
        </p:txBody>
      </p:sp>
      <p:sp>
        <p:nvSpPr>
          <p:cNvPr id="24" name="Rounded Rectangle 23"/>
          <p:cNvSpPr/>
          <p:nvPr/>
        </p:nvSpPr>
        <p:spPr>
          <a:xfrm>
            <a:off x="1115568" y="3392424"/>
            <a:ext cx="1054303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71600" y="3529584"/>
            <a:ext cx="3017520" cy="320040"/>
          </a:xfrm>
          <a:prstGeom prst="rect">
            <a:avLst/>
          </a:prstGeom>
          <a:noFill/>
        </p:spPr>
        <p:txBody>
          <a:bodyPr wrap="square">
            <a:spAutoFit/>
          </a:bodyPr>
          <a:lstStyle/>
          <a:p>
            <a:pPr algn="l">
              <a:spcAft>
                <a:spcPts val="0"/>
              </a:spcAft>
            </a:pPr>
            <a:r>
              <a:rPr sz="1250" b="0">
                <a:solidFill>
                  <a:srgbClr val="5B6472"/>
                </a:solidFill>
                <a:latin typeface="Calibri"/>
              </a:rPr>
              <a:t>POPLATEK MESICNE</a:t>
            </a:r>
          </a:p>
        </p:txBody>
      </p:sp>
      <p:sp>
        <p:nvSpPr>
          <p:cNvPr id="26" name="TextBox 25"/>
          <p:cNvSpPr txBox="1"/>
          <p:nvPr/>
        </p:nvSpPr>
        <p:spPr>
          <a:xfrm>
            <a:off x="4480560" y="3520440"/>
            <a:ext cx="3200400" cy="320040"/>
          </a:xfrm>
          <a:prstGeom prst="rect">
            <a:avLst/>
          </a:prstGeom>
          <a:noFill/>
        </p:spPr>
        <p:txBody>
          <a:bodyPr wrap="square">
            <a:spAutoFit/>
          </a:bodyPr>
          <a:lstStyle/>
          <a:p>
            <a:pPr algn="l">
              <a:spcAft>
                <a:spcPts val="0"/>
              </a:spcAft>
            </a:pPr>
            <a:r>
              <a:rPr sz="1300" b="1">
                <a:solidFill>
                  <a:srgbClr val="1F2A44"/>
                </a:solidFill>
                <a:latin typeface="Calibri"/>
              </a:rPr>
              <a:t>statement: monthly</a:t>
            </a:r>
          </a:p>
        </p:txBody>
      </p:sp>
      <p:sp>
        <p:nvSpPr>
          <p:cNvPr id="27" name="TextBox 26"/>
          <p:cNvSpPr txBox="1"/>
          <p:nvPr/>
        </p:nvSpPr>
        <p:spPr>
          <a:xfrm>
            <a:off x="7772400" y="3538728"/>
            <a:ext cx="3657600" cy="320040"/>
          </a:xfrm>
          <a:prstGeom prst="rect">
            <a:avLst/>
          </a:prstGeom>
          <a:noFill/>
        </p:spPr>
        <p:txBody>
          <a:bodyPr wrap="square">
            <a:spAutoFit/>
          </a:bodyPr>
          <a:lstStyle/>
          <a:p>
            <a:pPr algn="l">
              <a:spcAft>
                <a:spcPts val="0"/>
              </a:spcAft>
            </a:pPr>
            <a:r>
              <a:rPr sz="1150" b="0">
                <a:solidFill>
                  <a:srgbClr val="5B6472"/>
                </a:solidFill>
                <a:latin typeface="Calibri"/>
              </a:rPr>
              <a:t>one decode map, checked</a:t>
            </a:r>
          </a:p>
        </p:txBody>
      </p:sp>
      <p:sp>
        <p:nvSpPr>
          <p:cNvPr id="28" name="Rounded Rectangle 27"/>
          <p:cNvSpPr/>
          <p:nvPr/>
        </p:nvSpPr>
        <p:spPr>
          <a:xfrm>
            <a:off x="548640" y="4050792"/>
            <a:ext cx="566928" cy="56692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187952"/>
            <a:ext cx="566928" cy="320040"/>
          </a:xfrm>
          <a:prstGeom prst="rect">
            <a:avLst/>
          </a:prstGeom>
          <a:noFill/>
        </p:spPr>
        <p:txBody>
          <a:bodyPr wrap="square">
            <a:spAutoFit/>
          </a:bodyPr>
          <a:lstStyle/>
          <a:p>
            <a:pPr algn="ctr">
              <a:spcAft>
                <a:spcPts val="0"/>
              </a:spcAft>
            </a:pPr>
            <a:r>
              <a:rPr sz="1200" b="1">
                <a:solidFill>
                  <a:srgbClr val="FFFFFF"/>
                </a:solidFill>
                <a:latin typeface="Calibri"/>
              </a:rPr>
              <a:t>C09</a:t>
            </a:r>
          </a:p>
        </p:txBody>
      </p:sp>
      <p:sp>
        <p:nvSpPr>
          <p:cNvPr id="30" name="Rounded Rectangle 29"/>
          <p:cNvSpPr/>
          <p:nvPr/>
        </p:nvSpPr>
        <p:spPr>
          <a:xfrm>
            <a:off x="1115568" y="4050792"/>
            <a:ext cx="1054303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71600" y="4187952"/>
            <a:ext cx="3017520" cy="320040"/>
          </a:xfrm>
          <a:prstGeom prst="rect">
            <a:avLst/>
          </a:prstGeom>
          <a:noFill/>
        </p:spPr>
        <p:txBody>
          <a:bodyPr wrap="square">
            <a:spAutoFit/>
          </a:bodyPr>
          <a:lstStyle/>
          <a:p>
            <a:pPr algn="l">
              <a:spcAft>
                <a:spcPts val="0"/>
              </a:spcAft>
            </a:pPr>
            <a:r>
              <a:rPr sz="1250" b="0">
                <a:solidFill>
                  <a:srgbClr val="5B6472"/>
                </a:solidFill>
                <a:latin typeface="Calibri"/>
              </a:rPr>
              <a:t>status A</a:t>
            </a:r>
          </a:p>
        </p:txBody>
      </p:sp>
      <p:sp>
        <p:nvSpPr>
          <p:cNvPr id="32" name="TextBox 31"/>
          <p:cNvSpPr txBox="1"/>
          <p:nvPr/>
        </p:nvSpPr>
        <p:spPr>
          <a:xfrm>
            <a:off x="4480560" y="4178808"/>
            <a:ext cx="3200400" cy="320040"/>
          </a:xfrm>
          <a:prstGeom prst="rect">
            <a:avLst/>
          </a:prstGeom>
          <a:noFill/>
        </p:spPr>
        <p:txBody>
          <a:bodyPr wrap="square">
            <a:spAutoFit/>
          </a:bodyPr>
          <a:lstStyle/>
          <a:p>
            <a:pPr algn="l">
              <a:spcAft>
                <a:spcPts val="0"/>
              </a:spcAft>
            </a:pPr>
            <a:r>
              <a:rPr sz="1300" b="1">
                <a:solidFill>
                  <a:srgbClr val="1F2A44"/>
                </a:solidFill>
                <a:latin typeface="Calibri"/>
              </a:rPr>
              <a:t>finished, paid in full</a:t>
            </a:r>
          </a:p>
        </p:txBody>
      </p:sp>
      <p:sp>
        <p:nvSpPr>
          <p:cNvPr id="33" name="TextBox 32"/>
          <p:cNvSpPr txBox="1"/>
          <p:nvPr/>
        </p:nvSpPr>
        <p:spPr>
          <a:xfrm>
            <a:off x="7772400" y="4197096"/>
            <a:ext cx="3657600" cy="320040"/>
          </a:xfrm>
          <a:prstGeom prst="rect">
            <a:avLst/>
          </a:prstGeom>
          <a:noFill/>
        </p:spPr>
        <p:txBody>
          <a:bodyPr wrap="square">
            <a:spAutoFit/>
          </a:bodyPr>
          <a:lstStyle/>
          <a:p>
            <a:pPr algn="l">
              <a:spcAft>
                <a:spcPts val="0"/>
              </a:spcAft>
            </a:pPr>
            <a:r>
              <a:rPr sz="1150" b="0">
                <a:solidFill>
                  <a:srgbClr val="5B6472"/>
                </a:solidFill>
                <a:latin typeface="Calibri"/>
              </a:rPr>
              <a:t>A/B/C/D are outcomes</a:t>
            </a:r>
          </a:p>
        </p:txBody>
      </p:sp>
      <p:sp>
        <p:nvSpPr>
          <p:cNvPr id="34" name="Rounded Rectangle 33"/>
          <p:cNvSpPr/>
          <p:nvPr/>
        </p:nvSpPr>
        <p:spPr>
          <a:xfrm>
            <a:off x="548640" y="4709160"/>
            <a:ext cx="566928" cy="56692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846320"/>
            <a:ext cx="566928" cy="320040"/>
          </a:xfrm>
          <a:prstGeom prst="rect">
            <a:avLst/>
          </a:prstGeom>
          <a:noFill/>
        </p:spPr>
        <p:txBody>
          <a:bodyPr wrap="square">
            <a:spAutoFit/>
          </a:bodyPr>
          <a:lstStyle/>
          <a:p>
            <a:pPr algn="ctr">
              <a:spcAft>
                <a:spcPts val="0"/>
              </a:spcAft>
            </a:pPr>
            <a:r>
              <a:rPr sz="1200" b="1">
                <a:solidFill>
                  <a:srgbClr val="FFFFFF"/>
                </a:solidFill>
                <a:latin typeface="Calibri"/>
              </a:rPr>
              <a:t>C11</a:t>
            </a:r>
          </a:p>
        </p:txBody>
      </p:sp>
      <p:sp>
        <p:nvSpPr>
          <p:cNvPr id="36" name="Rounded Rectangle 35"/>
          <p:cNvSpPr/>
          <p:nvPr/>
        </p:nvSpPr>
        <p:spPr>
          <a:xfrm>
            <a:off x="1115568" y="4709160"/>
            <a:ext cx="1054303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71600" y="4846320"/>
            <a:ext cx="3017520" cy="320040"/>
          </a:xfrm>
          <a:prstGeom prst="rect">
            <a:avLst/>
          </a:prstGeom>
          <a:noFill/>
        </p:spPr>
        <p:txBody>
          <a:bodyPr wrap="square">
            <a:spAutoFit/>
          </a:bodyPr>
          <a:lstStyle/>
          <a:p>
            <a:pPr algn="l">
              <a:spcAft>
                <a:spcPts val="0"/>
              </a:spcAft>
            </a:pPr>
            <a:r>
              <a:rPr sz="1250" b="0">
                <a:solidFill>
                  <a:srgbClr val="5B6472"/>
                </a:solidFill>
                <a:latin typeface="Calibri"/>
              </a:rPr>
              <a:t>status A</a:t>
            </a:r>
          </a:p>
        </p:txBody>
      </p:sp>
      <p:sp>
        <p:nvSpPr>
          <p:cNvPr id="38" name="TextBox 37"/>
          <p:cNvSpPr txBox="1"/>
          <p:nvPr/>
        </p:nvSpPr>
        <p:spPr>
          <a:xfrm>
            <a:off x="4480560" y="4837176"/>
            <a:ext cx="3200400" cy="320040"/>
          </a:xfrm>
          <a:prstGeom prst="rect">
            <a:avLst/>
          </a:prstGeom>
          <a:noFill/>
        </p:spPr>
        <p:txBody>
          <a:bodyPr wrap="square">
            <a:spAutoFit/>
          </a:bodyPr>
          <a:lstStyle/>
          <a:p>
            <a:pPr algn="l">
              <a:spcAft>
                <a:spcPts val="0"/>
              </a:spcAft>
            </a:pPr>
            <a:r>
              <a:rPr sz="1300" b="1">
                <a:solidFill>
                  <a:srgbClr val="1F2A44"/>
                </a:solidFill>
                <a:latin typeface="Calibri"/>
              </a:rPr>
              <a:t>is_problematic: false</a:t>
            </a:r>
          </a:p>
        </p:txBody>
      </p:sp>
      <p:sp>
        <p:nvSpPr>
          <p:cNvPr id="39" name="TextBox 38"/>
          <p:cNvSpPr txBox="1"/>
          <p:nvPr/>
        </p:nvSpPr>
        <p:spPr>
          <a:xfrm>
            <a:off x="7772400" y="4855464"/>
            <a:ext cx="3657600" cy="320040"/>
          </a:xfrm>
          <a:prstGeom prst="rect">
            <a:avLst/>
          </a:prstGeom>
          <a:noFill/>
        </p:spPr>
        <p:txBody>
          <a:bodyPr wrap="square">
            <a:spAutoFit/>
          </a:bodyPr>
          <a:lstStyle/>
          <a:p>
            <a:pPr algn="l">
              <a:spcAft>
                <a:spcPts val="0"/>
              </a:spcAft>
            </a:pPr>
            <a:r>
              <a:rPr sz="1150" b="0">
                <a:solidFill>
                  <a:srgbClr val="5B6472"/>
                </a:solidFill>
                <a:latin typeface="Calibri"/>
              </a:rPr>
              <a:t>the certified definition, once</a:t>
            </a:r>
          </a:p>
        </p:txBody>
      </p:sp>
      <p:sp>
        <p:nvSpPr>
          <p:cNvPr id="40" name="Rounded Rectangle 39"/>
          <p:cNvSpPr/>
          <p:nvPr/>
        </p:nvSpPr>
        <p:spPr>
          <a:xfrm>
            <a:off x="548640" y="5367528"/>
            <a:ext cx="566928" cy="56692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504688"/>
            <a:ext cx="566928" cy="320040"/>
          </a:xfrm>
          <a:prstGeom prst="rect">
            <a:avLst/>
          </a:prstGeom>
          <a:noFill/>
        </p:spPr>
        <p:txBody>
          <a:bodyPr wrap="square">
            <a:spAutoFit/>
          </a:bodyPr>
          <a:lstStyle/>
          <a:p>
            <a:pPr algn="ctr">
              <a:spcAft>
                <a:spcPts val="0"/>
              </a:spcAft>
            </a:pPr>
            <a:r>
              <a:rPr sz="1200" b="1">
                <a:solidFill>
                  <a:srgbClr val="FFFFFF"/>
                </a:solidFill>
                <a:latin typeface="Calibri"/>
              </a:rPr>
              <a:t>C10</a:t>
            </a:r>
          </a:p>
        </p:txBody>
      </p:sp>
      <p:sp>
        <p:nvSpPr>
          <p:cNvPr id="42" name="Rounded Rectangle 41"/>
          <p:cNvSpPr/>
          <p:nvPr/>
        </p:nvSpPr>
        <p:spPr>
          <a:xfrm>
            <a:off x="1115568" y="5367528"/>
            <a:ext cx="1054303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71600" y="5504688"/>
            <a:ext cx="3017520" cy="320040"/>
          </a:xfrm>
          <a:prstGeom prst="rect">
            <a:avLst/>
          </a:prstGeom>
          <a:noFill/>
        </p:spPr>
        <p:txBody>
          <a:bodyPr wrap="square">
            <a:spAutoFit/>
          </a:bodyPr>
          <a:lstStyle/>
          <a:p>
            <a:pPr algn="l">
              <a:spcAft>
                <a:spcPts val="0"/>
              </a:spcAft>
            </a:pPr>
            <a:r>
              <a:rPr sz="1250" b="0">
                <a:solidFill>
                  <a:srgbClr val="5B6472"/>
                </a:solidFill>
                <a:latin typeface="Calibri"/>
              </a:rPr>
              <a:t>643 postings</a:t>
            </a:r>
          </a:p>
        </p:txBody>
      </p:sp>
      <p:sp>
        <p:nvSpPr>
          <p:cNvPr id="44" name="TextBox 43"/>
          <p:cNvSpPr txBox="1"/>
          <p:nvPr/>
        </p:nvSpPr>
        <p:spPr>
          <a:xfrm>
            <a:off x="4480560" y="5495544"/>
            <a:ext cx="3200400" cy="320040"/>
          </a:xfrm>
          <a:prstGeom prst="rect">
            <a:avLst/>
          </a:prstGeom>
          <a:noFill/>
        </p:spPr>
        <p:txBody>
          <a:bodyPr wrap="square">
            <a:spAutoFit/>
          </a:bodyPr>
          <a:lstStyle/>
          <a:p>
            <a:pPr algn="l">
              <a:spcAft>
                <a:spcPts val="0"/>
              </a:spcAft>
            </a:pPr>
            <a:r>
              <a:rPr sz="1300" b="1">
                <a:solidFill>
                  <a:srgbClr val="1F2A44"/>
                </a:solidFill>
                <a:latin typeface="Calibri"/>
              </a:rPr>
              <a:t>each one signed + or -</a:t>
            </a:r>
          </a:p>
        </p:txBody>
      </p:sp>
      <p:sp>
        <p:nvSpPr>
          <p:cNvPr id="45" name="TextBox 44"/>
          <p:cNvSpPr txBox="1"/>
          <p:nvPr/>
        </p:nvSpPr>
        <p:spPr>
          <a:xfrm>
            <a:off x="7772400" y="5513832"/>
            <a:ext cx="3657600" cy="320040"/>
          </a:xfrm>
          <a:prstGeom prst="rect">
            <a:avLst/>
          </a:prstGeom>
          <a:noFill/>
        </p:spPr>
        <p:txBody>
          <a:bodyPr wrap="square">
            <a:spAutoFit/>
          </a:bodyPr>
          <a:lstStyle/>
          <a:p>
            <a:pPr algn="l">
              <a:spcAft>
                <a:spcPts val="0"/>
              </a:spcAft>
            </a:pPr>
            <a:r>
              <a:rPr sz="1150" b="0">
                <a:solidFill>
                  <a:srgbClr val="5B6472"/>
                </a:solidFill>
                <a:latin typeface="Calibri"/>
              </a:rPr>
              <a:t>so "net flow" is just a sum</a:t>
            </a:r>
          </a:p>
        </p:txBody>
      </p:sp>
      <p:sp>
        <p:nvSpPr>
          <p:cNvPr id="46" name="TextBox 45"/>
          <p:cNvSpPr txBox="1"/>
          <p:nvPr/>
        </p:nvSpPr>
        <p:spPr>
          <a:xfrm>
            <a:off x="548640" y="6172200"/>
            <a:ext cx="11155680" cy="548640"/>
          </a:xfrm>
          <a:prstGeom prst="rect">
            <a:avLst/>
          </a:prstGeom>
          <a:noFill/>
        </p:spPr>
        <p:txBody>
          <a:bodyPr wrap="square">
            <a:spAutoFit/>
          </a:bodyPr>
          <a:lstStyle/>
          <a:p>
            <a:pPr algn="l">
              <a:spcAft>
                <a:spcPts val="0"/>
              </a:spcAft>
            </a:pPr>
            <a:r>
              <a:rPr sz="1400" b="1">
                <a:solidFill>
                  <a:srgbClr val="1F3864"/>
                </a:solidFill>
                <a:latin typeface="Calibri"/>
              </a:rPr>
              <a:t>Her original birth_number is still in the row, next to the two columns derived from it. The decoding can be checked rather than trusted — which is the rule every one of these steps follows.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CAVEATS TRAVEL WITH HER</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And two things about her that are odd</a:t>
            </a:r>
          </a:p>
        </p:txBody>
      </p:sp>
      <p:sp>
        <p:nvSpPr>
          <p:cNvPr id="4" name="Rounded Rectangle 3"/>
          <p:cNvSpPr/>
          <p:nvPr/>
        </p:nvSpPr>
        <p:spPr>
          <a:xfrm>
            <a:off x="548640" y="1463040"/>
            <a:ext cx="128016" cy="210312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76656" y="1463040"/>
            <a:ext cx="10981944" cy="210312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424160" cy="365760"/>
          </a:xfrm>
          <a:prstGeom prst="rect">
            <a:avLst/>
          </a:prstGeom>
          <a:noFill/>
        </p:spPr>
        <p:txBody>
          <a:bodyPr wrap="square">
            <a:spAutoFit/>
          </a:bodyPr>
          <a:lstStyle/>
          <a:p>
            <a:pPr algn="l">
              <a:spcAft>
                <a:spcPts val="0"/>
              </a:spcAft>
            </a:pPr>
            <a:r>
              <a:rPr sz="1700" b="1">
                <a:solidFill>
                  <a:srgbClr val="1F2A44"/>
                </a:solidFill>
                <a:latin typeface="Calibri"/>
              </a:rPr>
              <a:t>Her account was opened when she was 12 years old</a:t>
            </a:r>
          </a:p>
        </p:txBody>
      </p:sp>
      <p:sp>
        <p:nvSpPr>
          <p:cNvPr id="7" name="TextBox 6"/>
          <p:cNvSpPr txBox="1"/>
          <p:nvPr/>
        </p:nvSpPr>
        <p:spPr>
          <a:xfrm>
            <a:off x="960120" y="2029968"/>
            <a:ext cx="10424160" cy="640080"/>
          </a:xfrm>
          <a:prstGeom prst="rect">
            <a:avLst/>
          </a:prstGeom>
          <a:noFill/>
        </p:spPr>
        <p:txBody>
          <a:bodyPr wrap="square">
            <a:spAutoFit/>
          </a:bodyPr>
          <a:lstStyle/>
          <a:p>
            <a:pPr algn="l">
              <a:spcAft>
                <a:spcPts val="0"/>
              </a:spcAft>
            </a:pPr>
            <a:r>
              <a:rPr sz="1300" b="0">
                <a:solidFill>
                  <a:srgbClr val="5B6472"/>
                </a:solidFill>
                <a:latin typeface="Calibri"/>
              </a:rPr>
              <a:t>Born 1980-05-02. Account opened 1993-02-04. That is 12.74 years old, which is not a plausible age for an account holder.</a:t>
            </a:r>
          </a:p>
        </p:txBody>
      </p:sp>
      <p:sp>
        <p:nvSpPr>
          <p:cNvPr id="8" name="TextBox 7"/>
          <p:cNvSpPr txBox="1"/>
          <p:nvPr/>
        </p:nvSpPr>
        <p:spPr>
          <a:xfrm>
            <a:off x="960120" y="2761488"/>
            <a:ext cx="10424160" cy="731520"/>
          </a:xfrm>
          <a:prstGeom prst="rect">
            <a:avLst/>
          </a:prstGeom>
          <a:noFill/>
        </p:spPr>
        <p:txBody>
          <a:bodyPr wrap="square">
            <a:spAutoFit/>
          </a:bodyPr>
          <a:lstStyle/>
          <a:p>
            <a:pPr algn="l">
              <a:spcAft>
                <a:spcPts val="0"/>
              </a:spcAft>
            </a:pPr>
            <a:r>
              <a:rPr sz="1300" b="1">
                <a:solidFill>
                  <a:srgbClr val="B45309"/>
                </a:solidFill>
                <a:latin typeface="Calibri"/>
              </a:rPr>
              <a:t>WARN — flagged on the row, NOT removed. The bank's record says this. Deleting it would hide a real problem; the flag travels into any answer about her.</a:t>
            </a:r>
          </a:p>
        </p:txBody>
      </p:sp>
      <p:sp>
        <p:nvSpPr>
          <p:cNvPr id="9" name="Rounded Rectangle 8"/>
          <p:cNvSpPr/>
          <p:nvPr/>
        </p:nvSpPr>
        <p:spPr>
          <a:xfrm>
            <a:off x="548640" y="3749040"/>
            <a:ext cx="128016" cy="210312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6656" y="3749040"/>
            <a:ext cx="10981944" cy="210312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886200"/>
            <a:ext cx="10424160" cy="365760"/>
          </a:xfrm>
          <a:prstGeom prst="rect">
            <a:avLst/>
          </a:prstGeom>
          <a:noFill/>
        </p:spPr>
        <p:txBody>
          <a:bodyPr wrap="square">
            <a:spAutoFit/>
          </a:bodyPr>
          <a:lstStyle/>
          <a:p>
            <a:pPr algn="l">
              <a:spcAft>
                <a:spcPts val="0"/>
              </a:spcAft>
            </a:pPr>
            <a:r>
              <a:rPr sz="1700" b="1">
                <a:solidFill>
                  <a:srgbClr val="1F2A44"/>
                </a:solidFill>
                <a:latin typeface="Calibri"/>
              </a:rPr>
              <a:t>She lives in one district and banks in another</a:t>
            </a:r>
          </a:p>
        </p:txBody>
      </p:sp>
      <p:sp>
        <p:nvSpPr>
          <p:cNvPr id="12" name="TextBox 11"/>
          <p:cNvSpPr txBox="1"/>
          <p:nvPr/>
        </p:nvSpPr>
        <p:spPr>
          <a:xfrm>
            <a:off x="960120" y="4315968"/>
            <a:ext cx="10424160" cy="640080"/>
          </a:xfrm>
          <a:prstGeom prst="rect">
            <a:avLst/>
          </a:prstGeom>
          <a:noFill/>
        </p:spPr>
        <p:txBody>
          <a:bodyPr wrap="square">
            <a:spAutoFit/>
          </a:bodyPr>
          <a:lstStyle/>
          <a:p>
            <a:pPr algn="l">
              <a:spcAft>
                <a:spcPts val="0"/>
              </a:spcAft>
            </a:pPr>
            <a:r>
              <a:rPr sz="1300" b="0">
                <a:solidFill>
                  <a:srgbClr val="5B6472"/>
                </a:solidFill>
                <a:latin typeface="Calibri"/>
              </a:rPr>
              <a:t>Client district 32 (Ceska Lipa, north Bohemia). Account district 1 (Prague). 409 of 4,500 owners are like this.</a:t>
            </a:r>
          </a:p>
        </p:txBody>
      </p:sp>
      <p:sp>
        <p:nvSpPr>
          <p:cNvPr id="13" name="TextBox 12"/>
          <p:cNvSpPr txBox="1"/>
          <p:nvPr/>
        </p:nvSpPr>
        <p:spPr>
          <a:xfrm>
            <a:off x="960120" y="5047488"/>
            <a:ext cx="10424160" cy="731520"/>
          </a:xfrm>
          <a:prstGeom prst="rect">
            <a:avLst/>
          </a:prstGeom>
          <a:noFill/>
        </p:spPr>
        <p:txBody>
          <a:bodyPr wrap="square">
            <a:spAutoFit/>
          </a:bodyPr>
          <a:lstStyle/>
          <a:p>
            <a:pPr algn="l">
              <a:spcAft>
                <a:spcPts val="0"/>
              </a:spcAft>
            </a:pPr>
            <a:r>
              <a:rPr sz="1300" b="1">
                <a:solidFill>
                  <a:srgbClr val="1F3864"/>
                </a:solidFill>
                <a:latin typeface="Calibri"/>
              </a:rPr>
              <a:t>INFO — logged. It is exactly why two of the ten questions deliberately use different districts: "clients per region" and "money per region" are not the same question.</a:t>
            </a:r>
          </a:p>
        </p:txBody>
      </p:sp>
      <p:sp>
        <p:nvSpPr>
          <p:cNvPr id="14" name="TextBox 13"/>
          <p:cNvSpPr txBox="1"/>
          <p:nvPr/>
        </p:nvSpPr>
        <p:spPr>
          <a:xfrm>
            <a:off x="548640" y="6172200"/>
            <a:ext cx="11155680" cy="457200"/>
          </a:xfrm>
          <a:prstGeom prst="rect">
            <a:avLst/>
          </a:prstGeom>
          <a:noFill/>
        </p:spPr>
        <p:txBody>
          <a:bodyPr wrap="square">
            <a:spAutoFit/>
          </a:bodyPr>
          <a:lstStyle/>
          <a:p>
            <a:pPr algn="l">
              <a:spcAft>
                <a:spcPts val="0"/>
              </a:spcAft>
            </a:pPr>
            <a:r>
              <a:rPr sz="1400" b="1">
                <a:solidFill>
                  <a:srgbClr val="1F3864"/>
                </a:solidFill>
                <a:latin typeface="Calibri"/>
              </a:rPr>
              <a:t>Neither is corrected. Cleaning makes a value usable; it does not make it true, and pretending otherwise is how a number nobody can reconcile gets published.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SAME QUERY, SIX LOGINS</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Now: who is allowed to read any of it</a:t>
            </a:r>
          </a:p>
        </p:txBody>
      </p:sp>
      <p:sp>
        <p:nvSpPr>
          <p:cNvPr id="4" name="TextBox 3"/>
          <p:cNvSpPr txBox="1"/>
          <p:nvPr/>
        </p:nvSpPr>
        <p:spPr>
          <a:xfrm>
            <a:off x="640080" y="1170432"/>
            <a:ext cx="10972800" cy="347472"/>
          </a:xfrm>
          <a:prstGeom prst="rect">
            <a:avLst/>
          </a:prstGeom>
          <a:noFill/>
        </p:spPr>
        <p:txBody>
          <a:bodyPr wrap="square">
            <a:spAutoFit/>
          </a:bodyPr>
          <a:lstStyle/>
          <a:p>
            <a:pPr algn="l">
              <a:spcAft>
                <a:spcPts val="600"/>
              </a:spcAft>
            </a:pPr>
            <a:r>
              <a:rPr sz="1550" b="0">
                <a:solidFill>
                  <a:srgbClr val="5B6472"/>
                </a:solidFill>
                <a:latin typeface="Calibri"/>
              </a:rPr>
              <a:t>One identical SQL statement. Six connections. Only the login differs — nobody wrote a different query, and nobody could.</a:t>
            </a:r>
          </a:p>
        </p:txBody>
      </p:sp>
      <p:sp>
        <p:nvSpPr>
          <p:cNvPr id="5" name="Rounded Rectangle 4"/>
          <p:cNvSpPr/>
          <p:nvPr/>
        </p:nvSpPr>
        <p:spPr>
          <a:xfrm>
            <a:off x="548640" y="1627632"/>
            <a:ext cx="11109960" cy="3840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82496"/>
            <a:ext cx="2011680" cy="274320"/>
          </a:xfrm>
          <a:prstGeom prst="rect">
            <a:avLst/>
          </a:prstGeom>
          <a:noFill/>
        </p:spPr>
        <p:txBody>
          <a:bodyPr wrap="square">
            <a:spAutoFit/>
          </a:bodyPr>
          <a:lstStyle/>
          <a:p>
            <a:pPr algn="l">
              <a:spcAft>
                <a:spcPts val="0"/>
              </a:spcAft>
            </a:pPr>
            <a:r>
              <a:rPr sz="1050" b="1">
                <a:solidFill>
                  <a:srgbClr val="FFFFFF"/>
                </a:solidFill>
                <a:latin typeface="Calibri"/>
              </a:rPr>
              <a:t>login</a:t>
            </a:r>
          </a:p>
        </p:txBody>
      </p:sp>
      <p:sp>
        <p:nvSpPr>
          <p:cNvPr id="7" name="TextBox 6"/>
          <p:cNvSpPr txBox="1"/>
          <p:nvPr/>
        </p:nvSpPr>
        <p:spPr>
          <a:xfrm>
            <a:off x="2834640" y="1682496"/>
            <a:ext cx="2011680" cy="274320"/>
          </a:xfrm>
          <a:prstGeom prst="rect">
            <a:avLst/>
          </a:prstGeom>
          <a:noFill/>
        </p:spPr>
        <p:txBody>
          <a:bodyPr wrap="square">
            <a:spAutoFit/>
          </a:bodyPr>
          <a:lstStyle/>
          <a:p>
            <a:pPr algn="l">
              <a:spcAft>
                <a:spcPts val="0"/>
              </a:spcAft>
            </a:pPr>
            <a:r>
              <a:rPr sz="1050" b="1">
                <a:solidFill>
                  <a:srgbClr val="FFFFFF"/>
                </a:solidFill>
                <a:latin typeface="Calibri"/>
              </a:rPr>
              <a:t>who they are</a:t>
            </a:r>
          </a:p>
        </p:txBody>
      </p:sp>
      <p:sp>
        <p:nvSpPr>
          <p:cNvPr id="8" name="TextBox 7"/>
          <p:cNvSpPr txBox="1"/>
          <p:nvPr/>
        </p:nvSpPr>
        <p:spPr>
          <a:xfrm>
            <a:off x="5715000" y="1682496"/>
            <a:ext cx="2011680" cy="274320"/>
          </a:xfrm>
          <a:prstGeom prst="rect">
            <a:avLst/>
          </a:prstGeom>
          <a:noFill/>
        </p:spPr>
        <p:txBody>
          <a:bodyPr wrap="square">
            <a:spAutoFit/>
          </a:bodyPr>
          <a:lstStyle/>
          <a:p>
            <a:pPr algn="l">
              <a:spcAft>
                <a:spcPts val="0"/>
              </a:spcAft>
            </a:pPr>
            <a:r>
              <a:rPr sz="1050" b="1">
                <a:solidFill>
                  <a:srgbClr val="FFFFFF"/>
                </a:solidFill>
                <a:latin typeface="Calibri"/>
              </a:rPr>
              <a:t>clients</a:t>
            </a:r>
          </a:p>
        </p:txBody>
      </p:sp>
      <p:sp>
        <p:nvSpPr>
          <p:cNvPr id="9" name="TextBox 8"/>
          <p:cNvSpPr txBox="1"/>
          <p:nvPr/>
        </p:nvSpPr>
        <p:spPr>
          <a:xfrm>
            <a:off x="6858000" y="1682496"/>
            <a:ext cx="2011680" cy="274320"/>
          </a:xfrm>
          <a:prstGeom prst="rect">
            <a:avLst/>
          </a:prstGeom>
          <a:noFill/>
        </p:spPr>
        <p:txBody>
          <a:bodyPr wrap="square">
            <a:spAutoFit/>
          </a:bodyPr>
          <a:lstStyle/>
          <a:p>
            <a:pPr algn="l">
              <a:spcAft>
                <a:spcPts val="0"/>
              </a:spcAft>
            </a:pPr>
            <a:r>
              <a:rPr sz="1050" b="1">
                <a:solidFill>
                  <a:srgbClr val="FFFFFF"/>
                </a:solidFill>
                <a:latin typeface="Calibri"/>
              </a:rPr>
              <a:t>accounts</a:t>
            </a:r>
          </a:p>
        </p:txBody>
      </p:sp>
      <p:sp>
        <p:nvSpPr>
          <p:cNvPr id="10" name="TextBox 9"/>
          <p:cNvSpPr txBox="1"/>
          <p:nvPr/>
        </p:nvSpPr>
        <p:spPr>
          <a:xfrm>
            <a:off x="8138160" y="1682496"/>
            <a:ext cx="2011680" cy="274320"/>
          </a:xfrm>
          <a:prstGeom prst="rect">
            <a:avLst/>
          </a:prstGeom>
          <a:noFill/>
        </p:spPr>
        <p:txBody>
          <a:bodyPr wrap="square">
            <a:spAutoFit/>
          </a:bodyPr>
          <a:lstStyle/>
          <a:p>
            <a:pPr algn="l">
              <a:spcAft>
                <a:spcPts val="0"/>
              </a:spcAft>
            </a:pPr>
            <a:r>
              <a:rPr sz="1050" b="1">
                <a:solidFill>
                  <a:srgbClr val="FFFFFF"/>
                </a:solidFill>
                <a:latin typeface="Calibri"/>
              </a:rPr>
              <a:t>loan value</a:t>
            </a:r>
          </a:p>
        </p:txBody>
      </p:sp>
      <p:sp>
        <p:nvSpPr>
          <p:cNvPr id="11" name="TextBox 10"/>
          <p:cNvSpPr txBox="1"/>
          <p:nvPr/>
        </p:nvSpPr>
        <p:spPr>
          <a:xfrm>
            <a:off x="9921240" y="1682496"/>
            <a:ext cx="2011680" cy="274320"/>
          </a:xfrm>
          <a:prstGeom prst="rect">
            <a:avLst/>
          </a:prstGeom>
          <a:noFill/>
        </p:spPr>
        <p:txBody>
          <a:bodyPr wrap="square">
            <a:spAutoFit/>
          </a:bodyPr>
          <a:lstStyle/>
          <a:p>
            <a:pPr algn="l">
              <a:spcAft>
                <a:spcPts val="0"/>
              </a:spcAft>
            </a:pPr>
            <a:r>
              <a:rPr sz="1050" b="1">
                <a:solidFill>
                  <a:srgbClr val="FFFFFF"/>
                </a:solidFill>
                <a:latin typeface="Calibri"/>
              </a:rPr>
              <a:t>sees 11409</a:t>
            </a:r>
          </a:p>
        </p:txBody>
      </p:sp>
      <p:sp>
        <p:nvSpPr>
          <p:cNvPr id="12" name="TextBox 11"/>
          <p:cNvSpPr txBox="1"/>
          <p:nvPr/>
        </p:nvSpPr>
        <p:spPr>
          <a:xfrm>
            <a:off x="10927080" y="1682496"/>
            <a:ext cx="2011680" cy="274320"/>
          </a:xfrm>
          <a:prstGeom prst="rect">
            <a:avLst/>
          </a:prstGeom>
          <a:noFill/>
        </p:spPr>
        <p:txBody>
          <a:bodyPr wrap="square">
            <a:spAutoFit/>
          </a:bodyPr>
          <a:lstStyle/>
          <a:p>
            <a:pPr algn="l">
              <a:spcAft>
                <a:spcPts val="0"/>
              </a:spcAft>
            </a:pPr>
            <a:r>
              <a:rPr sz="1050" b="1">
                <a:solidFill>
                  <a:srgbClr val="FFFFFF"/>
                </a:solidFill>
                <a:latin typeface="Calibri"/>
              </a:rPr>
              <a:t>sees 3763</a:t>
            </a:r>
          </a:p>
        </p:txBody>
      </p:sp>
      <p:sp>
        <p:nvSpPr>
          <p:cNvPr id="13" name="Rounded Rectangle 12"/>
          <p:cNvSpPr/>
          <p:nvPr/>
        </p:nvSpPr>
        <p:spPr>
          <a:xfrm>
            <a:off x="548640" y="2048256"/>
            <a:ext cx="11109960" cy="603504"/>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3704"/>
            <a:ext cx="2103120" cy="292608"/>
          </a:xfrm>
          <a:prstGeom prst="rect">
            <a:avLst/>
          </a:prstGeom>
          <a:noFill/>
        </p:spPr>
        <p:txBody>
          <a:bodyPr wrap="square">
            <a:spAutoFit/>
          </a:bodyPr>
          <a:lstStyle/>
          <a:p>
            <a:pPr algn="l">
              <a:spcAft>
                <a:spcPts val="0"/>
              </a:spcAft>
            </a:pPr>
            <a:r>
              <a:rPr sz="1250" b="1">
                <a:solidFill>
                  <a:srgbClr val="15803D"/>
                </a:solidFill>
                <a:latin typeface="Calibri"/>
              </a:rPr>
              <a:t>client_11409</a:t>
            </a:r>
          </a:p>
        </p:txBody>
      </p:sp>
      <p:sp>
        <p:nvSpPr>
          <p:cNvPr id="15" name="TextBox 14"/>
          <p:cNvSpPr txBox="1"/>
          <p:nvPr/>
        </p:nvSpPr>
        <p:spPr>
          <a:xfrm>
            <a:off x="2834640" y="2221992"/>
            <a:ext cx="2834640" cy="274320"/>
          </a:xfrm>
          <a:prstGeom prst="rect">
            <a:avLst/>
          </a:prstGeom>
          <a:noFill/>
        </p:spPr>
        <p:txBody>
          <a:bodyPr wrap="square">
            <a:spAutoFit/>
          </a:bodyPr>
          <a:lstStyle/>
          <a:p>
            <a:pPr algn="l">
              <a:spcAft>
                <a:spcPts val="0"/>
              </a:spcAft>
            </a:pPr>
            <a:r>
              <a:rPr sz="1150" b="0">
                <a:solidFill>
                  <a:srgbClr val="5B6472"/>
                </a:solidFill>
                <a:latin typeface="Calibri"/>
              </a:rPr>
              <a:t>the customer herself</a:t>
            </a:r>
          </a:p>
        </p:txBody>
      </p:sp>
      <p:sp>
        <p:nvSpPr>
          <p:cNvPr id="16" name="TextBox 15"/>
          <p:cNvSpPr txBox="1"/>
          <p:nvPr/>
        </p:nvSpPr>
        <p:spPr>
          <a:xfrm>
            <a:off x="5715000" y="2212848"/>
            <a:ext cx="1463040" cy="274320"/>
          </a:xfrm>
          <a:prstGeom prst="rect">
            <a:avLst/>
          </a:prstGeom>
          <a:noFill/>
        </p:spPr>
        <p:txBody>
          <a:bodyPr wrap="square">
            <a:spAutoFit/>
          </a:bodyPr>
          <a:lstStyle/>
          <a:p>
            <a:pPr algn="l">
              <a:spcAft>
                <a:spcPts val="0"/>
              </a:spcAft>
            </a:pPr>
            <a:r>
              <a:rPr sz="1200" b="0">
                <a:solidFill>
                  <a:srgbClr val="1F2A44"/>
                </a:solidFill>
                <a:latin typeface="Calibri"/>
              </a:rPr>
              <a:t>1</a:t>
            </a:r>
          </a:p>
        </p:txBody>
      </p:sp>
      <p:sp>
        <p:nvSpPr>
          <p:cNvPr id="17" name="TextBox 16"/>
          <p:cNvSpPr txBox="1"/>
          <p:nvPr/>
        </p:nvSpPr>
        <p:spPr>
          <a:xfrm>
            <a:off x="6858000" y="2212848"/>
            <a:ext cx="1463040" cy="274320"/>
          </a:xfrm>
          <a:prstGeom prst="rect">
            <a:avLst/>
          </a:prstGeom>
          <a:noFill/>
        </p:spPr>
        <p:txBody>
          <a:bodyPr wrap="square">
            <a:spAutoFit/>
          </a:bodyPr>
          <a:lstStyle/>
          <a:p>
            <a:pPr algn="l">
              <a:spcAft>
                <a:spcPts val="0"/>
              </a:spcAft>
            </a:pPr>
            <a:r>
              <a:rPr sz="1200" b="0">
                <a:solidFill>
                  <a:srgbClr val="1F2A44"/>
                </a:solidFill>
                <a:latin typeface="Calibri"/>
              </a:rPr>
              <a:t>1</a:t>
            </a:r>
          </a:p>
        </p:txBody>
      </p:sp>
      <p:sp>
        <p:nvSpPr>
          <p:cNvPr id="18" name="TextBox 17"/>
          <p:cNvSpPr txBox="1"/>
          <p:nvPr/>
        </p:nvSpPr>
        <p:spPr>
          <a:xfrm>
            <a:off x="8138160" y="2212848"/>
            <a:ext cx="1463040" cy="274320"/>
          </a:xfrm>
          <a:prstGeom prst="rect">
            <a:avLst/>
          </a:prstGeom>
          <a:noFill/>
        </p:spPr>
        <p:txBody>
          <a:bodyPr wrap="square">
            <a:spAutoFit/>
          </a:bodyPr>
          <a:lstStyle/>
          <a:p>
            <a:pPr algn="l">
              <a:spcAft>
                <a:spcPts val="0"/>
              </a:spcAft>
            </a:pPr>
            <a:r>
              <a:rPr sz="1200" b="0">
                <a:solidFill>
                  <a:srgbClr val="1F2A44"/>
                </a:solidFill>
                <a:latin typeface="Calibri"/>
              </a:rPr>
              <a:t>39,576</a:t>
            </a:r>
          </a:p>
        </p:txBody>
      </p:sp>
      <p:sp>
        <p:nvSpPr>
          <p:cNvPr id="19" name="TextBox 18"/>
          <p:cNvSpPr txBox="1"/>
          <p:nvPr/>
        </p:nvSpPr>
        <p:spPr>
          <a:xfrm>
            <a:off x="9921240" y="2212848"/>
            <a:ext cx="1005840" cy="274320"/>
          </a:xfrm>
          <a:prstGeom prst="rect">
            <a:avLst/>
          </a:prstGeom>
          <a:noFill/>
        </p:spPr>
        <p:txBody>
          <a:bodyPr wrap="square">
            <a:spAutoFit/>
          </a:bodyPr>
          <a:lstStyle/>
          <a:p>
            <a:pPr algn="l">
              <a:spcAft>
                <a:spcPts val="0"/>
              </a:spcAft>
            </a:pPr>
            <a:r>
              <a:rPr sz="1200" b="1">
                <a:solidFill>
                  <a:srgbClr val="15803D"/>
                </a:solidFill>
                <a:latin typeface="Calibri"/>
              </a:rPr>
              <a:t>YES</a:t>
            </a:r>
          </a:p>
        </p:txBody>
      </p:sp>
      <p:sp>
        <p:nvSpPr>
          <p:cNvPr id="20" name="TextBox 19"/>
          <p:cNvSpPr txBox="1"/>
          <p:nvPr/>
        </p:nvSpPr>
        <p:spPr>
          <a:xfrm>
            <a:off x="10927080" y="2212848"/>
            <a:ext cx="1005840" cy="274320"/>
          </a:xfrm>
          <a:prstGeom prst="rect">
            <a:avLst/>
          </a:prstGeom>
          <a:noFill/>
        </p:spPr>
        <p:txBody>
          <a:bodyPr wrap="square">
            <a:spAutoFit/>
          </a:bodyPr>
          <a:lstStyle/>
          <a:p>
            <a:pPr algn="l">
              <a:spcAft>
                <a:spcPts val="0"/>
              </a:spcAft>
            </a:pPr>
            <a:r>
              <a:rPr sz="1200" b="0">
                <a:solidFill>
                  <a:srgbClr val="5B6472"/>
                </a:solidFill>
                <a:latin typeface="Calibri"/>
              </a:rPr>
              <a:t>no</a:t>
            </a:r>
          </a:p>
        </p:txBody>
      </p:sp>
      <p:sp>
        <p:nvSpPr>
          <p:cNvPr id="21" name="Rounded Rectangle 20"/>
          <p:cNvSpPr/>
          <p:nvPr/>
        </p:nvSpPr>
        <p:spPr>
          <a:xfrm>
            <a:off x="548640" y="2724912"/>
            <a:ext cx="11109960" cy="603504"/>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2880360"/>
            <a:ext cx="2103120" cy="292608"/>
          </a:xfrm>
          <a:prstGeom prst="rect">
            <a:avLst/>
          </a:prstGeom>
          <a:noFill/>
        </p:spPr>
        <p:txBody>
          <a:bodyPr wrap="square">
            <a:spAutoFit/>
          </a:bodyPr>
          <a:lstStyle/>
          <a:p>
            <a:pPr algn="l">
              <a:spcAft>
                <a:spcPts val="0"/>
              </a:spcAft>
            </a:pPr>
            <a:r>
              <a:rPr sz="1250" b="1">
                <a:solidFill>
                  <a:srgbClr val="15803D"/>
                </a:solidFill>
                <a:latin typeface="Calibri"/>
              </a:rPr>
              <a:t>client_3763</a:t>
            </a:r>
          </a:p>
        </p:txBody>
      </p:sp>
      <p:sp>
        <p:nvSpPr>
          <p:cNvPr id="23" name="TextBox 22"/>
          <p:cNvSpPr txBox="1"/>
          <p:nvPr/>
        </p:nvSpPr>
        <p:spPr>
          <a:xfrm>
            <a:off x="2834640" y="2898648"/>
            <a:ext cx="2834640" cy="274320"/>
          </a:xfrm>
          <a:prstGeom prst="rect">
            <a:avLst/>
          </a:prstGeom>
          <a:noFill/>
        </p:spPr>
        <p:txBody>
          <a:bodyPr wrap="square">
            <a:spAutoFit/>
          </a:bodyPr>
          <a:lstStyle/>
          <a:p>
            <a:pPr algn="l">
              <a:spcAft>
                <a:spcPts val="0"/>
              </a:spcAft>
            </a:pPr>
            <a:r>
              <a:rPr sz="1150" b="0">
                <a:solidFill>
                  <a:srgbClr val="5B6472"/>
                </a:solidFill>
                <a:latin typeface="Calibri"/>
              </a:rPr>
              <a:t>another customer, same region</a:t>
            </a:r>
          </a:p>
        </p:txBody>
      </p:sp>
      <p:sp>
        <p:nvSpPr>
          <p:cNvPr id="24" name="TextBox 23"/>
          <p:cNvSpPr txBox="1"/>
          <p:nvPr/>
        </p:nvSpPr>
        <p:spPr>
          <a:xfrm>
            <a:off x="5715000" y="2889504"/>
            <a:ext cx="1463040" cy="274320"/>
          </a:xfrm>
          <a:prstGeom prst="rect">
            <a:avLst/>
          </a:prstGeom>
          <a:noFill/>
        </p:spPr>
        <p:txBody>
          <a:bodyPr wrap="square">
            <a:spAutoFit/>
          </a:bodyPr>
          <a:lstStyle/>
          <a:p>
            <a:pPr algn="l">
              <a:spcAft>
                <a:spcPts val="0"/>
              </a:spcAft>
            </a:pPr>
            <a:r>
              <a:rPr sz="1200" b="0">
                <a:solidFill>
                  <a:srgbClr val="1F2A44"/>
                </a:solidFill>
                <a:latin typeface="Calibri"/>
              </a:rPr>
              <a:t>1</a:t>
            </a:r>
          </a:p>
        </p:txBody>
      </p:sp>
      <p:sp>
        <p:nvSpPr>
          <p:cNvPr id="25" name="TextBox 24"/>
          <p:cNvSpPr txBox="1"/>
          <p:nvPr/>
        </p:nvSpPr>
        <p:spPr>
          <a:xfrm>
            <a:off x="6858000" y="2889504"/>
            <a:ext cx="1463040" cy="274320"/>
          </a:xfrm>
          <a:prstGeom prst="rect">
            <a:avLst/>
          </a:prstGeom>
          <a:noFill/>
        </p:spPr>
        <p:txBody>
          <a:bodyPr wrap="square">
            <a:spAutoFit/>
          </a:bodyPr>
          <a:lstStyle/>
          <a:p>
            <a:pPr algn="l">
              <a:spcAft>
                <a:spcPts val="0"/>
              </a:spcAft>
            </a:pPr>
            <a:r>
              <a:rPr sz="1200" b="0">
                <a:solidFill>
                  <a:srgbClr val="1F2A44"/>
                </a:solidFill>
                <a:latin typeface="Calibri"/>
              </a:rPr>
              <a:t>1</a:t>
            </a:r>
          </a:p>
        </p:txBody>
      </p:sp>
      <p:sp>
        <p:nvSpPr>
          <p:cNvPr id="26" name="TextBox 25"/>
          <p:cNvSpPr txBox="1"/>
          <p:nvPr/>
        </p:nvSpPr>
        <p:spPr>
          <a:xfrm>
            <a:off x="8138160" y="2889504"/>
            <a:ext cx="1463040" cy="274320"/>
          </a:xfrm>
          <a:prstGeom prst="rect">
            <a:avLst/>
          </a:prstGeom>
          <a:noFill/>
        </p:spPr>
        <p:txBody>
          <a:bodyPr wrap="square">
            <a:spAutoFit/>
          </a:bodyPr>
          <a:lstStyle/>
          <a:p>
            <a:pPr algn="l">
              <a:spcAft>
                <a:spcPts val="0"/>
              </a:spcAft>
            </a:pPr>
            <a:r>
              <a:rPr sz="1200" b="0">
                <a:solidFill>
                  <a:srgbClr val="1F2A44"/>
                </a:solidFill>
                <a:latin typeface="Calibri"/>
              </a:rPr>
              <a:t>123,216</a:t>
            </a:r>
          </a:p>
        </p:txBody>
      </p:sp>
      <p:sp>
        <p:nvSpPr>
          <p:cNvPr id="27" name="TextBox 26"/>
          <p:cNvSpPr txBox="1"/>
          <p:nvPr/>
        </p:nvSpPr>
        <p:spPr>
          <a:xfrm>
            <a:off x="9921240" y="2889504"/>
            <a:ext cx="1005840" cy="274320"/>
          </a:xfrm>
          <a:prstGeom prst="rect">
            <a:avLst/>
          </a:prstGeom>
          <a:noFill/>
        </p:spPr>
        <p:txBody>
          <a:bodyPr wrap="square">
            <a:spAutoFit/>
          </a:bodyPr>
          <a:lstStyle/>
          <a:p>
            <a:pPr algn="l">
              <a:spcAft>
                <a:spcPts val="0"/>
              </a:spcAft>
            </a:pPr>
            <a:r>
              <a:rPr sz="1200" b="0">
                <a:solidFill>
                  <a:srgbClr val="5B6472"/>
                </a:solidFill>
                <a:latin typeface="Calibri"/>
              </a:rPr>
              <a:t>no</a:t>
            </a:r>
          </a:p>
        </p:txBody>
      </p:sp>
      <p:sp>
        <p:nvSpPr>
          <p:cNvPr id="28" name="TextBox 27"/>
          <p:cNvSpPr txBox="1"/>
          <p:nvPr/>
        </p:nvSpPr>
        <p:spPr>
          <a:xfrm>
            <a:off x="10927080" y="2889504"/>
            <a:ext cx="1005840" cy="274320"/>
          </a:xfrm>
          <a:prstGeom prst="rect">
            <a:avLst/>
          </a:prstGeom>
          <a:noFill/>
        </p:spPr>
        <p:txBody>
          <a:bodyPr wrap="square">
            <a:spAutoFit/>
          </a:bodyPr>
          <a:lstStyle/>
          <a:p>
            <a:pPr algn="l">
              <a:spcAft>
                <a:spcPts val="0"/>
              </a:spcAft>
            </a:pPr>
            <a:r>
              <a:rPr sz="1200" b="1">
                <a:solidFill>
                  <a:srgbClr val="15803D"/>
                </a:solidFill>
                <a:latin typeface="Calibri"/>
              </a:rPr>
              <a:t>YES</a:t>
            </a:r>
          </a:p>
        </p:txBody>
      </p:sp>
      <p:sp>
        <p:nvSpPr>
          <p:cNvPr id="29" name="Rounded Rectangle 28"/>
          <p:cNvSpPr/>
          <p:nvPr/>
        </p:nvSpPr>
        <p:spPr>
          <a:xfrm>
            <a:off x="548640" y="3401568"/>
            <a:ext cx="11109960" cy="603504"/>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557016"/>
            <a:ext cx="2103120" cy="292608"/>
          </a:xfrm>
          <a:prstGeom prst="rect">
            <a:avLst/>
          </a:prstGeom>
          <a:noFill/>
        </p:spPr>
        <p:txBody>
          <a:bodyPr wrap="square">
            <a:spAutoFit/>
          </a:bodyPr>
          <a:lstStyle/>
          <a:p>
            <a:pPr algn="l">
              <a:spcAft>
                <a:spcPts val="0"/>
              </a:spcAft>
            </a:pPr>
            <a:r>
              <a:rPr sz="1250" b="1">
                <a:solidFill>
                  <a:srgbClr val="1F3864"/>
                </a:solidFill>
                <a:latin typeface="Calibri"/>
              </a:rPr>
              <a:t>rm_north</a:t>
            </a:r>
          </a:p>
        </p:txBody>
      </p:sp>
      <p:sp>
        <p:nvSpPr>
          <p:cNvPr id="31" name="TextBox 30"/>
          <p:cNvSpPr txBox="1"/>
          <p:nvPr/>
        </p:nvSpPr>
        <p:spPr>
          <a:xfrm>
            <a:off x="2834640" y="3575304"/>
            <a:ext cx="2834640" cy="274320"/>
          </a:xfrm>
          <a:prstGeom prst="rect">
            <a:avLst/>
          </a:prstGeom>
          <a:noFill/>
        </p:spPr>
        <p:txBody>
          <a:bodyPr wrap="square">
            <a:spAutoFit/>
          </a:bodyPr>
          <a:lstStyle/>
          <a:p>
            <a:pPr algn="l">
              <a:spcAft>
                <a:spcPts val="0"/>
              </a:spcAft>
            </a:pPr>
            <a:r>
              <a:rPr sz="1150" b="0">
                <a:solidFill>
                  <a:srgbClr val="5B6472"/>
                </a:solidFill>
                <a:latin typeface="Calibri"/>
              </a:rPr>
              <a:t>their relationship manager</a:t>
            </a:r>
          </a:p>
        </p:txBody>
      </p:sp>
      <p:sp>
        <p:nvSpPr>
          <p:cNvPr id="32" name="TextBox 31"/>
          <p:cNvSpPr txBox="1"/>
          <p:nvPr/>
        </p:nvSpPr>
        <p:spPr>
          <a:xfrm>
            <a:off x="5715000" y="3566160"/>
            <a:ext cx="1463040" cy="274320"/>
          </a:xfrm>
          <a:prstGeom prst="rect">
            <a:avLst/>
          </a:prstGeom>
          <a:noFill/>
        </p:spPr>
        <p:txBody>
          <a:bodyPr wrap="square">
            <a:spAutoFit/>
          </a:bodyPr>
          <a:lstStyle/>
          <a:p>
            <a:pPr algn="l">
              <a:spcAft>
                <a:spcPts val="0"/>
              </a:spcAft>
            </a:pPr>
            <a:r>
              <a:rPr sz="1200" b="0">
                <a:solidFill>
                  <a:srgbClr val="1F2A44"/>
                </a:solidFill>
                <a:latin typeface="Calibri"/>
              </a:rPr>
              <a:t>1,481</a:t>
            </a:r>
          </a:p>
        </p:txBody>
      </p:sp>
      <p:sp>
        <p:nvSpPr>
          <p:cNvPr id="33" name="TextBox 32"/>
          <p:cNvSpPr txBox="1"/>
          <p:nvPr/>
        </p:nvSpPr>
        <p:spPr>
          <a:xfrm>
            <a:off x="6858000" y="3566160"/>
            <a:ext cx="1463040" cy="274320"/>
          </a:xfrm>
          <a:prstGeom prst="rect">
            <a:avLst/>
          </a:prstGeom>
          <a:noFill/>
        </p:spPr>
        <p:txBody>
          <a:bodyPr wrap="square">
            <a:spAutoFit/>
          </a:bodyPr>
          <a:lstStyle/>
          <a:p>
            <a:pPr algn="l">
              <a:spcAft>
                <a:spcPts val="0"/>
              </a:spcAft>
            </a:pPr>
            <a:r>
              <a:rPr sz="1200" b="0">
                <a:solidFill>
                  <a:srgbClr val="1F2A44"/>
                </a:solidFill>
                <a:latin typeface="Calibri"/>
              </a:rPr>
              <a:t>1,241</a:t>
            </a:r>
          </a:p>
        </p:txBody>
      </p:sp>
      <p:sp>
        <p:nvSpPr>
          <p:cNvPr id="34" name="TextBox 33"/>
          <p:cNvSpPr txBox="1"/>
          <p:nvPr/>
        </p:nvSpPr>
        <p:spPr>
          <a:xfrm>
            <a:off x="8138160" y="3566160"/>
            <a:ext cx="1463040" cy="274320"/>
          </a:xfrm>
          <a:prstGeom prst="rect">
            <a:avLst/>
          </a:prstGeom>
          <a:noFill/>
        </p:spPr>
        <p:txBody>
          <a:bodyPr wrap="square">
            <a:spAutoFit/>
          </a:bodyPr>
          <a:lstStyle/>
          <a:p>
            <a:pPr algn="l">
              <a:spcAft>
                <a:spcPts val="0"/>
              </a:spcAft>
            </a:pPr>
            <a:r>
              <a:rPr sz="1200" b="0">
                <a:solidFill>
                  <a:srgbClr val="1F2A44"/>
                </a:solidFill>
                <a:latin typeface="Calibri"/>
              </a:rPr>
              <a:t>25,392,348</a:t>
            </a:r>
          </a:p>
        </p:txBody>
      </p:sp>
      <p:sp>
        <p:nvSpPr>
          <p:cNvPr id="35" name="TextBox 34"/>
          <p:cNvSpPr txBox="1"/>
          <p:nvPr/>
        </p:nvSpPr>
        <p:spPr>
          <a:xfrm>
            <a:off x="9921240" y="3566160"/>
            <a:ext cx="1005840" cy="274320"/>
          </a:xfrm>
          <a:prstGeom prst="rect">
            <a:avLst/>
          </a:prstGeom>
          <a:noFill/>
        </p:spPr>
        <p:txBody>
          <a:bodyPr wrap="square">
            <a:spAutoFit/>
          </a:bodyPr>
          <a:lstStyle/>
          <a:p>
            <a:pPr algn="l">
              <a:spcAft>
                <a:spcPts val="0"/>
              </a:spcAft>
            </a:pPr>
            <a:r>
              <a:rPr sz="1200" b="1">
                <a:solidFill>
                  <a:srgbClr val="15803D"/>
                </a:solidFill>
                <a:latin typeface="Calibri"/>
              </a:rPr>
              <a:t>YES</a:t>
            </a:r>
          </a:p>
        </p:txBody>
      </p:sp>
      <p:sp>
        <p:nvSpPr>
          <p:cNvPr id="36" name="TextBox 35"/>
          <p:cNvSpPr txBox="1"/>
          <p:nvPr/>
        </p:nvSpPr>
        <p:spPr>
          <a:xfrm>
            <a:off x="10927080" y="3566160"/>
            <a:ext cx="1005840" cy="274320"/>
          </a:xfrm>
          <a:prstGeom prst="rect">
            <a:avLst/>
          </a:prstGeom>
          <a:noFill/>
        </p:spPr>
        <p:txBody>
          <a:bodyPr wrap="square">
            <a:spAutoFit/>
          </a:bodyPr>
          <a:lstStyle/>
          <a:p>
            <a:pPr algn="l">
              <a:spcAft>
                <a:spcPts val="0"/>
              </a:spcAft>
            </a:pPr>
            <a:r>
              <a:rPr sz="1200" b="1">
                <a:solidFill>
                  <a:srgbClr val="15803D"/>
                </a:solidFill>
                <a:latin typeface="Calibri"/>
              </a:rPr>
              <a:t>YES</a:t>
            </a:r>
          </a:p>
        </p:txBody>
      </p:sp>
      <p:sp>
        <p:nvSpPr>
          <p:cNvPr id="37" name="Rounded Rectangle 36"/>
          <p:cNvSpPr/>
          <p:nvPr/>
        </p:nvSpPr>
        <p:spPr>
          <a:xfrm>
            <a:off x="548640" y="4078224"/>
            <a:ext cx="11109960" cy="603504"/>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233672"/>
            <a:ext cx="2103120" cy="292608"/>
          </a:xfrm>
          <a:prstGeom prst="rect">
            <a:avLst/>
          </a:prstGeom>
          <a:noFill/>
        </p:spPr>
        <p:txBody>
          <a:bodyPr wrap="square">
            <a:spAutoFit/>
          </a:bodyPr>
          <a:lstStyle/>
          <a:p>
            <a:pPr algn="l">
              <a:spcAft>
                <a:spcPts val="0"/>
              </a:spcAft>
            </a:pPr>
            <a:r>
              <a:rPr sz="1250" b="1">
                <a:solidFill>
                  <a:srgbClr val="1F3864"/>
                </a:solidFill>
                <a:latin typeface="Calibri"/>
              </a:rPr>
              <a:t>rm_south</a:t>
            </a:r>
          </a:p>
        </p:txBody>
      </p:sp>
      <p:sp>
        <p:nvSpPr>
          <p:cNvPr id="39" name="TextBox 38"/>
          <p:cNvSpPr txBox="1"/>
          <p:nvPr/>
        </p:nvSpPr>
        <p:spPr>
          <a:xfrm>
            <a:off x="2834640" y="4251960"/>
            <a:ext cx="2834640" cy="274320"/>
          </a:xfrm>
          <a:prstGeom prst="rect">
            <a:avLst/>
          </a:prstGeom>
          <a:noFill/>
        </p:spPr>
        <p:txBody>
          <a:bodyPr wrap="square">
            <a:spAutoFit/>
          </a:bodyPr>
          <a:lstStyle/>
          <a:p>
            <a:pPr algn="l">
              <a:spcAft>
                <a:spcPts val="0"/>
              </a:spcAft>
            </a:pPr>
            <a:r>
              <a:rPr sz="1150" b="0">
                <a:solidFill>
                  <a:srgbClr val="5B6472"/>
                </a:solidFill>
                <a:latin typeface="Calibri"/>
              </a:rPr>
              <a:t>a different manager</a:t>
            </a:r>
          </a:p>
        </p:txBody>
      </p:sp>
      <p:sp>
        <p:nvSpPr>
          <p:cNvPr id="40" name="TextBox 39"/>
          <p:cNvSpPr txBox="1"/>
          <p:nvPr/>
        </p:nvSpPr>
        <p:spPr>
          <a:xfrm>
            <a:off x="5715000" y="4242816"/>
            <a:ext cx="1463040" cy="274320"/>
          </a:xfrm>
          <a:prstGeom prst="rect">
            <a:avLst/>
          </a:prstGeom>
          <a:noFill/>
        </p:spPr>
        <p:txBody>
          <a:bodyPr wrap="square">
            <a:spAutoFit/>
          </a:bodyPr>
          <a:lstStyle/>
          <a:p>
            <a:pPr algn="l">
              <a:spcAft>
                <a:spcPts val="0"/>
              </a:spcAft>
            </a:pPr>
            <a:r>
              <a:rPr sz="1200" b="0">
                <a:solidFill>
                  <a:srgbClr val="1F2A44"/>
                </a:solidFill>
                <a:latin typeface="Calibri"/>
              </a:rPr>
              <a:t>1,386</a:t>
            </a:r>
          </a:p>
        </p:txBody>
      </p:sp>
      <p:sp>
        <p:nvSpPr>
          <p:cNvPr id="41" name="TextBox 40"/>
          <p:cNvSpPr txBox="1"/>
          <p:nvPr/>
        </p:nvSpPr>
        <p:spPr>
          <a:xfrm>
            <a:off x="6858000" y="4242816"/>
            <a:ext cx="1463040" cy="274320"/>
          </a:xfrm>
          <a:prstGeom prst="rect">
            <a:avLst/>
          </a:prstGeom>
          <a:noFill/>
        </p:spPr>
        <p:txBody>
          <a:bodyPr wrap="square">
            <a:spAutoFit/>
          </a:bodyPr>
          <a:lstStyle/>
          <a:p>
            <a:pPr algn="l">
              <a:spcAft>
                <a:spcPts val="0"/>
              </a:spcAft>
            </a:pPr>
            <a:r>
              <a:rPr sz="1200" b="0">
                <a:solidFill>
                  <a:srgbClr val="1F2A44"/>
                </a:solidFill>
                <a:latin typeface="Calibri"/>
              </a:rPr>
              <a:t>1,157</a:t>
            </a:r>
          </a:p>
        </p:txBody>
      </p:sp>
      <p:sp>
        <p:nvSpPr>
          <p:cNvPr id="42" name="TextBox 41"/>
          <p:cNvSpPr txBox="1"/>
          <p:nvPr/>
        </p:nvSpPr>
        <p:spPr>
          <a:xfrm>
            <a:off x="8138160" y="4242816"/>
            <a:ext cx="1463040" cy="274320"/>
          </a:xfrm>
          <a:prstGeom prst="rect">
            <a:avLst/>
          </a:prstGeom>
          <a:noFill/>
        </p:spPr>
        <p:txBody>
          <a:bodyPr wrap="square">
            <a:spAutoFit/>
          </a:bodyPr>
          <a:lstStyle/>
          <a:p>
            <a:pPr algn="l">
              <a:spcAft>
                <a:spcPts val="0"/>
              </a:spcAft>
            </a:pPr>
            <a:r>
              <a:rPr sz="1200" b="0">
                <a:solidFill>
                  <a:srgbClr val="1F2A44"/>
                </a:solidFill>
                <a:latin typeface="Calibri"/>
              </a:rPr>
              <a:t>28,938,528</a:t>
            </a:r>
          </a:p>
        </p:txBody>
      </p:sp>
      <p:sp>
        <p:nvSpPr>
          <p:cNvPr id="43" name="TextBox 42"/>
          <p:cNvSpPr txBox="1"/>
          <p:nvPr/>
        </p:nvSpPr>
        <p:spPr>
          <a:xfrm>
            <a:off x="9921240" y="4242816"/>
            <a:ext cx="1005840" cy="274320"/>
          </a:xfrm>
          <a:prstGeom prst="rect">
            <a:avLst/>
          </a:prstGeom>
          <a:noFill/>
        </p:spPr>
        <p:txBody>
          <a:bodyPr wrap="square">
            <a:spAutoFit/>
          </a:bodyPr>
          <a:lstStyle/>
          <a:p>
            <a:pPr algn="l">
              <a:spcAft>
                <a:spcPts val="0"/>
              </a:spcAft>
            </a:pPr>
            <a:r>
              <a:rPr sz="1200" b="0">
                <a:solidFill>
                  <a:srgbClr val="5B6472"/>
                </a:solidFill>
                <a:latin typeface="Calibri"/>
              </a:rPr>
              <a:t>no</a:t>
            </a:r>
          </a:p>
        </p:txBody>
      </p:sp>
      <p:sp>
        <p:nvSpPr>
          <p:cNvPr id="44" name="TextBox 43"/>
          <p:cNvSpPr txBox="1"/>
          <p:nvPr/>
        </p:nvSpPr>
        <p:spPr>
          <a:xfrm>
            <a:off x="10927080" y="4242816"/>
            <a:ext cx="1005840" cy="274320"/>
          </a:xfrm>
          <a:prstGeom prst="rect">
            <a:avLst/>
          </a:prstGeom>
          <a:noFill/>
        </p:spPr>
        <p:txBody>
          <a:bodyPr wrap="square">
            <a:spAutoFit/>
          </a:bodyPr>
          <a:lstStyle/>
          <a:p>
            <a:pPr algn="l">
              <a:spcAft>
                <a:spcPts val="0"/>
              </a:spcAft>
            </a:pPr>
            <a:r>
              <a:rPr sz="1200" b="0">
                <a:solidFill>
                  <a:srgbClr val="5B6472"/>
                </a:solidFill>
                <a:latin typeface="Calibri"/>
              </a:rPr>
              <a:t>no</a:t>
            </a:r>
          </a:p>
        </p:txBody>
      </p:sp>
      <p:sp>
        <p:nvSpPr>
          <p:cNvPr id="45" name="Rounded Rectangle 44"/>
          <p:cNvSpPr/>
          <p:nvPr/>
        </p:nvSpPr>
        <p:spPr>
          <a:xfrm>
            <a:off x="548640" y="4754880"/>
            <a:ext cx="11109960" cy="603504"/>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4910328"/>
            <a:ext cx="2103120" cy="292608"/>
          </a:xfrm>
          <a:prstGeom prst="rect">
            <a:avLst/>
          </a:prstGeom>
          <a:noFill/>
        </p:spPr>
        <p:txBody>
          <a:bodyPr wrap="square">
            <a:spAutoFit/>
          </a:bodyPr>
          <a:lstStyle/>
          <a:p>
            <a:pPr algn="l">
              <a:spcAft>
                <a:spcPts val="0"/>
              </a:spcAft>
            </a:pPr>
            <a:r>
              <a:rPr sz="1250" b="1">
                <a:solidFill>
                  <a:srgbClr val="5B6472"/>
                </a:solidFill>
                <a:latin typeface="Calibri"/>
              </a:rPr>
              <a:t>rm_unassigned</a:t>
            </a:r>
          </a:p>
        </p:txBody>
      </p:sp>
      <p:sp>
        <p:nvSpPr>
          <p:cNvPr id="47" name="TextBox 46"/>
          <p:cNvSpPr txBox="1"/>
          <p:nvPr/>
        </p:nvSpPr>
        <p:spPr>
          <a:xfrm>
            <a:off x="2834640" y="4928616"/>
            <a:ext cx="2834640" cy="274320"/>
          </a:xfrm>
          <a:prstGeom prst="rect">
            <a:avLst/>
          </a:prstGeom>
          <a:noFill/>
        </p:spPr>
        <p:txBody>
          <a:bodyPr wrap="square">
            <a:spAutoFit/>
          </a:bodyPr>
          <a:lstStyle/>
          <a:p>
            <a:pPr algn="l">
              <a:spcAft>
                <a:spcPts val="0"/>
              </a:spcAft>
            </a:pPr>
            <a:r>
              <a:rPr sz="1150" b="0">
                <a:solidFill>
                  <a:srgbClr val="5B6472"/>
                </a:solidFill>
                <a:latin typeface="Calibri"/>
              </a:rPr>
              <a:t>a new employee, no book yet</a:t>
            </a:r>
          </a:p>
        </p:txBody>
      </p:sp>
      <p:sp>
        <p:nvSpPr>
          <p:cNvPr id="48" name="TextBox 47"/>
          <p:cNvSpPr txBox="1"/>
          <p:nvPr/>
        </p:nvSpPr>
        <p:spPr>
          <a:xfrm>
            <a:off x="5715000" y="4919472"/>
            <a:ext cx="1463040" cy="274320"/>
          </a:xfrm>
          <a:prstGeom prst="rect">
            <a:avLst/>
          </a:prstGeom>
          <a:noFill/>
        </p:spPr>
        <p:txBody>
          <a:bodyPr wrap="square">
            <a:spAutoFit/>
          </a:bodyPr>
          <a:lstStyle/>
          <a:p>
            <a:pPr algn="l">
              <a:spcAft>
                <a:spcPts val="0"/>
              </a:spcAft>
            </a:pPr>
            <a:r>
              <a:rPr sz="1200" b="0">
                <a:solidFill>
                  <a:srgbClr val="1F2A44"/>
                </a:solidFill>
                <a:latin typeface="Calibri"/>
              </a:rPr>
              <a:t>0</a:t>
            </a:r>
          </a:p>
        </p:txBody>
      </p:sp>
      <p:sp>
        <p:nvSpPr>
          <p:cNvPr id="49" name="TextBox 48"/>
          <p:cNvSpPr txBox="1"/>
          <p:nvPr/>
        </p:nvSpPr>
        <p:spPr>
          <a:xfrm>
            <a:off x="6858000" y="4919472"/>
            <a:ext cx="1463040" cy="274320"/>
          </a:xfrm>
          <a:prstGeom prst="rect">
            <a:avLst/>
          </a:prstGeom>
          <a:noFill/>
        </p:spPr>
        <p:txBody>
          <a:bodyPr wrap="square">
            <a:spAutoFit/>
          </a:bodyPr>
          <a:lstStyle/>
          <a:p>
            <a:pPr algn="l">
              <a:spcAft>
                <a:spcPts val="0"/>
              </a:spcAft>
            </a:pPr>
            <a:r>
              <a:rPr sz="1200" b="0">
                <a:solidFill>
                  <a:srgbClr val="1F2A44"/>
                </a:solidFill>
                <a:latin typeface="Calibri"/>
              </a:rPr>
              <a:t>0</a:t>
            </a:r>
          </a:p>
        </p:txBody>
      </p:sp>
      <p:sp>
        <p:nvSpPr>
          <p:cNvPr id="50" name="TextBox 49"/>
          <p:cNvSpPr txBox="1"/>
          <p:nvPr/>
        </p:nvSpPr>
        <p:spPr>
          <a:xfrm>
            <a:off x="8138160" y="4919472"/>
            <a:ext cx="1463040" cy="274320"/>
          </a:xfrm>
          <a:prstGeom prst="rect">
            <a:avLst/>
          </a:prstGeom>
          <a:noFill/>
        </p:spPr>
        <p:txBody>
          <a:bodyPr wrap="square">
            <a:spAutoFit/>
          </a:bodyPr>
          <a:lstStyle/>
          <a:p>
            <a:pPr algn="l">
              <a:spcAft>
                <a:spcPts val="0"/>
              </a:spcAft>
            </a:pPr>
            <a:r>
              <a:rPr sz="1200" b="0">
                <a:solidFill>
                  <a:srgbClr val="1F2A44"/>
                </a:solidFill>
                <a:latin typeface="Calibri"/>
              </a:rPr>
              <a:t>0</a:t>
            </a:r>
          </a:p>
        </p:txBody>
      </p:sp>
      <p:sp>
        <p:nvSpPr>
          <p:cNvPr id="51" name="TextBox 50"/>
          <p:cNvSpPr txBox="1"/>
          <p:nvPr/>
        </p:nvSpPr>
        <p:spPr>
          <a:xfrm>
            <a:off x="9921240" y="4919472"/>
            <a:ext cx="1005840" cy="274320"/>
          </a:xfrm>
          <a:prstGeom prst="rect">
            <a:avLst/>
          </a:prstGeom>
          <a:noFill/>
        </p:spPr>
        <p:txBody>
          <a:bodyPr wrap="square">
            <a:spAutoFit/>
          </a:bodyPr>
          <a:lstStyle/>
          <a:p>
            <a:pPr algn="l">
              <a:spcAft>
                <a:spcPts val="0"/>
              </a:spcAft>
            </a:pPr>
            <a:r>
              <a:rPr sz="1200" b="0">
                <a:solidFill>
                  <a:srgbClr val="5B6472"/>
                </a:solidFill>
                <a:latin typeface="Calibri"/>
              </a:rPr>
              <a:t>no</a:t>
            </a:r>
          </a:p>
        </p:txBody>
      </p:sp>
      <p:sp>
        <p:nvSpPr>
          <p:cNvPr id="52" name="TextBox 51"/>
          <p:cNvSpPr txBox="1"/>
          <p:nvPr/>
        </p:nvSpPr>
        <p:spPr>
          <a:xfrm>
            <a:off x="10927080" y="4919472"/>
            <a:ext cx="1005840" cy="274320"/>
          </a:xfrm>
          <a:prstGeom prst="rect">
            <a:avLst/>
          </a:prstGeom>
          <a:noFill/>
        </p:spPr>
        <p:txBody>
          <a:bodyPr wrap="square">
            <a:spAutoFit/>
          </a:bodyPr>
          <a:lstStyle/>
          <a:p>
            <a:pPr algn="l">
              <a:spcAft>
                <a:spcPts val="0"/>
              </a:spcAft>
            </a:pPr>
            <a:r>
              <a:rPr sz="1200" b="0">
                <a:solidFill>
                  <a:srgbClr val="5B6472"/>
                </a:solidFill>
                <a:latin typeface="Calibri"/>
              </a:rPr>
              <a:t>no</a:t>
            </a:r>
          </a:p>
        </p:txBody>
      </p:sp>
      <p:sp>
        <p:nvSpPr>
          <p:cNvPr id="53" name="Rounded Rectangle 52"/>
          <p:cNvSpPr/>
          <p:nvPr/>
        </p:nvSpPr>
        <p:spPr>
          <a:xfrm>
            <a:off x="548640" y="5431536"/>
            <a:ext cx="11109960" cy="603504"/>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586984"/>
            <a:ext cx="2103120" cy="292608"/>
          </a:xfrm>
          <a:prstGeom prst="rect">
            <a:avLst/>
          </a:prstGeom>
          <a:noFill/>
        </p:spPr>
        <p:txBody>
          <a:bodyPr wrap="square">
            <a:spAutoFit/>
          </a:bodyPr>
          <a:lstStyle/>
          <a:p>
            <a:pPr algn="l">
              <a:spcAft>
                <a:spcPts val="0"/>
              </a:spcAft>
            </a:pPr>
            <a:r>
              <a:rPr sz="1250" b="1">
                <a:solidFill>
                  <a:srgbClr val="1F3864"/>
                </a:solidFill>
                <a:latin typeface="Calibri"/>
              </a:rPr>
              <a:t>cro_global</a:t>
            </a:r>
          </a:p>
        </p:txBody>
      </p:sp>
      <p:sp>
        <p:nvSpPr>
          <p:cNvPr id="55" name="TextBox 54"/>
          <p:cNvSpPr txBox="1"/>
          <p:nvPr/>
        </p:nvSpPr>
        <p:spPr>
          <a:xfrm>
            <a:off x="2834640" y="5605272"/>
            <a:ext cx="2834640" cy="274320"/>
          </a:xfrm>
          <a:prstGeom prst="rect">
            <a:avLst/>
          </a:prstGeom>
          <a:noFill/>
        </p:spPr>
        <p:txBody>
          <a:bodyPr wrap="square">
            <a:spAutoFit/>
          </a:bodyPr>
          <a:lstStyle/>
          <a:p>
            <a:pPr algn="l">
              <a:spcAft>
                <a:spcPts val="0"/>
              </a:spcAft>
            </a:pPr>
            <a:r>
              <a:rPr sz="1150" b="0">
                <a:solidFill>
                  <a:srgbClr val="5B6472"/>
                </a:solidFill>
                <a:latin typeface="Calibri"/>
              </a:rPr>
              <a:t>group risk, whole bank</a:t>
            </a:r>
          </a:p>
        </p:txBody>
      </p:sp>
      <p:sp>
        <p:nvSpPr>
          <p:cNvPr id="56" name="TextBox 55"/>
          <p:cNvSpPr txBox="1"/>
          <p:nvPr/>
        </p:nvSpPr>
        <p:spPr>
          <a:xfrm>
            <a:off x="5715000" y="5596128"/>
            <a:ext cx="1463040" cy="274320"/>
          </a:xfrm>
          <a:prstGeom prst="rect">
            <a:avLst/>
          </a:prstGeom>
          <a:noFill/>
        </p:spPr>
        <p:txBody>
          <a:bodyPr wrap="square">
            <a:spAutoFit/>
          </a:bodyPr>
          <a:lstStyle/>
          <a:p>
            <a:pPr algn="l">
              <a:spcAft>
                <a:spcPts val="0"/>
              </a:spcAft>
            </a:pPr>
            <a:r>
              <a:rPr sz="1200" b="0">
                <a:solidFill>
                  <a:srgbClr val="1F2A44"/>
                </a:solidFill>
                <a:latin typeface="Calibri"/>
              </a:rPr>
              <a:t>5,369</a:t>
            </a:r>
          </a:p>
        </p:txBody>
      </p:sp>
      <p:sp>
        <p:nvSpPr>
          <p:cNvPr id="57" name="TextBox 56"/>
          <p:cNvSpPr txBox="1"/>
          <p:nvPr/>
        </p:nvSpPr>
        <p:spPr>
          <a:xfrm>
            <a:off x="6858000" y="5596128"/>
            <a:ext cx="1463040" cy="274320"/>
          </a:xfrm>
          <a:prstGeom prst="rect">
            <a:avLst/>
          </a:prstGeom>
          <a:noFill/>
        </p:spPr>
        <p:txBody>
          <a:bodyPr wrap="square">
            <a:spAutoFit/>
          </a:bodyPr>
          <a:lstStyle/>
          <a:p>
            <a:pPr algn="l">
              <a:spcAft>
                <a:spcPts val="0"/>
              </a:spcAft>
            </a:pPr>
            <a:r>
              <a:rPr sz="1200" b="0">
                <a:solidFill>
                  <a:srgbClr val="1F2A44"/>
                </a:solidFill>
                <a:latin typeface="Calibri"/>
              </a:rPr>
              <a:t>4,500</a:t>
            </a:r>
          </a:p>
        </p:txBody>
      </p:sp>
      <p:sp>
        <p:nvSpPr>
          <p:cNvPr id="58" name="TextBox 57"/>
          <p:cNvSpPr txBox="1"/>
          <p:nvPr/>
        </p:nvSpPr>
        <p:spPr>
          <a:xfrm>
            <a:off x="8138160" y="5596128"/>
            <a:ext cx="1463040" cy="274320"/>
          </a:xfrm>
          <a:prstGeom prst="rect">
            <a:avLst/>
          </a:prstGeom>
          <a:noFill/>
        </p:spPr>
        <p:txBody>
          <a:bodyPr wrap="square">
            <a:spAutoFit/>
          </a:bodyPr>
          <a:lstStyle/>
          <a:p>
            <a:pPr algn="l">
              <a:spcAft>
                <a:spcPts val="0"/>
              </a:spcAft>
            </a:pPr>
            <a:r>
              <a:rPr sz="1200" b="0">
                <a:solidFill>
                  <a:srgbClr val="1F2A44"/>
                </a:solidFill>
                <a:latin typeface="Calibri"/>
              </a:rPr>
              <a:t>103,261,740</a:t>
            </a:r>
          </a:p>
        </p:txBody>
      </p:sp>
      <p:sp>
        <p:nvSpPr>
          <p:cNvPr id="59" name="TextBox 58"/>
          <p:cNvSpPr txBox="1"/>
          <p:nvPr/>
        </p:nvSpPr>
        <p:spPr>
          <a:xfrm>
            <a:off x="9921240" y="5596128"/>
            <a:ext cx="1005840" cy="274320"/>
          </a:xfrm>
          <a:prstGeom prst="rect">
            <a:avLst/>
          </a:prstGeom>
          <a:noFill/>
        </p:spPr>
        <p:txBody>
          <a:bodyPr wrap="square">
            <a:spAutoFit/>
          </a:bodyPr>
          <a:lstStyle/>
          <a:p>
            <a:pPr algn="l">
              <a:spcAft>
                <a:spcPts val="0"/>
              </a:spcAft>
            </a:pPr>
            <a:r>
              <a:rPr sz="1200" b="1">
                <a:solidFill>
                  <a:srgbClr val="15803D"/>
                </a:solidFill>
                <a:latin typeface="Calibri"/>
              </a:rPr>
              <a:t>YES</a:t>
            </a:r>
          </a:p>
        </p:txBody>
      </p:sp>
      <p:sp>
        <p:nvSpPr>
          <p:cNvPr id="60" name="TextBox 59"/>
          <p:cNvSpPr txBox="1"/>
          <p:nvPr/>
        </p:nvSpPr>
        <p:spPr>
          <a:xfrm>
            <a:off x="10927080" y="5596128"/>
            <a:ext cx="1005840" cy="274320"/>
          </a:xfrm>
          <a:prstGeom prst="rect">
            <a:avLst/>
          </a:prstGeom>
          <a:noFill/>
        </p:spPr>
        <p:txBody>
          <a:bodyPr wrap="square">
            <a:spAutoFit/>
          </a:bodyPr>
          <a:lstStyle/>
          <a:p>
            <a:pPr algn="l">
              <a:spcAft>
                <a:spcPts val="0"/>
              </a:spcAft>
            </a:pPr>
            <a:r>
              <a:rPr sz="1200" b="1">
                <a:solidFill>
                  <a:srgbClr val="15803D"/>
                </a:solidFill>
                <a:latin typeface="Calibri"/>
              </a:rPr>
              <a:t>YES</a:t>
            </a:r>
          </a:p>
        </p:txBody>
      </p:sp>
      <p:sp>
        <p:nvSpPr>
          <p:cNvPr id="61" name="TextBox 60"/>
          <p:cNvSpPr txBox="1"/>
          <p:nvPr/>
        </p:nvSpPr>
        <p:spPr>
          <a:xfrm>
            <a:off x="548640" y="6309360"/>
            <a:ext cx="11155680" cy="457200"/>
          </a:xfrm>
          <a:prstGeom prst="rect">
            <a:avLst/>
          </a:prstGeom>
          <a:noFill/>
        </p:spPr>
        <p:txBody>
          <a:bodyPr wrap="square">
            <a:spAutoFit/>
          </a:bodyPr>
          <a:lstStyle/>
          <a:p>
            <a:pPr algn="l">
              <a:spcAft>
                <a:spcPts val="0"/>
              </a:spcAft>
            </a:pPr>
            <a:r>
              <a:rPr sz="1400" b="1">
                <a:solidFill>
                  <a:srgbClr val="1F3864"/>
                </a:solidFill>
                <a:latin typeface="Calibri"/>
              </a:rPr>
              <a:t>Both customers live in the north, so their MANAGER sees them both. Neither of them can see the other. That is the test that matters — isolating two customers in different books would have proved nothing.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13 ATTEMPTS, 13 BLOCKED</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One customer trying to read the other, on purpose</a:t>
            </a:r>
          </a:p>
        </p:txBody>
      </p:sp>
      <p:sp>
        <p:nvSpPr>
          <p:cNvPr id="4" name="TextBox 3"/>
          <p:cNvSpPr txBox="1"/>
          <p:nvPr/>
        </p:nvSpPr>
        <p:spPr>
          <a:xfrm>
            <a:off x="640080" y="1188720"/>
            <a:ext cx="10972800" cy="347472"/>
          </a:xfrm>
          <a:prstGeom prst="rect">
            <a:avLst/>
          </a:prstGeom>
          <a:noFill/>
        </p:spPr>
        <p:txBody>
          <a:bodyPr wrap="square">
            <a:spAutoFit/>
          </a:bodyPr>
          <a:lstStyle/>
          <a:p>
            <a:pPr algn="l">
              <a:spcAft>
                <a:spcPts val="600"/>
              </a:spcAft>
            </a:pPr>
            <a:r>
              <a:rPr sz="1500" b="0">
                <a:solidFill>
                  <a:srgbClr val="5B6472"/>
                </a:solidFill>
                <a:latin typeface="Calibri"/>
              </a:rPr>
              <a:t>Logged in as client 11409, asking for client 3763's data by name. A row count can pass while a targeted lookup leaks, so these name her actual account.</a:t>
            </a:r>
          </a:p>
        </p:txBody>
      </p:sp>
      <p:sp>
        <p:nvSpPr>
          <p:cNvPr id="5" name="Rounded Rectangle 4"/>
          <p:cNvSpPr/>
          <p:nvPr/>
        </p:nvSpPr>
        <p:spPr>
          <a:xfrm>
            <a:off x="548640" y="1755648"/>
            <a:ext cx="118872" cy="1097280"/>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7512" y="1755648"/>
            <a:ext cx="10991088"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37944"/>
            <a:ext cx="10515600" cy="292608"/>
          </a:xfrm>
          <a:prstGeom prst="rect">
            <a:avLst/>
          </a:prstGeom>
          <a:noFill/>
        </p:spPr>
        <p:txBody>
          <a:bodyPr wrap="square">
            <a:spAutoFit/>
          </a:bodyPr>
          <a:lstStyle/>
          <a:p>
            <a:pPr algn="l">
              <a:spcAft>
                <a:spcPts val="0"/>
              </a:spcAft>
            </a:pPr>
            <a:r>
              <a:rPr sz="1400" b="1">
                <a:solidFill>
                  <a:srgbClr val="1F2A44"/>
                </a:solidFill>
                <a:latin typeface="Calibri"/>
              </a:rPr>
              <a:t>Ask for her records through the published views</a:t>
            </a:r>
          </a:p>
        </p:txBody>
      </p:sp>
      <p:sp>
        <p:nvSpPr>
          <p:cNvPr id="8" name="TextBox 7"/>
          <p:cNvSpPr txBox="1"/>
          <p:nvPr/>
        </p:nvSpPr>
        <p:spPr>
          <a:xfrm>
            <a:off x="914400" y="2139696"/>
            <a:ext cx="10515600" cy="301752"/>
          </a:xfrm>
          <a:prstGeom prst="rect">
            <a:avLst/>
          </a:prstGeom>
          <a:noFill/>
        </p:spPr>
        <p:txBody>
          <a:bodyPr wrap="square">
            <a:spAutoFit/>
          </a:bodyPr>
          <a:lstStyle/>
          <a:p>
            <a:pPr algn="l">
              <a:spcAft>
                <a:spcPts val="0"/>
              </a:spcAft>
            </a:pPr>
            <a:r>
              <a:rPr sz="1150" b="0">
                <a:solidFill>
                  <a:srgbClr val="5B6472"/>
                </a:solidFill>
                <a:latin typeface="Calibri"/>
              </a:rPr>
              <a:t>her client row - her account - her loan - her transactions - her balances - her cards</a:t>
            </a:r>
          </a:p>
        </p:txBody>
      </p:sp>
      <p:sp>
        <p:nvSpPr>
          <p:cNvPr id="9" name="TextBox 8"/>
          <p:cNvSpPr txBox="1"/>
          <p:nvPr/>
        </p:nvSpPr>
        <p:spPr>
          <a:xfrm>
            <a:off x="914400" y="2468880"/>
            <a:ext cx="10515600" cy="320040"/>
          </a:xfrm>
          <a:prstGeom prst="rect">
            <a:avLst/>
          </a:prstGeom>
          <a:noFill/>
        </p:spPr>
        <p:txBody>
          <a:bodyPr wrap="square">
            <a:spAutoFit/>
          </a:bodyPr>
          <a:lstStyle/>
          <a:p>
            <a:pPr algn="l">
              <a:spcAft>
                <a:spcPts val="0"/>
              </a:spcAft>
            </a:pPr>
            <a:r>
              <a:rPr sz="1250" b="1">
                <a:solidFill>
                  <a:srgbClr val="15803D"/>
                </a:solidFill>
                <a:latin typeface="Calibri"/>
              </a:rPr>
              <a:t>0 rows, six times. The query runs; the engine filters the answer.</a:t>
            </a:r>
          </a:p>
        </p:txBody>
      </p:sp>
      <p:sp>
        <p:nvSpPr>
          <p:cNvPr id="10" name="Rounded Rectangle 9"/>
          <p:cNvSpPr/>
          <p:nvPr/>
        </p:nvSpPr>
        <p:spPr>
          <a:xfrm>
            <a:off x="548640" y="2907792"/>
            <a:ext cx="118872" cy="1097280"/>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7512" y="2907792"/>
            <a:ext cx="10991088"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90088"/>
            <a:ext cx="10515600" cy="292608"/>
          </a:xfrm>
          <a:prstGeom prst="rect">
            <a:avLst/>
          </a:prstGeom>
          <a:noFill/>
        </p:spPr>
        <p:txBody>
          <a:bodyPr wrap="square">
            <a:spAutoFit/>
          </a:bodyPr>
          <a:lstStyle/>
          <a:p>
            <a:pPr algn="l">
              <a:spcAft>
                <a:spcPts val="0"/>
              </a:spcAft>
            </a:pPr>
            <a:r>
              <a:rPr sz="1400" b="1">
                <a:solidFill>
                  <a:srgbClr val="1F2A44"/>
                </a:solidFill>
                <a:latin typeface="Calibri"/>
              </a:rPr>
              <a:t>Go around the views, straight to the underlying table</a:t>
            </a:r>
          </a:p>
        </p:txBody>
      </p:sp>
      <p:sp>
        <p:nvSpPr>
          <p:cNvPr id="13" name="TextBox 12"/>
          <p:cNvSpPr txBox="1"/>
          <p:nvPr/>
        </p:nvSpPr>
        <p:spPr>
          <a:xfrm>
            <a:off x="914400" y="3291840"/>
            <a:ext cx="10515600" cy="301752"/>
          </a:xfrm>
          <a:prstGeom prst="rect">
            <a:avLst/>
          </a:prstGeom>
          <a:noFill/>
        </p:spPr>
        <p:txBody>
          <a:bodyPr wrap="square">
            <a:spAutoFit/>
          </a:bodyPr>
          <a:lstStyle/>
          <a:p>
            <a:pPr algn="l">
              <a:spcAft>
                <a:spcPts val="0"/>
              </a:spcAft>
            </a:pPr>
            <a:r>
              <a:rPr sz="1150" b="0">
                <a:solidFill>
                  <a:srgbClr val="5B6472"/>
                </a:solidFill>
                <a:latin typeface="Calibri"/>
              </a:rPr>
              <a:t>SELECT ... FROM core.fact_transaction WHERE account_id = (hers)</a:t>
            </a:r>
          </a:p>
        </p:txBody>
      </p:sp>
      <p:sp>
        <p:nvSpPr>
          <p:cNvPr id="14" name="TextBox 13"/>
          <p:cNvSpPr txBox="1"/>
          <p:nvPr/>
        </p:nvSpPr>
        <p:spPr>
          <a:xfrm>
            <a:off x="914400" y="3621024"/>
            <a:ext cx="10515600" cy="320040"/>
          </a:xfrm>
          <a:prstGeom prst="rect">
            <a:avLst/>
          </a:prstGeom>
          <a:noFill/>
        </p:spPr>
        <p:txBody>
          <a:bodyPr wrap="square">
            <a:spAutoFit/>
          </a:bodyPr>
          <a:lstStyle/>
          <a:p>
            <a:pPr algn="l">
              <a:spcAft>
                <a:spcPts val="0"/>
              </a:spcAft>
            </a:pPr>
            <a:r>
              <a:rPr sz="1250" b="1">
                <a:solidFill>
                  <a:srgbClr val="15803D"/>
                </a:solidFill>
                <a:latin typeface="Calibri"/>
              </a:rPr>
              <a:t>0 rows. The policy is on the TABLE, so there is nothing to go around.</a:t>
            </a:r>
          </a:p>
        </p:txBody>
      </p:sp>
      <p:sp>
        <p:nvSpPr>
          <p:cNvPr id="15" name="Rounded Rectangle 14"/>
          <p:cNvSpPr/>
          <p:nvPr/>
        </p:nvSpPr>
        <p:spPr>
          <a:xfrm>
            <a:off x="548640" y="4059936"/>
            <a:ext cx="118872" cy="109728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7512" y="4059936"/>
            <a:ext cx="10991088"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142232"/>
            <a:ext cx="10515600" cy="292608"/>
          </a:xfrm>
          <a:prstGeom prst="rect">
            <a:avLst/>
          </a:prstGeom>
          <a:noFill/>
        </p:spPr>
        <p:txBody>
          <a:bodyPr wrap="square">
            <a:spAutoFit/>
          </a:bodyPr>
          <a:lstStyle/>
          <a:p>
            <a:pPr algn="l">
              <a:spcAft>
                <a:spcPts val="0"/>
              </a:spcAft>
            </a:pPr>
            <a:r>
              <a:rPr sz="1400" b="1">
                <a:solidFill>
                  <a:srgbClr val="1F2A44"/>
                </a:solidFill>
                <a:latin typeface="Calibri"/>
              </a:rPr>
              <a:t>Read the uncleaned copies, where no policy exists at all</a:t>
            </a:r>
          </a:p>
        </p:txBody>
      </p:sp>
      <p:sp>
        <p:nvSpPr>
          <p:cNvPr id="18" name="TextBox 17"/>
          <p:cNvSpPr txBox="1"/>
          <p:nvPr/>
        </p:nvSpPr>
        <p:spPr>
          <a:xfrm>
            <a:off x="914400" y="4443984"/>
            <a:ext cx="10515600" cy="301752"/>
          </a:xfrm>
          <a:prstGeom prst="rect">
            <a:avLst/>
          </a:prstGeom>
          <a:noFill/>
        </p:spPr>
        <p:txBody>
          <a:bodyPr wrap="square">
            <a:spAutoFit/>
          </a:bodyPr>
          <a:lstStyle/>
          <a:p>
            <a:pPr algn="l">
              <a:spcAft>
                <a:spcPts val="0"/>
              </a:spcAft>
            </a:pPr>
            <a:r>
              <a:rPr sz="1150" b="0">
                <a:solidFill>
                  <a:srgbClr val="5B6472"/>
                </a:solidFill>
                <a:latin typeface="Calibri"/>
              </a:rPr>
              <a:t>stg.trans, raw.trans</a:t>
            </a:r>
          </a:p>
        </p:txBody>
      </p:sp>
      <p:sp>
        <p:nvSpPr>
          <p:cNvPr id="19" name="TextBox 18"/>
          <p:cNvSpPr txBox="1"/>
          <p:nvPr/>
        </p:nvSpPr>
        <p:spPr>
          <a:xfrm>
            <a:off x="914400" y="4773168"/>
            <a:ext cx="10515600" cy="320040"/>
          </a:xfrm>
          <a:prstGeom prst="rect">
            <a:avLst/>
          </a:prstGeom>
          <a:noFill/>
        </p:spPr>
        <p:txBody>
          <a:bodyPr wrap="square">
            <a:spAutoFit/>
          </a:bodyPr>
          <a:lstStyle/>
          <a:p>
            <a:pPr algn="l">
              <a:spcAft>
                <a:spcPts val="0"/>
              </a:spcAft>
            </a:pPr>
            <a:r>
              <a:rPr sz="1250" b="1">
                <a:solidFill>
                  <a:srgbClr val="1F3864"/>
                </a:solidFill>
                <a:latin typeface="Calibri"/>
              </a:rPr>
              <a:t>Refused outright. The role was never granted those schemas.</a:t>
            </a:r>
          </a:p>
        </p:txBody>
      </p:sp>
      <p:sp>
        <p:nvSpPr>
          <p:cNvPr id="20" name="Rounded Rectangle 19"/>
          <p:cNvSpPr/>
          <p:nvPr/>
        </p:nvSpPr>
        <p:spPr>
          <a:xfrm>
            <a:off x="548640" y="5212080"/>
            <a:ext cx="118872" cy="109728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7512" y="5212080"/>
            <a:ext cx="10991088" cy="109728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294376"/>
            <a:ext cx="10515600" cy="292608"/>
          </a:xfrm>
          <a:prstGeom prst="rect">
            <a:avLst/>
          </a:prstGeom>
          <a:noFill/>
        </p:spPr>
        <p:txBody>
          <a:bodyPr wrap="square">
            <a:spAutoFit/>
          </a:bodyPr>
          <a:lstStyle/>
          <a:p>
            <a:pPr algn="l">
              <a:spcAft>
                <a:spcPts val="0"/>
              </a:spcAft>
            </a:pPr>
            <a:r>
              <a:rPr sz="1400" b="1">
                <a:solidFill>
                  <a:srgbClr val="1F2A44"/>
                </a:solidFill>
                <a:latin typeface="Calibri"/>
              </a:rPr>
              <a:t>Attack the entitlement itself</a:t>
            </a:r>
          </a:p>
        </p:txBody>
      </p:sp>
      <p:sp>
        <p:nvSpPr>
          <p:cNvPr id="23" name="TextBox 22"/>
          <p:cNvSpPr txBox="1"/>
          <p:nvPr/>
        </p:nvSpPr>
        <p:spPr>
          <a:xfrm>
            <a:off x="914400" y="5596128"/>
            <a:ext cx="10515600" cy="301752"/>
          </a:xfrm>
          <a:prstGeom prst="rect">
            <a:avLst/>
          </a:prstGeom>
          <a:noFill/>
        </p:spPr>
        <p:txBody>
          <a:bodyPr wrap="square">
            <a:spAutoFit/>
          </a:bodyPr>
          <a:lstStyle/>
          <a:p>
            <a:pPr algn="l">
              <a:spcAft>
                <a:spcPts val="0"/>
              </a:spcAft>
            </a:pPr>
            <a:r>
              <a:rPr sz="1150" b="0">
                <a:solidFill>
                  <a:srgbClr val="5B6472"/>
                </a:solidFill>
                <a:latin typeface="Calibri"/>
              </a:rPr>
              <a:t>edit sec.app_user to grant herself the other client - read who else is a user - disable the policy - become the manager</a:t>
            </a:r>
          </a:p>
        </p:txBody>
      </p:sp>
      <p:sp>
        <p:nvSpPr>
          <p:cNvPr id="24" name="TextBox 23"/>
          <p:cNvSpPr txBox="1"/>
          <p:nvPr/>
        </p:nvSpPr>
        <p:spPr>
          <a:xfrm>
            <a:off x="914400" y="5925312"/>
            <a:ext cx="10515600" cy="320040"/>
          </a:xfrm>
          <a:prstGeom prst="rect">
            <a:avLst/>
          </a:prstGeom>
          <a:noFill/>
        </p:spPr>
        <p:txBody>
          <a:bodyPr wrap="square">
            <a:spAutoFit/>
          </a:bodyPr>
          <a:lstStyle/>
          <a:p>
            <a:pPr algn="l">
              <a:spcAft>
                <a:spcPts val="0"/>
              </a:spcAft>
            </a:pPr>
            <a:r>
              <a:rPr sz="1250" b="1">
                <a:solidFill>
                  <a:srgbClr val="1F3864"/>
                </a:solidFill>
                <a:latin typeface="Calibri"/>
              </a:rPr>
              <a:t>Refused, four times. She may read her data, not the machinery around it.</a:t>
            </a:r>
          </a:p>
        </p:txBody>
      </p:sp>
      <p:sp>
        <p:nvSpPr>
          <p:cNvPr id="25" name="TextBox 24"/>
          <p:cNvSpPr txBox="1"/>
          <p:nvPr/>
        </p:nvSpPr>
        <p:spPr>
          <a:xfrm>
            <a:off x="548640" y="6419088"/>
            <a:ext cx="11155680" cy="320040"/>
          </a:xfrm>
          <a:prstGeom prst="rect">
            <a:avLst/>
          </a:prstGeom>
          <a:noFill/>
        </p:spPr>
        <p:txBody>
          <a:bodyPr wrap="square">
            <a:spAutoFit/>
          </a:bodyPr>
          <a:lstStyle/>
          <a:p>
            <a:pPr algn="l">
              <a:spcAft>
                <a:spcPts val="0"/>
              </a:spcAft>
            </a:pPr>
            <a:r>
              <a:rPr sz="1250" b="1">
                <a:solidFill>
                  <a:srgbClr val="1F3864"/>
                </a:solidFill>
                <a:latin typeface="Calibri"/>
              </a:rPr>
              <a:t>Two different kinds of block, and the second is the stronger one: a refusal says "not allowed"; a policy says "here is your answer" and the answer is already narrowed.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PERFORMED, NOT ASSERTED</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Adding a new customer: one insert</a:t>
            </a:r>
          </a:p>
        </p:txBody>
      </p:sp>
      <p:sp>
        <p:nvSpPr>
          <p:cNvPr id="4" name="TextBox 3"/>
          <p:cNvSpPr txBox="1"/>
          <p:nvPr/>
        </p:nvSpPr>
        <p:spPr>
          <a:xfrm>
            <a:off x="640080" y="1207008"/>
            <a:ext cx="10972800" cy="365760"/>
          </a:xfrm>
          <a:prstGeom prst="rect">
            <a:avLst/>
          </a:prstGeom>
          <a:noFill/>
        </p:spPr>
        <p:txBody>
          <a:bodyPr wrap="square">
            <a:spAutoFit/>
          </a:bodyPr>
          <a:lstStyle/>
          <a:p>
            <a:pPr algn="l">
              <a:spcAft>
                <a:spcPts val="800"/>
              </a:spcAft>
            </a:pPr>
            <a:r>
              <a:rPr sz="1550" b="0">
                <a:solidFill>
                  <a:srgbClr val="5B6472"/>
                </a:solidFill>
                <a:latin typeface="Calibri"/>
              </a:rPr>
              <a:t>The brief asks how a new user is onboarded without code changes. This ran live during the same execution that produced the write-up.</a:t>
            </a:r>
          </a:p>
        </p:txBody>
      </p:sp>
      <p:sp>
        <p:nvSpPr>
          <p:cNvPr id="5" name="Rounded Rectangle 4"/>
          <p:cNvSpPr/>
          <p:nvPr/>
        </p:nvSpPr>
        <p:spPr>
          <a:xfrm>
            <a:off x="548640" y="1783080"/>
            <a:ext cx="4114800" cy="65836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56816"/>
            <a:ext cx="3749039" cy="320040"/>
          </a:xfrm>
          <a:prstGeom prst="rect">
            <a:avLst/>
          </a:prstGeom>
          <a:noFill/>
        </p:spPr>
        <p:txBody>
          <a:bodyPr wrap="square">
            <a:spAutoFit/>
          </a:bodyPr>
          <a:lstStyle/>
          <a:p>
            <a:pPr algn="l">
              <a:spcAft>
                <a:spcPts val="0"/>
              </a:spcAft>
            </a:pPr>
            <a:r>
              <a:rPr sz="1350" b="1">
                <a:solidFill>
                  <a:srgbClr val="FFFFFF"/>
                </a:solidFill>
                <a:latin typeface="Calibri"/>
              </a:rPr>
              <a:t>Create the login</a:t>
            </a:r>
          </a:p>
        </p:txBody>
      </p:sp>
      <p:sp>
        <p:nvSpPr>
          <p:cNvPr id="7" name="Rounded Rectangle 6"/>
          <p:cNvSpPr/>
          <p:nvPr/>
        </p:nvSpPr>
        <p:spPr>
          <a:xfrm>
            <a:off x="4663440" y="1783080"/>
            <a:ext cx="6995160" cy="65836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1965960"/>
            <a:ext cx="6492240" cy="320040"/>
          </a:xfrm>
          <a:prstGeom prst="rect">
            <a:avLst/>
          </a:prstGeom>
          <a:noFill/>
        </p:spPr>
        <p:txBody>
          <a:bodyPr wrap="square">
            <a:spAutoFit/>
          </a:bodyPr>
          <a:lstStyle/>
          <a:p>
            <a:pPr algn="l">
              <a:spcAft>
                <a:spcPts val="0"/>
              </a:spcAft>
            </a:pPr>
            <a:r>
              <a:rPr sz="1300" b="0">
                <a:solidFill>
                  <a:srgbClr val="1F2A44"/>
                </a:solidFill>
                <a:latin typeface="Calibri"/>
              </a:rPr>
              <a:t>A credential. The only DDL, and it is not business logic.</a:t>
            </a:r>
          </a:p>
        </p:txBody>
      </p:sp>
      <p:sp>
        <p:nvSpPr>
          <p:cNvPr id="9" name="Rounded Rectangle 8"/>
          <p:cNvSpPr/>
          <p:nvPr/>
        </p:nvSpPr>
        <p:spPr>
          <a:xfrm>
            <a:off x="548640" y="2532888"/>
            <a:ext cx="4114800" cy="658368"/>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06624"/>
            <a:ext cx="3749039" cy="320040"/>
          </a:xfrm>
          <a:prstGeom prst="rect">
            <a:avLst/>
          </a:prstGeom>
          <a:noFill/>
        </p:spPr>
        <p:txBody>
          <a:bodyPr wrap="square">
            <a:spAutoFit/>
          </a:bodyPr>
          <a:lstStyle/>
          <a:p>
            <a:pPr algn="l">
              <a:spcAft>
                <a:spcPts val="0"/>
              </a:spcAft>
            </a:pPr>
            <a:r>
              <a:rPr sz="1350" b="1">
                <a:solidFill>
                  <a:srgbClr val="FFFFFF"/>
                </a:solidFill>
                <a:latin typeface="Calibri"/>
              </a:rPr>
              <a:t>Query before granting anything</a:t>
            </a:r>
          </a:p>
        </p:txBody>
      </p:sp>
      <p:sp>
        <p:nvSpPr>
          <p:cNvPr id="11" name="Rounded Rectangle 10"/>
          <p:cNvSpPr/>
          <p:nvPr/>
        </p:nvSpPr>
        <p:spPr>
          <a:xfrm>
            <a:off x="4663440" y="2532888"/>
            <a:ext cx="6995160" cy="65836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2715768"/>
            <a:ext cx="6492240" cy="320040"/>
          </a:xfrm>
          <a:prstGeom prst="rect">
            <a:avLst/>
          </a:prstGeom>
          <a:noFill/>
        </p:spPr>
        <p:txBody>
          <a:bodyPr wrap="square">
            <a:spAutoFit/>
          </a:bodyPr>
          <a:lstStyle/>
          <a:p>
            <a:pPr algn="l">
              <a:spcAft>
                <a:spcPts val="0"/>
              </a:spcAft>
            </a:pPr>
            <a:r>
              <a:rPr sz="1300" b="0">
                <a:solidFill>
                  <a:srgbClr val="1F2A44"/>
                </a:solidFill>
                <a:latin typeface="Calibri"/>
              </a:rPr>
              <a:t>0 clients visible. The default is see nothing.</a:t>
            </a:r>
          </a:p>
        </p:txBody>
      </p:sp>
      <p:sp>
        <p:nvSpPr>
          <p:cNvPr id="13" name="Rounded Rectangle 12"/>
          <p:cNvSpPr/>
          <p:nvPr/>
        </p:nvSpPr>
        <p:spPr>
          <a:xfrm>
            <a:off x="548640" y="3282696"/>
            <a:ext cx="4114800" cy="65836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56432"/>
            <a:ext cx="3749039" cy="320040"/>
          </a:xfrm>
          <a:prstGeom prst="rect">
            <a:avLst/>
          </a:prstGeom>
          <a:noFill/>
        </p:spPr>
        <p:txBody>
          <a:bodyPr wrap="square">
            <a:spAutoFit/>
          </a:bodyPr>
          <a:lstStyle/>
          <a:p>
            <a:pPr algn="l">
              <a:spcAft>
                <a:spcPts val="0"/>
              </a:spcAft>
            </a:pPr>
            <a:r>
              <a:rPr sz="1350" b="1">
                <a:solidFill>
                  <a:srgbClr val="FFFFFF"/>
                </a:solidFill>
                <a:latin typeface="Calibri"/>
              </a:rPr>
              <a:t>One INSERT into sec.app_user</a:t>
            </a:r>
          </a:p>
        </p:txBody>
      </p:sp>
      <p:sp>
        <p:nvSpPr>
          <p:cNvPr id="15" name="Rounded Rectangle 14"/>
          <p:cNvSpPr/>
          <p:nvPr/>
        </p:nvSpPr>
        <p:spPr>
          <a:xfrm>
            <a:off x="4663440" y="3282696"/>
            <a:ext cx="6995160" cy="65836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3465576"/>
            <a:ext cx="6492240" cy="320040"/>
          </a:xfrm>
          <a:prstGeom prst="rect">
            <a:avLst/>
          </a:prstGeom>
          <a:noFill/>
        </p:spPr>
        <p:txBody>
          <a:bodyPr wrap="square">
            <a:spAutoFit/>
          </a:bodyPr>
          <a:lstStyle/>
          <a:p>
            <a:pPr algn="l">
              <a:spcAft>
                <a:spcPts val="0"/>
              </a:spcAft>
            </a:pPr>
            <a:r>
              <a:rPr sz="1300" b="0">
                <a:solidFill>
                  <a:srgbClr val="1F2A44"/>
                </a:solidFill>
                <a:latin typeface="Calibri"/>
              </a:rPr>
              <a:t>user_type 'client', subject_client_id. No portfolio needed.</a:t>
            </a:r>
          </a:p>
        </p:txBody>
      </p:sp>
      <p:sp>
        <p:nvSpPr>
          <p:cNvPr id="17" name="Rounded Rectangle 16"/>
          <p:cNvSpPr/>
          <p:nvPr/>
        </p:nvSpPr>
        <p:spPr>
          <a:xfrm>
            <a:off x="548640" y="4032504"/>
            <a:ext cx="4114800" cy="65836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06240"/>
            <a:ext cx="3749039" cy="320040"/>
          </a:xfrm>
          <a:prstGeom prst="rect">
            <a:avLst/>
          </a:prstGeom>
          <a:noFill/>
        </p:spPr>
        <p:txBody>
          <a:bodyPr wrap="square">
            <a:spAutoFit/>
          </a:bodyPr>
          <a:lstStyle/>
          <a:p>
            <a:pPr algn="l">
              <a:spcAft>
                <a:spcPts val="0"/>
              </a:spcAft>
            </a:pPr>
            <a:r>
              <a:rPr sz="1350" b="1">
                <a:solidFill>
                  <a:srgbClr val="FFFFFF"/>
                </a:solidFill>
                <a:latin typeface="Calibri"/>
              </a:rPr>
              <a:t>Query on the very next statement</a:t>
            </a:r>
          </a:p>
        </p:txBody>
      </p:sp>
      <p:sp>
        <p:nvSpPr>
          <p:cNvPr id="19" name="Rounded Rectangle 18"/>
          <p:cNvSpPr/>
          <p:nvPr/>
        </p:nvSpPr>
        <p:spPr>
          <a:xfrm>
            <a:off x="4663440" y="4032504"/>
            <a:ext cx="6995160" cy="65836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4215384"/>
            <a:ext cx="6492240" cy="320040"/>
          </a:xfrm>
          <a:prstGeom prst="rect">
            <a:avLst/>
          </a:prstGeom>
          <a:noFill/>
        </p:spPr>
        <p:txBody>
          <a:bodyPr wrap="square">
            <a:spAutoFit/>
          </a:bodyPr>
          <a:lstStyle/>
          <a:p>
            <a:pPr algn="l">
              <a:spcAft>
                <a:spcPts val="0"/>
              </a:spcAft>
            </a:pPr>
            <a:r>
              <a:rPr sz="1300" b="0">
                <a:solidFill>
                  <a:srgbClr val="1F2A44"/>
                </a:solidFill>
                <a:latin typeface="Calibri"/>
              </a:rPr>
              <a:t>1 client, 1 account — their own, and nobody else's.</a:t>
            </a:r>
          </a:p>
        </p:txBody>
      </p:sp>
      <p:sp>
        <p:nvSpPr>
          <p:cNvPr id="21" name="Rounded Rectangle 20"/>
          <p:cNvSpPr/>
          <p:nvPr/>
        </p:nvSpPr>
        <p:spPr>
          <a:xfrm>
            <a:off x="548640" y="4782312"/>
            <a:ext cx="4114800" cy="65836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3749039" cy="320040"/>
          </a:xfrm>
          <a:prstGeom prst="rect">
            <a:avLst/>
          </a:prstGeom>
          <a:noFill/>
        </p:spPr>
        <p:txBody>
          <a:bodyPr wrap="square">
            <a:spAutoFit/>
          </a:bodyPr>
          <a:lstStyle/>
          <a:p>
            <a:pPr algn="l">
              <a:spcAft>
                <a:spcPts val="0"/>
              </a:spcAft>
            </a:pPr>
            <a:r>
              <a:rPr sz="1350" b="1">
                <a:solidFill>
                  <a:srgbClr val="FFFFFF"/>
                </a:solidFill>
                <a:latin typeface="Calibri"/>
              </a:rPr>
              <a:t>Try to read the example customer</a:t>
            </a:r>
          </a:p>
        </p:txBody>
      </p:sp>
      <p:sp>
        <p:nvSpPr>
          <p:cNvPr id="23" name="Rounded Rectangle 22"/>
          <p:cNvSpPr/>
          <p:nvPr/>
        </p:nvSpPr>
        <p:spPr>
          <a:xfrm>
            <a:off x="4663440" y="4782312"/>
            <a:ext cx="6995160" cy="65836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4965192"/>
            <a:ext cx="6492240" cy="320040"/>
          </a:xfrm>
          <a:prstGeom prst="rect">
            <a:avLst/>
          </a:prstGeom>
          <a:noFill/>
        </p:spPr>
        <p:txBody>
          <a:bodyPr wrap="square">
            <a:spAutoFit/>
          </a:bodyPr>
          <a:lstStyle/>
          <a:p>
            <a:pPr algn="l">
              <a:spcAft>
                <a:spcPts val="0"/>
              </a:spcAft>
            </a:pPr>
            <a:r>
              <a:rPr sz="1300" b="0">
                <a:solidFill>
                  <a:srgbClr val="1F2A44"/>
                </a:solidFill>
                <a:latin typeface="Calibri"/>
              </a:rPr>
              <a:t>0 rows. Isolated from her too, immediately.</a:t>
            </a:r>
          </a:p>
        </p:txBody>
      </p:sp>
      <p:sp>
        <p:nvSpPr>
          <p:cNvPr id="25" name="Rounded Rectangle 24"/>
          <p:cNvSpPr/>
          <p:nvPr/>
        </p:nvSpPr>
        <p:spPr>
          <a:xfrm>
            <a:off x="548640" y="5532120"/>
            <a:ext cx="4114800" cy="658368"/>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705856"/>
            <a:ext cx="3749039" cy="320040"/>
          </a:xfrm>
          <a:prstGeom prst="rect">
            <a:avLst/>
          </a:prstGeom>
          <a:noFill/>
        </p:spPr>
        <p:txBody>
          <a:bodyPr wrap="square">
            <a:spAutoFit/>
          </a:bodyPr>
          <a:lstStyle/>
          <a:p>
            <a:pPr algn="l">
              <a:spcAft>
                <a:spcPts val="0"/>
              </a:spcAft>
            </a:pPr>
            <a:r>
              <a:rPr sz="1350" b="1">
                <a:solidFill>
                  <a:srgbClr val="FFFFFF"/>
                </a:solidFill>
                <a:latin typeface="Calibri"/>
              </a:rPr>
              <a:t>Revoke: one UPDATE</a:t>
            </a:r>
          </a:p>
        </p:txBody>
      </p:sp>
      <p:sp>
        <p:nvSpPr>
          <p:cNvPr id="27" name="Rounded Rectangle 26"/>
          <p:cNvSpPr/>
          <p:nvPr/>
        </p:nvSpPr>
        <p:spPr>
          <a:xfrm>
            <a:off x="4663440" y="5532120"/>
            <a:ext cx="6995160" cy="65836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0" y="5715000"/>
            <a:ext cx="6492240" cy="320040"/>
          </a:xfrm>
          <a:prstGeom prst="rect">
            <a:avLst/>
          </a:prstGeom>
          <a:noFill/>
        </p:spPr>
        <p:txBody>
          <a:bodyPr wrap="square">
            <a:spAutoFit/>
          </a:bodyPr>
          <a:lstStyle/>
          <a:p>
            <a:pPr algn="l">
              <a:spcAft>
                <a:spcPts val="0"/>
              </a:spcAft>
            </a:pPr>
            <a:r>
              <a:rPr sz="1300" b="0">
                <a:solidFill>
                  <a:srgbClr val="1F2A44"/>
                </a:solidFill>
                <a:latin typeface="Calibri"/>
              </a:rPr>
              <a:t>is_active = false → 0 clients visible. Offboarding is symmetric.</a:t>
            </a:r>
          </a:p>
        </p:txBody>
      </p:sp>
      <p:sp>
        <p:nvSpPr>
          <p:cNvPr id="29" name="TextBox 28"/>
          <p:cNvSpPr txBox="1"/>
          <p:nvPr/>
        </p:nvSpPr>
        <p:spPr>
          <a:xfrm>
            <a:off x="548640" y="6355080"/>
            <a:ext cx="11155680" cy="457200"/>
          </a:xfrm>
          <a:prstGeom prst="rect">
            <a:avLst/>
          </a:prstGeom>
          <a:noFill/>
        </p:spPr>
        <p:txBody>
          <a:bodyPr wrap="square">
            <a:spAutoFit/>
          </a:bodyPr>
          <a:lstStyle/>
          <a:p>
            <a:pPr algn="l">
              <a:spcAft>
                <a:spcPts val="0"/>
              </a:spcAft>
            </a:pPr>
            <a:r>
              <a:rPr sz="1400" b="1">
                <a:solidFill>
                  <a:srgbClr val="1F3864"/>
                </a:solidFill>
                <a:latin typeface="Calibri"/>
              </a:rPr>
              <a:t>No policy written. No view altered. No deployment. The entitlement is data, so the next statement already honours it — and that is true for a customer and for a whole relationship-manager book alike.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058400" cy="457200"/>
          </a:xfrm>
          <a:prstGeom prst="rect">
            <a:avLst/>
          </a:prstGeom>
          <a:noFill/>
        </p:spPr>
        <p:txBody>
          <a:bodyPr wrap="square">
            <a:spAutoFit/>
          </a:bodyPr>
          <a:lstStyle/>
          <a:p>
            <a:pPr algn="l">
              <a:spcAft>
                <a:spcPts val="600"/>
              </a:spcAft>
            </a:pPr>
            <a:r>
              <a:rPr sz="1400" b="1">
                <a:solidFill>
                  <a:srgbClr val="9AB2D8"/>
                </a:solidFill>
                <a:latin typeface="Calibri"/>
              </a:rPr>
              <a:t>PART 2c</a:t>
            </a:r>
          </a:p>
        </p:txBody>
      </p:sp>
      <p:sp>
        <p:nvSpPr>
          <p:cNvPr id="4" name="TextBox 3"/>
          <p:cNvSpPr txBox="1"/>
          <p:nvPr/>
        </p:nvSpPr>
        <p:spPr>
          <a:xfrm>
            <a:off x="1005840" y="2743200"/>
            <a:ext cx="10058400" cy="1097280"/>
          </a:xfrm>
          <a:prstGeom prst="rect">
            <a:avLst/>
          </a:prstGeom>
          <a:noFill/>
        </p:spPr>
        <p:txBody>
          <a:bodyPr wrap="square">
            <a:spAutoFit/>
          </a:bodyPr>
          <a:lstStyle/>
          <a:p>
            <a:pPr algn="l">
              <a:spcAft>
                <a:spcPts val="800"/>
              </a:spcAft>
            </a:pPr>
            <a:r>
              <a:rPr sz="4000" b="1">
                <a:solidFill>
                  <a:srgbClr val="FFFFFF"/>
                </a:solidFill>
                <a:latin typeface="Calibri"/>
              </a:rPr>
              <a:t>Proving who you are, and what that earns you</a:t>
            </a:r>
          </a:p>
        </p:txBody>
      </p:sp>
      <p:sp>
        <p:nvSpPr>
          <p:cNvPr id="5" name="TextBox 4"/>
          <p:cNvSpPr txBox="1"/>
          <p:nvPr/>
        </p:nvSpPr>
        <p:spPr>
          <a:xfrm>
            <a:off x="1005840" y="3931920"/>
            <a:ext cx="9144000" cy="731520"/>
          </a:xfrm>
          <a:prstGeom prst="rect">
            <a:avLst/>
          </a:prstGeom>
          <a:noFill/>
        </p:spPr>
        <p:txBody>
          <a:bodyPr wrap="square">
            <a:spAutoFit/>
          </a:bodyPr>
          <a:lstStyle/>
          <a:p>
            <a:pPr algn="l">
              <a:spcAft>
                <a:spcPts val="0"/>
              </a:spcAft>
            </a:pPr>
            <a:r>
              <a:rPr sz="1700" b="0">
                <a:solidFill>
                  <a:srgbClr val="C9D6EA"/>
                </a:solidFill>
                <a:latin typeface="Calibri"/>
              </a:rPr>
              <a:t>Two questions that are easy to confuse: are you who you say you are, and given that, what may you reach?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AND ONLY ONE OF THEM IS PUBLIC</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Three ways to name the same person</a:t>
            </a:r>
          </a:p>
        </p:txBody>
      </p:sp>
      <p:sp>
        <p:nvSpPr>
          <p:cNvPr id="4" name="TextBox 3"/>
          <p:cNvSpPr txBox="1"/>
          <p:nvPr/>
        </p:nvSpPr>
        <p:spPr>
          <a:xfrm>
            <a:off x="640080" y="1207008"/>
            <a:ext cx="10972800" cy="365760"/>
          </a:xfrm>
          <a:prstGeom prst="rect">
            <a:avLst/>
          </a:prstGeom>
          <a:noFill/>
        </p:spPr>
        <p:txBody>
          <a:bodyPr wrap="square">
            <a:spAutoFit/>
          </a:bodyPr>
          <a:lstStyle/>
          <a:p>
            <a:pPr algn="l">
              <a:spcAft>
                <a:spcPts val="800"/>
              </a:spcAft>
            </a:pPr>
            <a:r>
              <a:rPr sz="1550" b="0">
                <a:solidFill>
                  <a:srgbClr val="5B6472"/>
                </a:solidFill>
                <a:latin typeface="Calibri"/>
              </a:rPr>
              <a:t>The product used to have one: a row number. It was never a breach — the lock already held — but it was the wrong thing to publish.</a:t>
            </a:r>
          </a:p>
        </p:txBody>
      </p:sp>
      <p:sp>
        <p:nvSpPr>
          <p:cNvPr id="5" name="Rounded Rectangle 4"/>
          <p:cNvSpPr/>
          <p:nvPr/>
        </p:nvSpPr>
        <p:spPr>
          <a:xfrm>
            <a:off x="548640" y="1755648"/>
            <a:ext cx="11109960" cy="1170432"/>
          </a:xfrm>
          <a:prstGeom prst="roundRect">
            <a:avLst>
              <a:gd name="adj" fmla="val 4000"/>
            </a:avLst>
          </a:prstGeom>
          <a:solidFill>
            <a:srgbClr val="F7F9FC"/>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55648"/>
            <a:ext cx="118872" cy="1170432"/>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65376"/>
            <a:ext cx="2743200" cy="320040"/>
          </a:xfrm>
          <a:prstGeom prst="rect">
            <a:avLst/>
          </a:prstGeom>
          <a:noFill/>
        </p:spPr>
        <p:txBody>
          <a:bodyPr wrap="square">
            <a:spAutoFit/>
          </a:bodyPr>
          <a:lstStyle/>
          <a:p>
            <a:pPr algn="l">
              <a:spcAft>
                <a:spcPts val="0"/>
              </a:spcAft>
            </a:pPr>
            <a:r>
              <a:rPr sz="1500" b="1">
                <a:solidFill>
                  <a:srgbClr val="1F3864"/>
                </a:solidFill>
                <a:latin typeface="Calibri"/>
              </a:rPr>
              <a:t>client_id</a:t>
            </a:r>
          </a:p>
        </p:txBody>
      </p:sp>
      <p:sp>
        <p:nvSpPr>
          <p:cNvPr id="8" name="TextBox 7"/>
          <p:cNvSpPr txBox="1"/>
          <p:nvPr/>
        </p:nvSpPr>
        <p:spPr>
          <a:xfrm>
            <a:off x="868680" y="2231136"/>
            <a:ext cx="4023360" cy="320040"/>
          </a:xfrm>
          <a:prstGeom prst="rect">
            <a:avLst/>
          </a:prstGeom>
          <a:noFill/>
        </p:spPr>
        <p:txBody>
          <a:bodyPr wrap="square">
            <a:spAutoFit/>
          </a:bodyPr>
          <a:lstStyle/>
          <a:p>
            <a:pPr algn="l">
              <a:spcAft>
                <a:spcPts val="0"/>
              </a:spcAft>
            </a:pPr>
            <a:r>
              <a:rPr sz="1350" b="1">
                <a:solidFill>
                  <a:srgbClr val="1F2A44"/>
                </a:solidFill>
                <a:latin typeface="Calibri"/>
              </a:rPr>
              <a:t>3763</a:t>
            </a:r>
          </a:p>
        </p:txBody>
      </p:sp>
      <p:sp>
        <p:nvSpPr>
          <p:cNvPr id="9" name="TextBox 8"/>
          <p:cNvSpPr txBox="1"/>
          <p:nvPr/>
        </p:nvSpPr>
        <p:spPr>
          <a:xfrm>
            <a:off x="868680" y="2578608"/>
            <a:ext cx="4023360" cy="274320"/>
          </a:xfrm>
          <a:prstGeom prst="rect">
            <a:avLst/>
          </a:prstGeom>
          <a:noFill/>
        </p:spPr>
        <p:txBody>
          <a:bodyPr wrap="square">
            <a:spAutoFit/>
          </a:bodyPr>
          <a:lstStyle/>
          <a:p>
            <a:pPr algn="l">
              <a:spcAft>
                <a:spcPts val="0"/>
              </a:spcAft>
            </a:pPr>
            <a:r>
              <a:rPr sz="1150" b="0">
                <a:solidFill>
                  <a:srgbClr val="5B6472"/>
                </a:solidFill>
                <a:latin typeface="Calibri"/>
              </a:rPr>
              <a:t>internal only</a:t>
            </a:r>
          </a:p>
        </p:txBody>
      </p:sp>
      <p:sp>
        <p:nvSpPr>
          <p:cNvPr id="10" name="TextBox 9"/>
          <p:cNvSpPr txBox="1"/>
          <p:nvPr/>
        </p:nvSpPr>
        <p:spPr>
          <a:xfrm>
            <a:off x="5120640" y="2048256"/>
            <a:ext cx="6309360" cy="640080"/>
          </a:xfrm>
          <a:prstGeom prst="rect">
            <a:avLst/>
          </a:prstGeom>
          <a:noFill/>
        </p:spPr>
        <p:txBody>
          <a:bodyPr wrap="square">
            <a:spAutoFit/>
          </a:bodyPr>
          <a:lstStyle/>
          <a:p>
            <a:pPr algn="l">
              <a:spcAft>
                <a:spcPts val="0"/>
              </a:spcAft>
            </a:pPr>
            <a:r>
              <a:rPr sz="1300" b="0">
                <a:solidFill>
                  <a:srgbClr val="1F2A44"/>
                </a:solidFill>
                <a:latin typeface="Calibri"/>
              </a:rPr>
              <a:t>Joins, foreign keys, policy predicates. A customer never sees it.</a:t>
            </a:r>
          </a:p>
        </p:txBody>
      </p:sp>
      <p:sp>
        <p:nvSpPr>
          <p:cNvPr id="11" name="Rounded Rectangle 10"/>
          <p:cNvSpPr/>
          <p:nvPr/>
        </p:nvSpPr>
        <p:spPr>
          <a:xfrm>
            <a:off x="548640" y="3054096"/>
            <a:ext cx="11109960" cy="1170432"/>
          </a:xfrm>
          <a:prstGeom prst="roundRect">
            <a:avLst>
              <a:gd name="adj" fmla="val 4000"/>
            </a:avLst>
          </a:prstGeom>
          <a:solidFill>
            <a:srgbClr val="F7F9FC"/>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3054096"/>
            <a:ext cx="118872" cy="1170432"/>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163824"/>
            <a:ext cx="2743200" cy="320040"/>
          </a:xfrm>
          <a:prstGeom prst="rect">
            <a:avLst/>
          </a:prstGeom>
          <a:noFill/>
        </p:spPr>
        <p:txBody>
          <a:bodyPr wrap="square">
            <a:spAutoFit/>
          </a:bodyPr>
          <a:lstStyle/>
          <a:p>
            <a:pPr algn="l">
              <a:spcAft>
                <a:spcPts val="0"/>
              </a:spcAft>
            </a:pPr>
            <a:r>
              <a:rPr sz="1500" b="1">
                <a:solidFill>
                  <a:srgbClr val="15803D"/>
                </a:solidFill>
                <a:latin typeface="Calibri"/>
              </a:rPr>
              <a:t>client_ref</a:t>
            </a:r>
          </a:p>
        </p:txBody>
      </p:sp>
      <p:sp>
        <p:nvSpPr>
          <p:cNvPr id="14" name="TextBox 13"/>
          <p:cNvSpPr txBox="1"/>
          <p:nvPr/>
        </p:nvSpPr>
        <p:spPr>
          <a:xfrm>
            <a:off x="868680" y="3529584"/>
            <a:ext cx="4023360" cy="320040"/>
          </a:xfrm>
          <a:prstGeom prst="rect">
            <a:avLst/>
          </a:prstGeom>
          <a:noFill/>
        </p:spPr>
        <p:txBody>
          <a:bodyPr wrap="square">
            <a:spAutoFit/>
          </a:bodyPr>
          <a:lstStyle/>
          <a:p>
            <a:pPr algn="l">
              <a:spcAft>
                <a:spcPts val="0"/>
              </a:spcAft>
            </a:pPr>
            <a:r>
              <a:rPr sz="1350" b="1">
                <a:solidFill>
                  <a:srgbClr val="1F2A44"/>
                </a:solidFill>
                <a:latin typeface="Calibri"/>
              </a:rPr>
              <a:t>BRK-TQ8D-RCB3</a:t>
            </a:r>
          </a:p>
        </p:txBody>
      </p:sp>
      <p:sp>
        <p:nvSpPr>
          <p:cNvPr id="15" name="TextBox 14"/>
          <p:cNvSpPr txBox="1"/>
          <p:nvPr/>
        </p:nvSpPr>
        <p:spPr>
          <a:xfrm>
            <a:off x="868680" y="3877056"/>
            <a:ext cx="4023360" cy="274320"/>
          </a:xfrm>
          <a:prstGeom prst="rect">
            <a:avLst/>
          </a:prstGeom>
          <a:noFill/>
        </p:spPr>
        <p:txBody>
          <a:bodyPr wrap="square">
            <a:spAutoFit/>
          </a:bodyPr>
          <a:lstStyle/>
          <a:p>
            <a:pPr algn="l">
              <a:spcAft>
                <a:spcPts val="0"/>
              </a:spcAft>
            </a:pPr>
            <a:r>
              <a:rPr sz="1150" b="0">
                <a:solidFill>
                  <a:srgbClr val="5B6472"/>
                </a:solidFill>
                <a:latin typeface="Calibri"/>
              </a:rPr>
              <a:t>what a customer quotes</a:t>
            </a:r>
          </a:p>
        </p:txBody>
      </p:sp>
      <p:sp>
        <p:nvSpPr>
          <p:cNvPr id="16" name="TextBox 15"/>
          <p:cNvSpPr txBox="1"/>
          <p:nvPr/>
        </p:nvSpPr>
        <p:spPr>
          <a:xfrm>
            <a:off x="5120640" y="3346704"/>
            <a:ext cx="6309360" cy="640080"/>
          </a:xfrm>
          <a:prstGeom prst="rect">
            <a:avLst/>
          </a:prstGeom>
          <a:noFill/>
        </p:spPr>
        <p:txBody>
          <a:bodyPr wrap="square">
            <a:spAutoFit/>
          </a:bodyPr>
          <a:lstStyle/>
          <a:p>
            <a:pPr algn="l">
              <a:spcAft>
                <a:spcPts val="0"/>
              </a:spcAft>
            </a:pPr>
            <a:r>
              <a:rPr sz="1300" b="0">
                <a:solidFill>
                  <a:srgbClr val="1F2A44"/>
                </a:solidFill>
                <a:latin typeface="Calibri"/>
              </a:rPr>
              <a:t>Scrambled from the id with a secret. Unguessable, and it does not reveal how many customers the bank has.</a:t>
            </a:r>
          </a:p>
        </p:txBody>
      </p:sp>
      <p:sp>
        <p:nvSpPr>
          <p:cNvPr id="17" name="Rounded Rectangle 16"/>
          <p:cNvSpPr/>
          <p:nvPr/>
        </p:nvSpPr>
        <p:spPr>
          <a:xfrm>
            <a:off x="548640" y="4352544"/>
            <a:ext cx="11109960" cy="1170432"/>
          </a:xfrm>
          <a:prstGeom prst="roundRect">
            <a:avLst>
              <a:gd name="adj" fmla="val 4000"/>
            </a:avLst>
          </a:prstGeom>
          <a:solidFill>
            <a:srgbClr val="F7F9FC"/>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4352544"/>
            <a:ext cx="118872" cy="1170432"/>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462272"/>
            <a:ext cx="2743200" cy="320040"/>
          </a:xfrm>
          <a:prstGeom prst="rect">
            <a:avLst/>
          </a:prstGeom>
          <a:noFill/>
        </p:spPr>
        <p:txBody>
          <a:bodyPr wrap="square">
            <a:spAutoFit/>
          </a:bodyPr>
          <a:lstStyle/>
          <a:p>
            <a:pPr algn="l">
              <a:spcAft>
                <a:spcPts val="0"/>
              </a:spcAft>
            </a:pPr>
            <a:r>
              <a:rPr sz="1500" b="1">
                <a:solidFill>
                  <a:srgbClr val="15803D"/>
                </a:solidFill>
                <a:latin typeface="Calibri"/>
              </a:rPr>
              <a:t>account_ref</a:t>
            </a:r>
          </a:p>
        </p:txBody>
      </p:sp>
      <p:sp>
        <p:nvSpPr>
          <p:cNvPr id="20" name="TextBox 19"/>
          <p:cNvSpPr txBox="1"/>
          <p:nvPr/>
        </p:nvSpPr>
        <p:spPr>
          <a:xfrm>
            <a:off x="868680" y="4828032"/>
            <a:ext cx="4023360" cy="320040"/>
          </a:xfrm>
          <a:prstGeom prst="rect">
            <a:avLst/>
          </a:prstGeom>
          <a:noFill/>
        </p:spPr>
        <p:txBody>
          <a:bodyPr wrap="square">
            <a:spAutoFit/>
          </a:bodyPr>
          <a:lstStyle/>
          <a:p>
            <a:pPr algn="l">
              <a:spcAft>
                <a:spcPts val="0"/>
              </a:spcAft>
            </a:pPr>
            <a:r>
              <a:rPr sz="1350" b="1">
                <a:solidFill>
                  <a:srgbClr val="1F2A44"/>
                </a:solidFill>
                <a:latin typeface="Calibri"/>
              </a:rPr>
              <a:t>CZ84 8888 0000 0000 0000 3112</a:t>
            </a:r>
          </a:p>
        </p:txBody>
      </p:sp>
      <p:sp>
        <p:nvSpPr>
          <p:cNvPr id="21" name="TextBox 20"/>
          <p:cNvSpPr txBox="1"/>
          <p:nvPr/>
        </p:nvSpPr>
        <p:spPr>
          <a:xfrm>
            <a:off x="868680" y="5175504"/>
            <a:ext cx="4023360" cy="274320"/>
          </a:xfrm>
          <a:prstGeom prst="rect">
            <a:avLst/>
          </a:prstGeom>
          <a:noFill/>
        </p:spPr>
        <p:txBody>
          <a:bodyPr wrap="square">
            <a:spAutoFit/>
          </a:bodyPr>
          <a:lstStyle/>
          <a:p>
            <a:pPr algn="l">
              <a:spcAft>
                <a:spcPts val="0"/>
              </a:spcAft>
            </a:pPr>
            <a:r>
              <a:rPr sz="1150" b="0">
                <a:solidFill>
                  <a:srgbClr val="5B6472"/>
                </a:solidFill>
                <a:latin typeface="Calibri"/>
              </a:rPr>
              <a:t>the number they recognise</a:t>
            </a:r>
          </a:p>
        </p:txBody>
      </p:sp>
      <p:sp>
        <p:nvSpPr>
          <p:cNvPr id="22" name="TextBox 21"/>
          <p:cNvSpPr txBox="1"/>
          <p:nvPr/>
        </p:nvSpPr>
        <p:spPr>
          <a:xfrm>
            <a:off x="5120640" y="4645152"/>
            <a:ext cx="6309360" cy="640080"/>
          </a:xfrm>
          <a:prstGeom prst="rect">
            <a:avLst/>
          </a:prstGeom>
          <a:noFill/>
        </p:spPr>
        <p:txBody>
          <a:bodyPr wrap="square">
            <a:spAutoFit/>
          </a:bodyPr>
          <a:lstStyle/>
          <a:p>
            <a:pPr algn="l">
              <a:spcAft>
                <a:spcPts val="0"/>
              </a:spcAft>
            </a:pPr>
            <a:r>
              <a:rPr sz="1300" b="0">
                <a:solidFill>
                  <a:srgbClr val="1F2A44"/>
                </a:solidFill>
                <a:latin typeface="Calibri"/>
              </a:rPr>
              <a:t>A real IBAN shape with genuine check digits, so a typo fails the way a typo in production would.</a:t>
            </a:r>
          </a:p>
        </p:txBody>
      </p:sp>
      <p:sp>
        <p:nvSpPr>
          <p:cNvPr id="23" name="TextBox 22"/>
          <p:cNvSpPr txBox="1"/>
          <p:nvPr/>
        </p:nvSpPr>
        <p:spPr>
          <a:xfrm>
            <a:off x="548640" y="5760720"/>
            <a:ext cx="11155680" cy="914400"/>
          </a:xfrm>
          <a:prstGeom prst="rect">
            <a:avLst/>
          </a:prstGeom>
          <a:noFill/>
        </p:spPr>
        <p:txBody>
          <a:bodyPr wrap="square">
            <a:spAutoFit/>
          </a:bodyPr>
          <a:lstStyle/>
          <a:p>
            <a:pPr algn="l">
              <a:spcAft>
                <a:spcPts val="1000"/>
              </a:spcAft>
            </a:pPr>
            <a:r>
              <a:rPr sz="1400" b="0">
                <a:solidFill>
                  <a:srgbClr val="1F2A44"/>
                </a:solidFill>
                <a:latin typeface="Calibri"/>
              </a:rPr>
              <a:t>Why bother, when the lock already works? Because a guessable id invites people to try. Every guess becomes an access attempt the system has to refuse, instead of one that was never made — and a sequential id quietly tells you how big the book is.</a:t>
            </a:r>
          </a:p>
          <a:p>
            <a:pPr algn="l">
              <a:spcAft>
                <a:spcPts val="1000"/>
              </a:spcAft>
            </a:pPr>
            <a:r>
              <a:rPr sz="1400" b="1">
                <a:solidFill>
                  <a:srgbClr val="1F3864"/>
                </a:solidFill>
                <a:latin typeface="Calibri"/>
              </a:rPr>
              <a:t>Join on the number. Refer to people by the reference.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FOUR SOURCES, ONE SHAPE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Who may reach whose data, and why</a:t>
            </a:r>
          </a:p>
        </p:txBody>
      </p:sp>
      <p:pic>
        <p:nvPicPr>
          <p:cNvPr id="4" name="Picture 3" descr="11_access_model.png"/>
          <p:cNvPicPr>
            <a:picLocks noChangeAspect="1"/>
          </p:cNvPicPr>
          <p:nvPr/>
        </p:nvPicPr>
        <p:blipFill>
          <a:blip r:embed="rId2"/>
          <a:stretch>
            <a:fillRect/>
          </a:stretch>
        </p:blipFill>
        <p:spPr>
          <a:xfrm>
            <a:off x="2200205" y="1097280"/>
            <a:ext cx="7791284" cy="53492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MOST CONSEQUENTIAL LINE IN THE MODEL</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Using someone's account is not seeing them</a:t>
            </a:r>
          </a:p>
        </p:txBody>
      </p:sp>
      <p:sp>
        <p:nvSpPr>
          <p:cNvPr id="4" name="TextBox 3"/>
          <p:cNvSpPr txBox="1"/>
          <p:nvPr/>
        </p:nvSpPr>
        <p:spPr>
          <a:xfrm>
            <a:off x="640080" y="1188720"/>
            <a:ext cx="10972800" cy="365760"/>
          </a:xfrm>
          <a:prstGeom prst="rect">
            <a:avLst/>
          </a:prstGeom>
          <a:noFill/>
        </p:spPr>
        <p:txBody>
          <a:bodyPr wrap="square">
            <a:spAutoFit/>
          </a:bodyPr>
          <a:lstStyle/>
          <a:p>
            <a:pPr algn="l">
              <a:spcAft>
                <a:spcPts val="800"/>
              </a:spcAft>
            </a:pPr>
            <a:r>
              <a:rPr sz="1550" b="0">
                <a:solidFill>
                  <a:srgbClr val="5B6472"/>
                </a:solidFill>
                <a:latin typeface="Calibri"/>
              </a:rPr>
              <a:t>Petr is authorised to operate Klara's account. A real relationship in the bank's own records, and the obvious implementation gets it wrong.</a:t>
            </a:r>
          </a:p>
        </p:txBody>
      </p:sp>
      <p:sp>
        <p:nvSpPr>
          <p:cNvPr id="5" name="Rounded Rectangle 4"/>
          <p:cNvSpPr/>
          <p:nvPr/>
        </p:nvSpPr>
        <p:spPr>
          <a:xfrm>
            <a:off x="548640" y="1783080"/>
            <a:ext cx="5440680" cy="2286000"/>
          </a:xfrm>
          <a:prstGeom prst="roundRect">
            <a:avLst>
              <a:gd name="adj" fmla="val 4000"/>
            </a:avLst>
          </a:prstGeom>
          <a:solidFill>
            <a:srgbClr val="F7F9FC"/>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01952"/>
            <a:ext cx="4846320" cy="320040"/>
          </a:xfrm>
          <a:prstGeom prst="rect">
            <a:avLst/>
          </a:prstGeom>
          <a:noFill/>
        </p:spPr>
        <p:txBody>
          <a:bodyPr wrap="square">
            <a:spAutoFit/>
          </a:bodyPr>
          <a:lstStyle/>
          <a:p>
            <a:pPr algn="l">
              <a:spcAft>
                <a:spcPts val="400"/>
              </a:spcAft>
            </a:pPr>
            <a:r>
              <a:rPr sz="1200" b="1">
                <a:solidFill>
                  <a:srgbClr val="991B1B"/>
                </a:solidFill>
                <a:latin typeface="Calibri"/>
              </a:rPr>
              <a:t>THE LAZY VERSION — grant the client</a:t>
            </a:r>
          </a:p>
        </p:txBody>
      </p:sp>
      <p:sp>
        <p:nvSpPr>
          <p:cNvPr id="7" name="TextBox 6"/>
          <p:cNvSpPr txBox="1"/>
          <p:nvPr/>
        </p:nvSpPr>
        <p:spPr>
          <a:xfrm>
            <a:off x="822960" y="2286000"/>
            <a:ext cx="4846320" cy="1645920"/>
          </a:xfrm>
          <a:prstGeom prst="rect">
            <a:avLst/>
          </a:prstGeom>
          <a:noFill/>
        </p:spPr>
        <p:txBody>
          <a:bodyPr wrap="square">
            <a:spAutoFit/>
          </a:bodyPr>
          <a:lstStyle/>
          <a:p>
            <a:pPr algn="l">
              <a:spcAft>
                <a:spcPts val="800"/>
              </a:spcAft>
            </a:pPr>
            <a:r>
              <a:rPr sz="1300" b="0">
                <a:solidFill>
                  <a:srgbClr val="1F2A44"/>
                </a:solidFill>
                <a:latin typeface="Calibri"/>
              </a:rPr>
              <a:t>The chain already runs client → accounts, so grant Petr the client and let her accounts follow.</a:t>
            </a:r>
          </a:p>
          <a:p>
            <a:pPr algn="l">
              <a:spcAft>
                <a:spcPts val="800"/>
              </a:spcAft>
            </a:pPr>
            <a:r>
              <a:rPr sz="1300" b="1">
                <a:solidFill>
                  <a:srgbClr val="991B1B"/>
                </a:solidFill>
                <a:latin typeface="Calibri"/>
              </a:rPr>
              <a:t>He now reads her OTHER accounts, her loans, her date of birth. Authorising someone to pay a bill becomes authorising them to read you.</a:t>
            </a:r>
          </a:p>
          <a:p>
            <a:pPr algn="l">
              <a:spcAft>
                <a:spcPts val="800"/>
              </a:spcAft>
            </a:pPr>
            <a:r>
              <a:rPr sz="1250" b="0">
                <a:solidFill>
                  <a:srgbClr val="5B6472"/>
                </a:solidFill>
                <a:latin typeface="Calibri"/>
              </a:rPr>
              <a:t>Nobody signing that arrangement would expect it.</a:t>
            </a:r>
          </a:p>
        </p:txBody>
      </p:sp>
      <p:sp>
        <p:nvSpPr>
          <p:cNvPr id="8" name="Rounded Rectangle 7"/>
          <p:cNvSpPr/>
          <p:nvPr/>
        </p:nvSpPr>
        <p:spPr>
          <a:xfrm>
            <a:off x="6217920" y="1783080"/>
            <a:ext cx="5440680" cy="2286000"/>
          </a:xfrm>
          <a:prstGeom prst="roundRect">
            <a:avLst>
              <a:gd name="adj" fmla="val 4000"/>
            </a:avLst>
          </a:prstGeom>
          <a:solidFill>
            <a:srgbClr val="F7F9FC"/>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01952"/>
            <a:ext cx="4846320" cy="320040"/>
          </a:xfrm>
          <a:prstGeom prst="rect">
            <a:avLst/>
          </a:prstGeom>
          <a:noFill/>
        </p:spPr>
        <p:txBody>
          <a:bodyPr wrap="square">
            <a:spAutoFit/>
          </a:bodyPr>
          <a:lstStyle/>
          <a:p>
            <a:pPr algn="l">
              <a:spcAft>
                <a:spcPts val="400"/>
              </a:spcAft>
            </a:pPr>
            <a:r>
              <a:rPr sz="1200" b="1">
                <a:solidFill>
                  <a:srgbClr val="15803D"/>
                </a:solidFill>
                <a:latin typeface="Calibri"/>
              </a:rPr>
              <a:t>WHAT WE BUILT — grant the account</a:t>
            </a:r>
          </a:p>
        </p:txBody>
      </p:sp>
      <p:sp>
        <p:nvSpPr>
          <p:cNvPr id="10" name="TextBox 9"/>
          <p:cNvSpPr txBox="1"/>
          <p:nvPr/>
        </p:nvSpPr>
        <p:spPr>
          <a:xfrm>
            <a:off x="6492240" y="2286000"/>
            <a:ext cx="4846320" cy="1645920"/>
          </a:xfrm>
          <a:prstGeom prst="rect">
            <a:avLst/>
          </a:prstGeom>
          <a:noFill/>
        </p:spPr>
        <p:txBody>
          <a:bodyPr wrap="square">
            <a:spAutoFit/>
          </a:bodyPr>
          <a:lstStyle/>
          <a:p>
            <a:pPr algn="l">
              <a:spcAft>
                <a:spcPts val="800"/>
              </a:spcAft>
            </a:pPr>
            <a:r>
              <a:rPr sz="1300" b="0">
                <a:solidFill>
                  <a:srgbClr val="1F2A44"/>
                </a:solidFill>
                <a:latin typeface="Calibri"/>
              </a:rPr>
              <a:t>The right is over the account, so the grant is over the account.</a:t>
            </a:r>
          </a:p>
          <a:p>
            <a:pPr algn="l">
              <a:spcAft>
                <a:spcPts val="800"/>
              </a:spcAft>
            </a:pPr>
            <a:r>
              <a:rPr sz="1300" b="1">
                <a:solidFill>
                  <a:srgbClr val="15803D"/>
                </a:solidFill>
                <a:latin typeface="Calibri"/>
              </a:rPr>
              <a:t>He reaches account 3112, its 439 postings, its loan and its balances — and gets zero rows for Klara herself.</a:t>
            </a:r>
          </a:p>
          <a:p>
            <a:pPr algn="l">
              <a:spcAft>
                <a:spcPts val="800"/>
              </a:spcAft>
            </a:pPr>
            <a:r>
              <a:rPr sz="1250" b="0">
                <a:solidFill>
                  <a:srgbClr val="5B6472"/>
                </a:solidFill>
                <a:latin typeface="Calibri"/>
              </a:rPr>
              <a:t>Tested by name, both directions.</a:t>
            </a:r>
          </a:p>
        </p:txBody>
      </p:sp>
      <p:sp>
        <p:nvSpPr>
          <p:cNvPr id="11" name="Rounded Rectangle 10"/>
          <p:cNvSpPr/>
          <p:nvPr/>
        </p:nvSpPr>
        <p:spPr>
          <a:xfrm>
            <a:off x="548640" y="434340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471416"/>
            <a:ext cx="2036003" cy="548640"/>
          </a:xfrm>
          <a:prstGeom prst="rect">
            <a:avLst/>
          </a:prstGeom>
          <a:noFill/>
        </p:spPr>
        <p:txBody>
          <a:bodyPr wrap="square">
            <a:spAutoFit/>
          </a:bodyPr>
          <a:lstStyle/>
          <a:p>
            <a:pPr algn="ctr">
              <a:spcAft>
                <a:spcPts val="0"/>
              </a:spcAft>
            </a:pPr>
            <a:r>
              <a:rPr sz="2600" b="1">
                <a:solidFill>
                  <a:srgbClr val="1F3864"/>
                </a:solidFill>
                <a:latin typeface="Calibri"/>
              </a:rPr>
              <a:t>3764</a:t>
            </a:r>
          </a:p>
        </p:txBody>
      </p:sp>
      <p:sp>
        <p:nvSpPr>
          <p:cNvPr id="13" name="TextBox 12"/>
          <p:cNvSpPr txBox="1"/>
          <p:nvPr/>
        </p:nvSpPr>
        <p:spPr>
          <a:xfrm>
            <a:off x="640080" y="5001768"/>
            <a:ext cx="1853123" cy="457200"/>
          </a:xfrm>
          <a:prstGeom prst="rect">
            <a:avLst/>
          </a:prstGeom>
          <a:noFill/>
        </p:spPr>
        <p:txBody>
          <a:bodyPr wrap="square">
            <a:spAutoFit/>
          </a:bodyPr>
          <a:lstStyle/>
          <a:p>
            <a:pPr algn="ctr">
              <a:spcAft>
                <a:spcPts val="0"/>
              </a:spcAft>
            </a:pPr>
            <a:r>
              <a:rPr sz="1100" b="0">
                <a:solidFill>
                  <a:srgbClr val="5B6472"/>
                </a:solidFill>
                <a:latin typeface="Calibri"/>
              </a:rPr>
              <a:t>can use the account</a:t>
            </a:r>
          </a:p>
        </p:txBody>
      </p:sp>
      <p:sp>
        <p:nvSpPr>
          <p:cNvPr id="14" name="Rounded Rectangle 13"/>
          <p:cNvSpPr/>
          <p:nvPr/>
        </p:nvSpPr>
        <p:spPr>
          <a:xfrm>
            <a:off x="2813243" y="434340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13243" y="4471416"/>
            <a:ext cx="2036003" cy="548640"/>
          </a:xfrm>
          <a:prstGeom prst="rect">
            <a:avLst/>
          </a:prstGeom>
          <a:noFill/>
        </p:spPr>
        <p:txBody>
          <a:bodyPr wrap="square">
            <a:spAutoFit/>
          </a:bodyPr>
          <a:lstStyle/>
          <a:p>
            <a:pPr algn="ctr">
              <a:spcAft>
                <a:spcPts val="0"/>
              </a:spcAft>
            </a:pPr>
            <a:r>
              <a:rPr sz="2600" b="1">
                <a:solidFill>
                  <a:srgbClr val="1F3864"/>
                </a:solidFill>
                <a:latin typeface="Calibri"/>
              </a:rPr>
              <a:t>1</a:t>
            </a:r>
          </a:p>
        </p:txBody>
      </p:sp>
      <p:sp>
        <p:nvSpPr>
          <p:cNvPr id="16" name="TextBox 15"/>
          <p:cNvSpPr txBox="1"/>
          <p:nvPr/>
        </p:nvSpPr>
        <p:spPr>
          <a:xfrm>
            <a:off x="2904683" y="5001768"/>
            <a:ext cx="1853123" cy="457200"/>
          </a:xfrm>
          <a:prstGeom prst="rect">
            <a:avLst/>
          </a:prstGeom>
          <a:noFill/>
        </p:spPr>
        <p:txBody>
          <a:bodyPr wrap="square">
            <a:spAutoFit/>
          </a:bodyPr>
          <a:lstStyle/>
          <a:p>
            <a:pPr algn="ctr">
              <a:spcAft>
                <a:spcPts val="0"/>
              </a:spcAft>
            </a:pPr>
            <a:r>
              <a:rPr sz="1100" b="0">
                <a:solidFill>
                  <a:srgbClr val="5B6472"/>
                </a:solidFill>
                <a:latin typeface="Calibri"/>
              </a:rPr>
              <a:t>client he can see: himself</a:t>
            </a:r>
          </a:p>
        </p:txBody>
      </p:sp>
      <p:sp>
        <p:nvSpPr>
          <p:cNvPr id="17" name="Rounded Rectangle 16"/>
          <p:cNvSpPr/>
          <p:nvPr/>
        </p:nvSpPr>
        <p:spPr>
          <a:xfrm>
            <a:off x="5077846" y="434340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7846" y="4471416"/>
            <a:ext cx="2036003" cy="548640"/>
          </a:xfrm>
          <a:prstGeom prst="rect">
            <a:avLst/>
          </a:prstGeom>
          <a:noFill/>
        </p:spPr>
        <p:txBody>
          <a:bodyPr wrap="square">
            <a:spAutoFit/>
          </a:bodyPr>
          <a:lstStyle/>
          <a:p>
            <a:pPr algn="ctr">
              <a:spcAft>
                <a:spcPts val="0"/>
              </a:spcAft>
            </a:pPr>
            <a:r>
              <a:rPr sz="2600" b="1">
                <a:solidFill>
                  <a:srgbClr val="1F3864"/>
                </a:solidFill>
                <a:latin typeface="Calibri"/>
              </a:rPr>
              <a:t>0</a:t>
            </a:r>
          </a:p>
        </p:txBody>
      </p:sp>
      <p:sp>
        <p:nvSpPr>
          <p:cNvPr id="19" name="TextBox 18"/>
          <p:cNvSpPr txBox="1"/>
          <p:nvPr/>
        </p:nvSpPr>
        <p:spPr>
          <a:xfrm>
            <a:off x="5169286" y="5001768"/>
            <a:ext cx="1853123" cy="457200"/>
          </a:xfrm>
          <a:prstGeom prst="rect">
            <a:avLst/>
          </a:prstGeom>
          <a:noFill/>
        </p:spPr>
        <p:txBody>
          <a:bodyPr wrap="square">
            <a:spAutoFit/>
          </a:bodyPr>
          <a:lstStyle/>
          <a:p>
            <a:pPr algn="ctr">
              <a:spcAft>
                <a:spcPts val="0"/>
              </a:spcAft>
            </a:pPr>
            <a:r>
              <a:rPr sz="1100" b="0">
                <a:solidFill>
                  <a:srgbClr val="5B6472"/>
                </a:solidFill>
                <a:latin typeface="Calibri"/>
              </a:rPr>
              <a:t>rows about its owner</a:t>
            </a:r>
          </a:p>
        </p:txBody>
      </p:sp>
      <p:sp>
        <p:nvSpPr>
          <p:cNvPr id="20" name="Rounded Rectangle 19"/>
          <p:cNvSpPr/>
          <p:nvPr/>
        </p:nvSpPr>
        <p:spPr>
          <a:xfrm>
            <a:off x="7342449" y="434340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2449" y="4471416"/>
            <a:ext cx="2036003" cy="548640"/>
          </a:xfrm>
          <a:prstGeom prst="rect">
            <a:avLst/>
          </a:prstGeom>
          <a:noFill/>
        </p:spPr>
        <p:txBody>
          <a:bodyPr wrap="square">
            <a:spAutoFit/>
          </a:bodyPr>
          <a:lstStyle/>
          <a:p>
            <a:pPr algn="ctr">
              <a:spcAft>
                <a:spcPts val="0"/>
              </a:spcAft>
            </a:pPr>
            <a:r>
              <a:rPr sz="2600" b="1">
                <a:solidFill>
                  <a:srgbClr val="1F3864"/>
                </a:solidFill>
                <a:latin typeface="Calibri"/>
              </a:rPr>
              <a:t>869</a:t>
            </a:r>
          </a:p>
        </p:txBody>
      </p:sp>
      <p:sp>
        <p:nvSpPr>
          <p:cNvPr id="22" name="TextBox 21"/>
          <p:cNvSpPr txBox="1"/>
          <p:nvPr/>
        </p:nvSpPr>
        <p:spPr>
          <a:xfrm>
            <a:off x="7433889" y="5001768"/>
            <a:ext cx="1853123" cy="457200"/>
          </a:xfrm>
          <a:prstGeom prst="rect">
            <a:avLst/>
          </a:prstGeom>
          <a:noFill/>
        </p:spPr>
        <p:txBody>
          <a:bodyPr wrap="square">
            <a:spAutoFit/>
          </a:bodyPr>
          <a:lstStyle/>
          <a:p>
            <a:pPr algn="ctr">
              <a:spcAft>
                <a:spcPts val="0"/>
              </a:spcAft>
            </a:pPr>
            <a:r>
              <a:rPr sz="1100" b="0">
                <a:solidFill>
                  <a:srgbClr val="5B6472"/>
                </a:solidFill>
                <a:latin typeface="Calibri"/>
              </a:rPr>
              <a:t>clients in this position</a:t>
            </a:r>
          </a:p>
        </p:txBody>
      </p:sp>
      <p:sp>
        <p:nvSpPr>
          <p:cNvPr id="23" name="Rounded Rectangle 22"/>
          <p:cNvSpPr/>
          <p:nvPr/>
        </p:nvSpPr>
        <p:spPr>
          <a:xfrm>
            <a:off x="9607052" y="434340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7052" y="4471416"/>
            <a:ext cx="2036003" cy="548640"/>
          </a:xfrm>
          <a:prstGeom prst="rect">
            <a:avLst/>
          </a:prstGeom>
          <a:noFill/>
        </p:spPr>
        <p:txBody>
          <a:bodyPr wrap="square">
            <a:spAutoFit/>
          </a:bodyPr>
          <a:lstStyle/>
          <a:p>
            <a:pPr algn="ctr">
              <a:spcAft>
                <a:spcPts val="0"/>
              </a:spcAft>
            </a:pPr>
            <a:r>
              <a:rPr sz="2600" b="1">
                <a:solidFill>
                  <a:srgbClr val="1F3864"/>
                </a:solidFill>
                <a:latin typeface="Calibri"/>
              </a:rPr>
              <a:t>1,481</a:t>
            </a:r>
          </a:p>
        </p:txBody>
      </p:sp>
      <p:sp>
        <p:nvSpPr>
          <p:cNvPr id="25" name="TextBox 24"/>
          <p:cNvSpPr txBox="1"/>
          <p:nvPr/>
        </p:nvSpPr>
        <p:spPr>
          <a:xfrm>
            <a:off x="9698492" y="5001768"/>
            <a:ext cx="1853123" cy="457200"/>
          </a:xfrm>
          <a:prstGeom prst="rect">
            <a:avLst/>
          </a:prstGeom>
          <a:noFill/>
        </p:spPr>
        <p:txBody>
          <a:bodyPr wrap="square">
            <a:spAutoFit/>
          </a:bodyPr>
          <a:lstStyle/>
          <a:p>
            <a:pPr algn="ctr">
              <a:spcAft>
                <a:spcPts val="0"/>
              </a:spcAft>
            </a:pPr>
            <a:r>
              <a:rPr sz="1100" b="0">
                <a:solidFill>
                  <a:srgbClr val="5B6472"/>
                </a:solidFill>
                <a:latin typeface="Calibri"/>
              </a:rPr>
              <a:t>clients their manager sees</a:t>
            </a:r>
          </a:p>
        </p:txBody>
      </p:sp>
      <p:sp>
        <p:nvSpPr>
          <p:cNvPr id="26" name="TextBox 25"/>
          <p:cNvSpPr txBox="1"/>
          <p:nvPr/>
        </p:nvSpPr>
        <p:spPr>
          <a:xfrm>
            <a:off x="548640" y="5806440"/>
            <a:ext cx="11155680" cy="457200"/>
          </a:xfrm>
          <a:prstGeom prst="rect">
            <a:avLst/>
          </a:prstGeom>
          <a:noFill/>
        </p:spPr>
        <p:txBody>
          <a:bodyPr wrap="square">
            <a:spAutoFit/>
          </a:bodyPr>
          <a:lstStyle/>
          <a:p>
            <a:pPr algn="l">
              <a:spcAft>
                <a:spcPts val="0"/>
              </a:spcAft>
            </a:pPr>
            <a:r>
              <a:rPr sz="1400" b="1">
                <a:solidFill>
                  <a:srgbClr val="1F3864"/>
                </a:solidFill>
                <a:latin typeface="Calibri"/>
              </a:rPr>
              <a:t>The model carries subject_kind so a grant can be over a person or over an account. Disposition grants are always over the account.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AUTHENTICATION</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Two steps to a login, and what each stops</a:t>
            </a:r>
          </a:p>
        </p:txBody>
      </p:sp>
      <p:pic>
        <p:nvPicPr>
          <p:cNvPr id="4" name="Picture 3" descr="12_auth_flow.png"/>
          <p:cNvPicPr>
            <a:picLocks noChangeAspect="1"/>
          </p:cNvPicPr>
          <p:nvPr/>
        </p:nvPicPr>
        <p:blipFill>
          <a:blip r:embed="rId2"/>
          <a:stretch>
            <a:fillRect/>
          </a:stretch>
        </p:blipFill>
        <p:spPr>
          <a:xfrm>
            <a:off x="2023131" y="1097280"/>
            <a:ext cx="8145433" cy="534924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MAKE DEMO-LOGIN</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Seeing it: eight logins, live</a:t>
            </a:r>
          </a:p>
        </p:txBody>
      </p:sp>
      <p:sp>
        <p:nvSpPr>
          <p:cNvPr id="4" name="TextBox 3"/>
          <p:cNvSpPr txBox="1"/>
          <p:nvPr/>
        </p:nvSpPr>
        <p:spPr>
          <a:xfrm>
            <a:off x="640080" y="1188720"/>
            <a:ext cx="10972800" cy="347472"/>
          </a:xfrm>
          <a:prstGeom prst="rect">
            <a:avLst/>
          </a:prstGeom>
          <a:noFill/>
        </p:spPr>
        <p:txBody>
          <a:bodyPr wrap="square">
            <a:spAutoFit/>
          </a:bodyPr>
          <a:lstStyle/>
          <a:p>
            <a:pPr algn="l">
              <a:spcAft>
                <a:spcPts val="600"/>
              </a:spcAft>
            </a:pPr>
            <a:r>
              <a:rPr sz="1550" b="0">
                <a:solidFill>
                  <a:srgbClr val="5B6472"/>
                </a:solidFill>
                <a:latin typeface="Calibri"/>
              </a:rPr>
              <a:t>A fifteen-minute walkthrough. Every login is real; the only simulated part is the phone showing the code.</a:t>
            </a:r>
          </a:p>
        </p:txBody>
      </p:sp>
      <p:sp>
        <p:nvSpPr>
          <p:cNvPr id="5" name="Rounded Rectangle 4"/>
          <p:cNvSpPr/>
          <p:nvPr/>
        </p:nvSpPr>
        <p:spPr>
          <a:xfrm>
            <a:off x="548640" y="1691640"/>
            <a:ext cx="475488" cy="56692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475488" cy="320040"/>
          </a:xfrm>
          <a:prstGeom prst="rect">
            <a:avLst/>
          </a:prstGeom>
          <a:noFill/>
        </p:spPr>
        <p:txBody>
          <a:bodyPr wrap="square">
            <a:spAutoFit/>
          </a:bodyPr>
          <a:lstStyle/>
          <a:p>
            <a:pPr algn="ctr">
              <a:spcAft>
                <a:spcPts val="0"/>
              </a:spcAft>
            </a:pPr>
            <a:r>
              <a:rPr sz="1300" b="1">
                <a:solidFill>
                  <a:srgbClr val="FFFFFF"/>
                </a:solidFill>
                <a:latin typeface="Calibri"/>
              </a:rPr>
              <a:t>1</a:t>
            </a:r>
          </a:p>
        </p:txBody>
      </p:sp>
      <p:sp>
        <p:nvSpPr>
          <p:cNvPr id="7" name="Rounded Rectangle 6"/>
          <p:cNvSpPr/>
          <p:nvPr/>
        </p:nvSpPr>
        <p:spPr>
          <a:xfrm>
            <a:off x="1024128" y="1691640"/>
            <a:ext cx="1063447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828800"/>
            <a:ext cx="3931920" cy="320040"/>
          </a:xfrm>
          <a:prstGeom prst="rect">
            <a:avLst/>
          </a:prstGeom>
          <a:noFill/>
        </p:spPr>
        <p:txBody>
          <a:bodyPr wrap="square">
            <a:spAutoFit/>
          </a:bodyPr>
          <a:lstStyle/>
          <a:p>
            <a:pPr algn="l">
              <a:spcAft>
                <a:spcPts val="0"/>
              </a:spcAft>
            </a:pPr>
            <a:r>
              <a:rPr sz="1350" b="1">
                <a:solidFill>
                  <a:srgbClr val="1F2A44"/>
                </a:solidFill>
                <a:latin typeface="Calibri"/>
              </a:rPr>
              <a:t>A customer logs in</a:t>
            </a:r>
          </a:p>
        </p:txBody>
      </p:sp>
      <p:sp>
        <p:nvSpPr>
          <p:cNvPr id="9" name="TextBox 8"/>
          <p:cNvSpPr txBox="1"/>
          <p:nvPr/>
        </p:nvSpPr>
        <p:spPr>
          <a:xfrm>
            <a:off x="5394960" y="1847088"/>
            <a:ext cx="6035040" cy="320040"/>
          </a:xfrm>
          <a:prstGeom prst="rect">
            <a:avLst/>
          </a:prstGeom>
          <a:noFill/>
        </p:spPr>
        <p:txBody>
          <a:bodyPr wrap="square">
            <a:spAutoFit/>
          </a:bodyPr>
          <a:lstStyle/>
          <a:p>
            <a:pPr algn="l">
              <a:spcAft>
                <a:spcPts val="0"/>
              </a:spcAft>
            </a:pPr>
            <a:r>
              <a:rPr sz="1250" b="0">
                <a:solidFill>
                  <a:srgbClr val="5B6472"/>
                </a:solidFill>
                <a:latin typeface="Calibri"/>
              </a:rPr>
              <a:t>One client, one account, her 439 postings. That is her whole bank.</a:t>
            </a:r>
          </a:p>
        </p:txBody>
      </p:sp>
      <p:sp>
        <p:nvSpPr>
          <p:cNvPr id="10" name="Rounded Rectangle 9"/>
          <p:cNvSpPr/>
          <p:nvPr/>
        </p:nvSpPr>
        <p:spPr>
          <a:xfrm>
            <a:off x="548640" y="2350008"/>
            <a:ext cx="475488" cy="566928"/>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487168"/>
            <a:ext cx="475488" cy="320040"/>
          </a:xfrm>
          <a:prstGeom prst="rect">
            <a:avLst/>
          </a:prstGeom>
          <a:noFill/>
        </p:spPr>
        <p:txBody>
          <a:bodyPr wrap="square">
            <a:spAutoFit/>
          </a:bodyPr>
          <a:lstStyle/>
          <a:p>
            <a:pPr algn="ctr">
              <a:spcAft>
                <a:spcPts val="0"/>
              </a:spcAft>
            </a:pPr>
            <a:r>
              <a:rPr sz="1300" b="1">
                <a:solidFill>
                  <a:srgbClr val="FFFFFF"/>
                </a:solidFill>
                <a:latin typeface="Calibri"/>
              </a:rPr>
              <a:t>2</a:t>
            </a:r>
          </a:p>
        </p:txBody>
      </p:sp>
      <p:sp>
        <p:nvSpPr>
          <p:cNvPr id="12" name="Rounded Rectangle 11"/>
          <p:cNvSpPr/>
          <p:nvPr/>
        </p:nvSpPr>
        <p:spPr>
          <a:xfrm>
            <a:off x="1024128" y="2350008"/>
            <a:ext cx="1063447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487168"/>
            <a:ext cx="3931920" cy="320040"/>
          </a:xfrm>
          <a:prstGeom prst="rect">
            <a:avLst/>
          </a:prstGeom>
          <a:noFill/>
        </p:spPr>
        <p:txBody>
          <a:bodyPr wrap="square">
            <a:spAutoFit/>
          </a:bodyPr>
          <a:lstStyle/>
          <a:p>
            <a:pPr algn="l">
              <a:spcAft>
                <a:spcPts val="0"/>
              </a:spcAft>
            </a:pPr>
            <a:r>
              <a:rPr sz="1350" b="1">
                <a:solidFill>
                  <a:srgbClr val="1F2A44"/>
                </a:solidFill>
                <a:latin typeface="Calibri"/>
              </a:rPr>
              <a:t>A second customer, same manager</a:t>
            </a:r>
          </a:p>
        </p:txBody>
      </p:sp>
      <p:sp>
        <p:nvSpPr>
          <p:cNvPr id="14" name="TextBox 13"/>
          <p:cNvSpPr txBox="1"/>
          <p:nvPr/>
        </p:nvSpPr>
        <p:spPr>
          <a:xfrm>
            <a:off x="5394960" y="2505456"/>
            <a:ext cx="6035040" cy="320040"/>
          </a:xfrm>
          <a:prstGeom prst="rect">
            <a:avLst/>
          </a:prstGeom>
          <a:noFill/>
        </p:spPr>
        <p:txBody>
          <a:bodyPr wrap="square">
            <a:spAutoFit/>
          </a:bodyPr>
          <a:lstStyle/>
          <a:p>
            <a:pPr algn="l">
              <a:spcAft>
                <a:spcPts val="0"/>
              </a:spcAft>
            </a:pPr>
            <a:r>
              <a:rPr sz="1250" b="0">
                <a:solidFill>
                  <a:srgbClr val="5B6472"/>
                </a:solidFill>
                <a:latin typeface="Calibri"/>
              </a:rPr>
              <a:t>Reaches the same account. Cannot reach its owner.</a:t>
            </a:r>
          </a:p>
        </p:txBody>
      </p:sp>
      <p:sp>
        <p:nvSpPr>
          <p:cNvPr id="15" name="Rounded Rectangle 14"/>
          <p:cNvSpPr/>
          <p:nvPr/>
        </p:nvSpPr>
        <p:spPr>
          <a:xfrm>
            <a:off x="548640" y="3008376"/>
            <a:ext cx="475488" cy="56692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145536"/>
            <a:ext cx="475488" cy="320040"/>
          </a:xfrm>
          <a:prstGeom prst="rect">
            <a:avLst/>
          </a:prstGeom>
          <a:noFill/>
        </p:spPr>
        <p:txBody>
          <a:bodyPr wrap="square">
            <a:spAutoFit/>
          </a:bodyPr>
          <a:lstStyle/>
          <a:p>
            <a:pPr algn="ctr">
              <a:spcAft>
                <a:spcPts val="0"/>
              </a:spcAft>
            </a:pPr>
            <a:r>
              <a:rPr sz="1300" b="1">
                <a:solidFill>
                  <a:srgbClr val="FFFFFF"/>
                </a:solidFill>
                <a:latin typeface="Calibri"/>
              </a:rPr>
              <a:t>3</a:t>
            </a:r>
          </a:p>
        </p:txBody>
      </p:sp>
      <p:sp>
        <p:nvSpPr>
          <p:cNvPr id="17" name="Rounded Rectangle 16"/>
          <p:cNvSpPr/>
          <p:nvPr/>
        </p:nvSpPr>
        <p:spPr>
          <a:xfrm>
            <a:off x="1024128" y="3008376"/>
            <a:ext cx="1063447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3145536"/>
            <a:ext cx="3931920" cy="320040"/>
          </a:xfrm>
          <a:prstGeom prst="rect">
            <a:avLst/>
          </a:prstGeom>
          <a:noFill/>
        </p:spPr>
        <p:txBody>
          <a:bodyPr wrap="square">
            <a:spAutoFit/>
          </a:bodyPr>
          <a:lstStyle/>
          <a:p>
            <a:pPr algn="l">
              <a:spcAft>
                <a:spcPts val="0"/>
              </a:spcAft>
            </a:pPr>
            <a:r>
              <a:rPr sz="1350" b="1">
                <a:solidFill>
                  <a:srgbClr val="1F2A44"/>
                </a:solidFill>
                <a:latin typeface="Calibri"/>
              </a:rPr>
              <a:t>One tries to read the other</a:t>
            </a:r>
          </a:p>
        </p:txBody>
      </p:sp>
      <p:sp>
        <p:nvSpPr>
          <p:cNvPr id="19" name="TextBox 18"/>
          <p:cNvSpPr txBox="1"/>
          <p:nvPr/>
        </p:nvSpPr>
        <p:spPr>
          <a:xfrm>
            <a:off x="5394960" y="3163824"/>
            <a:ext cx="6035040" cy="320040"/>
          </a:xfrm>
          <a:prstGeom prst="rect">
            <a:avLst/>
          </a:prstGeom>
          <a:noFill/>
        </p:spPr>
        <p:txBody>
          <a:bodyPr wrap="square">
            <a:spAutoFit/>
          </a:bodyPr>
          <a:lstStyle/>
          <a:p>
            <a:pPr algn="l">
              <a:spcAft>
                <a:spcPts val="0"/>
              </a:spcAft>
            </a:pPr>
            <a:r>
              <a:rPr sz="1250" b="0">
                <a:solidFill>
                  <a:srgbClr val="5B6472"/>
                </a:solidFill>
                <a:latin typeface="Calibri"/>
              </a:rPr>
              <a:t>Seven attempts by name. Seven refusals, two different kinds.</a:t>
            </a:r>
          </a:p>
        </p:txBody>
      </p:sp>
      <p:sp>
        <p:nvSpPr>
          <p:cNvPr id="20" name="Rounded Rectangle 19"/>
          <p:cNvSpPr/>
          <p:nvPr/>
        </p:nvSpPr>
        <p:spPr>
          <a:xfrm>
            <a:off x="548640" y="3666744"/>
            <a:ext cx="475488" cy="56692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803904"/>
            <a:ext cx="475488" cy="320040"/>
          </a:xfrm>
          <a:prstGeom prst="rect">
            <a:avLst/>
          </a:prstGeom>
          <a:noFill/>
        </p:spPr>
        <p:txBody>
          <a:bodyPr wrap="square">
            <a:spAutoFit/>
          </a:bodyPr>
          <a:lstStyle/>
          <a:p>
            <a:pPr algn="ctr">
              <a:spcAft>
                <a:spcPts val="0"/>
              </a:spcAft>
            </a:pPr>
            <a:r>
              <a:rPr sz="1300" b="1">
                <a:solidFill>
                  <a:srgbClr val="FFFFFF"/>
                </a:solidFill>
                <a:latin typeface="Calibri"/>
              </a:rPr>
              <a:t>4</a:t>
            </a:r>
          </a:p>
        </p:txBody>
      </p:sp>
      <p:sp>
        <p:nvSpPr>
          <p:cNvPr id="22" name="Rounded Rectangle 21"/>
          <p:cNvSpPr/>
          <p:nvPr/>
        </p:nvSpPr>
        <p:spPr>
          <a:xfrm>
            <a:off x="1024128" y="3666744"/>
            <a:ext cx="1063447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3803904"/>
            <a:ext cx="3931920" cy="320040"/>
          </a:xfrm>
          <a:prstGeom prst="rect">
            <a:avLst/>
          </a:prstGeom>
          <a:noFill/>
        </p:spPr>
        <p:txBody>
          <a:bodyPr wrap="square">
            <a:spAutoFit/>
          </a:bodyPr>
          <a:lstStyle/>
          <a:p>
            <a:pPr algn="l">
              <a:spcAft>
                <a:spcPts val="0"/>
              </a:spcAft>
            </a:pPr>
            <a:r>
              <a:rPr sz="1350" b="1">
                <a:solidFill>
                  <a:srgbClr val="1F2A44"/>
                </a:solidFill>
                <a:latin typeface="Calibri"/>
              </a:rPr>
              <a:t>Their manager, and a new joiner</a:t>
            </a:r>
          </a:p>
        </p:txBody>
      </p:sp>
      <p:sp>
        <p:nvSpPr>
          <p:cNvPr id="24" name="TextBox 23"/>
          <p:cNvSpPr txBox="1"/>
          <p:nvPr/>
        </p:nvSpPr>
        <p:spPr>
          <a:xfrm>
            <a:off x="5394960" y="3822192"/>
            <a:ext cx="6035040" cy="320040"/>
          </a:xfrm>
          <a:prstGeom prst="rect">
            <a:avLst/>
          </a:prstGeom>
          <a:noFill/>
        </p:spPr>
        <p:txBody>
          <a:bodyPr wrap="square">
            <a:spAutoFit/>
          </a:bodyPr>
          <a:lstStyle/>
          <a:p>
            <a:pPr algn="l">
              <a:spcAft>
                <a:spcPts val="0"/>
              </a:spcAft>
            </a:pPr>
            <a:r>
              <a:rPr sz="1250" b="0">
                <a:solidFill>
                  <a:srgbClr val="5B6472"/>
                </a:solidFill>
                <a:latin typeface="Calibri"/>
              </a:rPr>
              <a:t>1,481 clients and 0. The default is see nothing.</a:t>
            </a:r>
          </a:p>
        </p:txBody>
      </p:sp>
      <p:sp>
        <p:nvSpPr>
          <p:cNvPr id="25" name="Rounded Rectangle 24"/>
          <p:cNvSpPr/>
          <p:nvPr/>
        </p:nvSpPr>
        <p:spPr>
          <a:xfrm>
            <a:off x="548640" y="4325112"/>
            <a:ext cx="475488" cy="56692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462272"/>
            <a:ext cx="475488" cy="320040"/>
          </a:xfrm>
          <a:prstGeom prst="rect">
            <a:avLst/>
          </a:prstGeom>
          <a:noFill/>
        </p:spPr>
        <p:txBody>
          <a:bodyPr wrap="square">
            <a:spAutoFit/>
          </a:bodyPr>
          <a:lstStyle/>
          <a:p>
            <a:pPr algn="ctr">
              <a:spcAft>
                <a:spcPts val="0"/>
              </a:spcAft>
            </a:pPr>
            <a:r>
              <a:rPr sz="1300" b="1">
                <a:solidFill>
                  <a:srgbClr val="FFFFFF"/>
                </a:solidFill>
                <a:latin typeface="Calibri"/>
              </a:rPr>
              <a:t>5</a:t>
            </a:r>
          </a:p>
        </p:txBody>
      </p:sp>
      <p:sp>
        <p:nvSpPr>
          <p:cNvPr id="27" name="Rounded Rectangle 26"/>
          <p:cNvSpPr/>
          <p:nvPr/>
        </p:nvSpPr>
        <p:spPr>
          <a:xfrm>
            <a:off x="1024128" y="4325112"/>
            <a:ext cx="1063447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0160" y="4462272"/>
            <a:ext cx="3931920" cy="320040"/>
          </a:xfrm>
          <a:prstGeom prst="rect">
            <a:avLst/>
          </a:prstGeom>
          <a:noFill/>
        </p:spPr>
        <p:txBody>
          <a:bodyPr wrap="square">
            <a:spAutoFit/>
          </a:bodyPr>
          <a:lstStyle/>
          <a:p>
            <a:pPr algn="l">
              <a:spcAft>
                <a:spcPts val="0"/>
              </a:spcAft>
            </a:pPr>
            <a:r>
              <a:rPr sz="1350" b="1">
                <a:solidFill>
                  <a:srgbClr val="1F2A44"/>
                </a:solidFill>
                <a:latin typeface="Calibri"/>
              </a:rPr>
              <a:t>The admin with the wrong code</a:t>
            </a:r>
          </a:p>
        </p:txBody>
      </p:sp>
      <p:sp>
        <p:nvSpPr>
          <p:cNvPr id="29" name="TextBox 28"/>
          <p:cNvSpPr txBox="1"/>
          <p:nvPr/>
        </p:nvSpPr>
        <p:spPr>
          <a:xfrm>
            <a:off x="5394960" y="4480560"/>
            <a:ext cx="6035040" cy="320040"/>
          </a:xfrm>
          <a:prstGeom prst="rect">
            <a:avLst/>
          </a:prstGeom>
          <a:noFill/>
        </p:spPr>
        <p:txBody>
          <a:bodyPr wrap="square">
            <a:spAutoFit/>
          </a:bodyPr>
          <a:lstStyle/>
          <a:p>
            <a:pPr algn="l">
              <a:spcAft>
                <a:spcPts val="0"/>
              </a:spcAft>
            </a:pPr>
            <a:r>
              <a:rPr sz="1250" b="0">
                <a:solidFill>
                  <a:srgbClr val="5B6472"/>
                </a:solidFill>
                <a:latin typeface="Calibri"/>
              </a:rPr>
              <a:t>Password correct. Zero rows. THE slide to show.</a:t>
            </a:r>
          </a:p>
        </p:txBody>
      </p:sp>
      <p:sp>
        <p:nvSpPr>
          <p:cNvPr id="30" name="Rounded Rectangle 29"/>
          <p:cNvSpPr/>
          <p:nvPr/>
        </p:nvSpPr>
        <p:spPr>
          <a:xfrm>
            <a:off x="548640" y="4983480"/>
            <a:ext cx="475488" cy="56692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120640"/>
            <a:ext cx="475488" cy="320040"/>
          </a:xfrm>
          <a:prstGeom prst="rect">
            <a:avLst/>
          </a:prstGeom>
          <a:noFill/>
        </p:spPr>
        <p:txBody>
          <a:bodyPr wrap="square">
            <a:spAutoFit/>
          </a:bodyPr>
          <a:lstStyle/>
          <a:p>
            <a:pPr algn="ctr">
              <a:spcAft>
                <a:spcPts val="0"/>
              </a:spcAft>
            </a:pPr>
            <a:r>
              <a:rPr sz="1300" b="1">
                <a:solidFill>
                  <a:srgbClr val="FFFFFF"/>
                </a:solidFill>
                <a:latin typeface="Calibri"/>
              </a:rPr>
              <a:t>6</a:t>
            </a:r>
          </a:p>
        </p:txBody>
      </p:sp>
      <p:sp>
        <p:nvSpPr>
          <p:cNvPr id="32" name="Rounded Rectangle 31"/>
          <p:cNvSpPr/>
          <p:nvPr/>
        </p:nvSpPr>
        <p:spPr>
          <a:xfrm>
            <a:off x="1024128" y="4983480"/>
            <a:ext cx="1063447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80160" y="5120640"/>
            <a:ext cx="3931920" cy="320040"/>
          </a:xfrm>
          <a:prstGeom prst="rect">
            <a:avLst/>
          </a:prstGeom>
          <a:noFill/>
        </p:spPr>
        <p:txBody>
          <a:bodyPr wrap="square">
            <a:spAutoFit/>
          </a:bodyPr>
          <a:lstStyle/>
          <a:p>
            <a:pPr algn="l">
              <a:spcAft>
                <a:spcPts val="0"/>
              </a:spcAft>
            </a:pPr>
            <a:r>
              <a:rPr sz="1350" b="1">
                <a:solidFill>
                  <a:srgbClr val="1F2A44"/>
                </a:solidFill>
                <a:latin typeface="Calibri"/>
              </a:rPr>
              <a:t>Why each person can reach what they do</a:t>
            </a:r>
          </a:p>
        </p:txBody>
      </p:sp>
      <p:sp>
        <p:nvSpPr>
          <p:cNvPr id="34" name="TextBox 33"/>
          <p:cNvSpPr txBox="1"/>
          <p:nvPr/>
        </p:nvSpPr>
        <p:spPr>
          <a:xfrm>
            <a:off x="5394960" y="5138928"/>
            <a:ext cx="6035040" cy="320040"/>
          </a:xfrm>
          <a:prstGeom prst="rect">
            <a:avLst/>
          </a:prstGeom>
          <a:noFill/>
        </p:spPr>
        <p:txBody>
          <a:bodyPr wrap="square">
            <a:spAutoFit/>
          </a:bodyPr>
          <a:lstStyle/>
          <a:p>
            <a:pPr algn="l">
              <a:spcAft>
                <a:spcPts val="0"/>
              </a:spcAft>
            </a:pPr>
            <a:r>
              <a:rPr sz="1250" b="0">
                <a:solidFill>
                  <a:srgbClr val="5B6472"/>
                </a:solidFill>
                <a:latin typeface="Calibri"/>
              </a:rPr>
              <a:t>Six principals, each with a recorded reason.</a:t>
            </a:r>
          </a:p>
        </p:txBody>
      </p:sp>
      <p:sp>
        <p:nvSpPr>
          <p:cNvPr id="35" name="Rounded Rectangle 34"/>
          <p:cNvSpPr/>
          <p:nvPr/>
        </p:nvSpPr>
        <p:spPr>
          <a:xfrm>
            <a:off x="548640" y="5641848"/>
            <a:ext cx="475488" cy="56692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779008"/>
            <a:ext cx="475488" cy="320040"/>
          </a:xfrm>
          <a:prstGeom prst="rect">
            <a:avLst/>
          </a:prstGeom>
          <a:noFill/>
        </p:spPr>
        <p:txBody>
          <a:bodyPr wrap="square">
            <a:spAutoFit/>
          </a:bodyPr>
          <a:lstStyle/>
          <a:p>
            <a:pPr algn="ctr">
              <a:spcAft>
                <a:spcPts val="0"/>
              </a:spcAft>
            </a:pPr>
            <a:r>
              <a:rPr sz="1300" b="1">
                <a:solidFill>
                  <a:srgbClr val="FFFFFF"/>
                </a:solidFill>
                <a:latin typeface="Calibri"/>
              </a:rPr>
              <a:t>7</a:t>
            </a:r>
          </a:p>
        </p:txBody>
      </p:sp>
      <p:sp>
        <p:nvSpPr>
          <p:cNvPr id="37" name="Rounded Rectangle 36"/>
          <p:cNvSpPr/>
          <p:nvPr/>
        </p:nvSpPr>
        <p:spPr>
          <a:xfrm>
            <a:off x="1024128" y="5641848"/>
            <a:ext cx="10634472" cy="56692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80160" y="5779008"/>
            <a:ext cx="3931920" cy="320040"/>
          </a:xfrm>
          <a:prstGeom prst="rect">
            <a:avLst/>
          </a:prstGeom>
          <a:noFill/>
        </p:spPr>
        <p:txBody>
          <a:bodyPr wrap="square">
            <a:spAutoFit/>
          </a:bodyPr>
          <a:lstStyle/>
          <a:p>
            <a:pPr algn="l">
              <a:spcAft>
                <a:spcPts val="0"/>
              </a:spcAft>
            </a:pPr>
            <a:r>
              <a:rPr sz="1350" b="1">
                <a:solidFill>
                  <a:srgbClr val="1F2A44"/>
                </a:solidFill>
                <a:latin typeface="Calibri"/>
              </a:rPr>
              <a:t>What the model is</a:t>
            </a:r>
          </a:p>
        </p:txBody>
      </p:sp>
      <p:sp>
        <p:nvSpPr>
          <p:cNvPr id="39" name="TextBox 38"/>
          <p:cNvSpPr txBox="1"/>
          <p:nvPr/>
        </p:nvSpPr>
        <p:spPr>
          <a:xfrm>
            <a:off x="5394960" y="5797296"/>
            <a:ext cx="6035040" cy="320040"/>
          </a:xfrm>
          <a:prstGeom prst="rect">
            <a:avLst/>
          </a:prstGeom>
          <a:noFill/>
        </p:spPr>
        <p:txBody>
          <a:bodyPr wrap="square">
            <a:spAutoFit/>
          </a:bodyPr>
          <a:lstStyle/>
          <a:p>
            <a:pPr algn="l">
              <a:spcAft>
                <a:spcPts val="0"/>
              </a:spcAft>
            </a:pPr>
            <a:r>
              <a:rPr sz="1250" b="0">
                <a:solidFill>
                  <a:srgbClr val="5B6472"/>
                </a:solidFill>
                <a:latin typeface="Calibri"/>
              </a:rPr>
              <a:t>Four sources. Three derived, one chosen by a human.</a:t>
            </a:r>
          </a:p>
        </p:txBody>
      </p:sp>
      <p:sp>
        <p:nvSpPr>
          <p:cNvPr id="40" name="TextBox 39"/>
          <p:cNvSpPr txBox="1"/>
          <p:nvPr/>
        </p:nvSpPr>
        <p:spPr>
          <a:xfrm>
            <a:off x="548640" y="6355080"/>
            <a:ext cx="11155680" cy="457200"/>
          </a:xfrm>
          <a:prstGeom prst="rect">
            <a:avLst/>
          </a:prstGeom>
          <a:noFill/>
        </p:spPr>
        <p:txBody>
          <a:bodyPr wrap="square">
            <a:spAutoFit/>
          </a:bodyPr>
          <a:lstStyle/>
          <a:p>
            <a:pPr algn="l">
              <a:spcAft>
                <a:spcPts val="0"/>
              </a:spcAft>
            </a:pPr>
            <a:r>
              <a:rPr sz="1350" b="1">
                <a:solidFill>
                  <a:srgbClr val="1F3864"/>
                </a:solidFill>
                <a:latin typeface="Calibri"/>
              </a:rPr>
              <a:t>docs/DEMO_SCRIPT.md has the narration, the questions to expect, the answers, and what to do if it breaks live. make demo-interactive hands the keyboard to the audience.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058400" cy="457200"/>
          </a:xfrm>
          <a:prstGeom prst="rect">
            <a:avLst/>
          </a:prstGeom>
          <a:noFill/>
        </p:spPr>
        <p:txBody>
          <a:bodyPr wrap="square">
            <a:spAutoFit/>
          </a:bodyPr>
          <a:lstStyle/>
          <a:p>
            <a:pPr algn="l">
              <a:spcAft>
                <a:spcPts val="600"/>
              </a:spcAft>
            </a:pPr>
            <a:r>
              <a:rPr sz="1400" b="1">
                <a:solidFill>
                  <a:srgbClr val="9AB2D8"/>
                </a:solidFill>
                <a:latin typeface="Calibri"/>
              </a:rPr>
              <a:t>PART 3</a:t>
            </a:r>
          </a:p>
        </p:txBody>
      </p:sp>
      <p:sp>
        <p:nvSpPr>
          <p:cNvPr id="4" name="TextBox 3"/>
          <p:cNvSpPr txBox="1"/>
          <p:nvPr/>
        </p:nvSpPr>
        <p:spPr>
          <a:xfrm>
            <a:off x="1005840" y="2743200"/>
            <a:ext cx="10058400" cy="1097280"/>
          </a:xfrm>
          <a:prstGeom prst="rect">
            <a:avLst/>
          </a:prstGeom>
          <a:noFill/>
        </p:spPr>
        <p:txBody>
          <a:bodyPr wrap="square">
            <a:spAutoFit/>
          </a:bodyPr>
          <a:lstStyle/>
          <a:p>
            <a:pPr algn="l">
              <a:spcAft>
                <a:spcPts val="800"/>
              </a:spcAft>
            </a:pPr>
            <a:r>
              <a:rPr sz="4000" b="1">
                <a:solidFill>
                  <a:srgbClr val="FFFFFF"/>
                </a:solidFill>
                <a:latin typeface="Calibri"/>
              </a:rPr>
              <a:t>Why it is built this way</a:t>
            </a:r>
          </a:p>
        </p:txBody>
      </p:sp>
      <p:sp>
        <p:nvSpPr>
          <p:cNvPr id="5" name="TextBox 4"/>
          <p:cNvSpPr txBox="1"/>
          <p:nvPr/>
        </p:nvSpPr>
        <p:spPr>
          <a:xfrm>
            <a:off x="1005840" y="3931920"/>
            <a:ext cx="9144000" cy="731520"/>
          </a:xfrm>
          <a:prstGeom prst="rect">
            <a:avLst/>
          </a:prstGeom>
          <a:noFill/>
        </p:spPr>
        <p:txBody>
          <a:bodyPr wrap="square">
            <a:spAutoFit/>
          </a:bodyPr>
          <a:lstStyle/>
          <a:p>
            <a:pPr algn="l">
              <a:spcAft>
                <a:spcPts val="0"/>
              </a:spcAft>
            </a:pPr>
            <a:r>
              <a:rPr sz="1700" b="0">
                <a:solidFill>
                  <a:srgbClr val="C9D6EA"/>
                </a:solidFill>
                <a:latin typeface="Calibri"/>
              </a:rPr>
              <a:t>Six decisions, each with the options considered and what the choice cost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1</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Where should the entitlement filter sit?</a:t>
            </a:r>
          </a:p>
        </p:txBody>
      </p:sp>
      <p:sp>
        <p:nvSpPr>
          <p:cNvPr id="4" name="Rounded Rectangle 3"/>
          <p:cNvSpPr/>
          <p:nvPr/>
        </p:nvSpPr>
        <p:spPr>
          <a:xfrm>
            <a:off x="548640" y="1463040"/>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3657600" cy="457200"/>
          </a:xfrm>
          <a:prstGeom prst="rect">
            <a:avLst/>
          </a:prstGeom>
          <a:noFill/>
        </p:spPr>
        <p:txBody>
          <a:bodyPr wrap="square">
            <a:spAutoFit/>
          </a:bodyPr>
          <a:lstStyle/>
          <a:p>
            <a:pPr algn="l">
              <a:spcAft>
                <a:spcPts val="0"/>
              </a:spcAft>
            </a:pPr>
            <a:r>
              <a:rPr sz="1500" b="1">
                <a:solidFill>
                  <a:srgbClr val="1F2A44"/>
                </a:solidFill>
                <a:latin typeface="Calibri"/>
              </a:rPr>
              <a:t>In the prompt</a:t>
            </a:r>
          </a:p>
        </p:txBody>
      </p:sp>
      <p:sp>
        <p:nvSpPr>
          <p:cNvPr id="6" name="TextBox 5"/>
          <p:cNvSpPr txBox="1"/>
          <p:nvPr/>
        </p:nvSpPr>
        <p:spPr>
          <a:xfrm>
            <a:off x="4526280" y="1591056"/>
            <a:ext cx="6949440" cy="548640"/>
          </a:xfrm>
          <a:prstGeom prst="rect">
            <a:avLst/>
          </a:prstGeom>
          <a:noFill/>
        </p:spPr>
        <p:txBody>
          <a:bodyPr wrap="square">
            <a:spAutoFit/>
          </a:bodyPr>
          <a:lstStyle/>
          <a:p>
            <a:pPr algn="l">
              <a:spcAft>
                <a:spcPts val="0"/>
              </a:spcAft>
            </a:pPr>
            <a:r>
              <a:rPr sz="1300" b="0">
                <a:solidFill>
                  <a:srgbClr val="5B6472"/>
                </a:solidFill>
                <a:latin typeface="Calibri"/>
              </a:rPr>
              <a:t>Ask the AI to filter itself. Defeated by the model simply omitting it.</a:t>
            </a:r>
          </a:p>
        </p:txBody>
      </p:sp>
      <p:sp>
        <p:nvSpPr>
          <p:cNvPr id="7" name="Rounded Rectangle 6"/>
          <p:cNvSpPr/>
          <p:nvPr/>
        </p:nvSpPr>
        <p:spPr>
          <a:xfrm>
            <a:off x="548640" y="2359152"/>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50592"/>
            <a:ext cx="3657600" cy="457200"/>
          </a:xfrm>
          <a:prstGeom prst="rect">
            <a:avLst/>
          </a:prstGeom>
          <a:noFill/>
        </p:spPr>
        <p:txBody>
          <a:bodyPr wrap="square">
            <a:spAutoFit/>
          </a:bodyPr>
          <a:lstStyle/>
          <a:p>
            <a:pPr algn="l">
              <a:spcAft>
                <a:spcPts val="0"/>
              </a:spcAft>
            </a:pPr>
            <a:r>
              <a:rPr sz="1500" b="1">
                <a:solidFill>
                  <a:srgbClr val="1F2A44"/>
                </a:solidFill>
                <a:latin typeface="Calibri"/>
              </a:rPr>
              <a:t>In the application</a:t>
            </a:r>
          </a:p>
        </p:txBody>
      </p:sp>
      <p:sp>
        <p:nvSpPr>
          <p:cNvPr id="9" name="TextBox 8"/>
          <p:cNvSpPr txBox="1"/>
          <p:nvPr/>
        </p:nvSpPr>
        <p:spPr>
          <a:xfrm>
            <a:off x="4526280" y="2487168"/>
            <a:ext cx="6949440" cy="548640"/>
          </a:xfrm>
          <a:prstGeom prst="rect">
            <a:avLst/>
          </a:prstGeom>
          <a:noFill/>
        </p:spPr>
        <p:txBody>
          <a:bodyPr wrap="square">
            <a:spAutoFit/>
          </a:bodyPr>
          <a:lstStyle/>
          <a:p>
            <a:pPr algn="l">
              <a:spcAft>
                <a:spcPts val="0"/>
              </a:spcAft>
            </a:pPr>
            <a:r>
              <a:rPr sz="1300" b="0">
                <a:solidFill>
                  <a:srgbClr val="5B6472"/>
                </a:solidFill>
                <a:latin typeface="Calibri"/>
              </a:rPr>
              <a:t>A gateway rewrites every query. Real, but one unanticipated query shape defeats it — and the blast radius is every user.</a:t>
            </a:r>
          </a:p>
        </p:txBody>
      </p:sp>
      <p:sp>
        <p:nvSpPr>
          <p:cNvPr id="10" name="Rounded Rectangle 9"/>
          <p:cNvSpPr/>
          <p:nvPr/>
        </p:nvSpPr>
        <p:spPr>
          <a:xfrm>
            <a:off x="548640" y="3255264"/>
            <a:ext cx="11155680" cy="777240"/>
          </a:xfrm>
          <a:prstGeom prst="roundRect">
            <a:avLst>
              <a:gd name="adj" fmla="val 4000"/>
            </a:avLst>
          </a:prstGeom>
          <a:solidFill>
            <a:srgbClr val="F1F8F3"/>
          </a:solidFill>
          <a:ln w="2286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46704"/>
            <a:ext cx="3657600" cy="457200"/>
          </a:xfrm>
          <a:prstGeom prst="rect">
            <a:avLst/>
          </a:prstGeom>
          <a:noFill/>
        </p:spPr>
        <p:txBody>
          <a:bodyPr wrap="square">
            <a:spAutoFit/>
          </a:bodyPr>
          <a:lstStyle/>
          <a:p>
            <a:pPr algn="l">
              <a:spcAft>
                <a:spcPts val="0"/>
              </a:spcAft>
            </a:pPr>
            <a:r>
              <a:rPr sz="1500" b="1">
                <a:solidFill>
                  <a:srgbClr val="15803D"/>
                </a:solidFill>
                <a:latin typeface="Calibri"/>
              </a:rPr>
              <a:t>In the database</a:t>
            </a:r>
          </a:p>
        </p:txBody>
      </p:sp>
      <p:sp>
        <p:nvSpPr>
          <p:cNvPr id="12" name="TextBox 11"/>
          <p:cNvSpPr txBox="1"/>
          <p:nvPr/>
        </p:nvSpPr>
        <p:spPr>
          <a:xfrm>
            <a:off x="4526280" y="3383280"/>
            <a:ext cx="6949440" cy="548640"/>
          </a:xfrm>
          <a:prstGeom prst="rect">
            <a:avLst/>
          </a:prstGeom>
          <a:noFill/>
        </p:spPr>
        <p:txBody>
          <a:bodyPr wrap="square">
            <a:spAutoFit/>
          </a:bodyPr>
          <a:lstStyle/>
          <a:p>
            <a:pPr algn="l">
              <a:spcAft>
                <a:spcPts val="0"/>
              </a:spcAft>
            </a:pPr>
            <a:r>
              <a:rPr sz="1300" b="0">
                <a:solidFill>
                  <a:srgbClr val="5B6472"/>
                </a:solidFill>
                <a:latin typeface="Calibri"/>
              </a:rPr>
              <a:t>A rule attached to the shelf itself, applied inside every single statement.</a:t>
            </a:r>
          </a:p>
        </p:txBody>
      </p:sp>
      <p:sp>
        <p:nvSpPr>
          <p:cNvPr id="13" name="TextBox 12"/>
          <p:cNvSpPr txBox="1"/>
          <p:nvPr/>
        </p:nvSpPr>
        <p:spPr>
          <a:xfrm>
            <a:off x="10607040" y="3346704"/>
            <a:ext cx="1005840" cy="365760"/>
          </a:xfrm>
          <a:prstGeom prst="rect">
            <a:avLst/>
          </a:prstGeom>
          <a:noFill/>
        </p:spPr>
        <p:txBody>
          <a:bodyPr wrap="square">
            <a:spAutoFit/>
          </a:bodyPr>
          <a:lstStyle/>
          <a:p>
            <a:pPr algn="l">
              <a:spcAft>
                <a:spcPts val="0"/>
              </a:spcAft>
            </a:pPr>
            <a:r>
              <a:rPr sz="1100" b="1">
                <a:solidFill>
                  <a:srgbClr val="15803D"/>
                </a:solidFill>
                <a:latin typeface="Calibri"/>
              </a:rPr>
              <a:t>CHOSEN</a:t>
            </a:r>
          </a:p>
        </p:txBody>
      </p:sp>
      <p:sp>
        <p:nvSpPr>
          <p:cNvPr id="14" name="Rounded Rectangle 13"/>
          <p:cNvSpPr/>
          <p:nvPr/>
        </p:nvSpPr>
        <p:spPr>
          <a:xfrm>
            <a:off x="548640" y="4288536"/>
            <a:ext cx="6949440" cy="1371600"/>
          </a:xfrm>
          <a:prstGeom prst="roundRect">
            <a:avLst>
              <a:gd name="adj" fmla="val 4000"/>
            </a:avLst>
          </a:prstGeom>
          <a:solidFill>
            <a:srgbClr val="FFFFFF"/>
          </a:solidFill>
          <a:ln w="1778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98264"/>
            <a:ext cx="6492240" cy="320040"/>
          </a:xfrm>
          <a:prstGeom prst="rect">
            <a:avLst/>
          </a:prstGeom>
          <a:noFill/>
        </p:spPr>
        <p:txBody>
          <a:bodyPr wrap="square">
            <a:spAutoFit/>
          </a:bodyPr>
          <a:lstStyle/>
          <a:p>
            <a:pPr algn="l">
              <a:spcAft>
                <a:spcPts val="400"/>
              </a:spcAft>
            </a:pPr>
            <a:r>
              <a:rPr sz="1100" b="1">
                <a:solidFill>
                  <a:srgbClr val="1F3864"/>
                </a:solidFill>
                <a:latin typeface="Calibri"/>
              </a:rPr>
              <a:t>WHY</a:t>
            </a:r>
          </a:p>
        </p:txBody>
      </p:sp>
      <p:sp>
        <p:nvSpPr>
          <p:cNvPr id="16" name="TextBox 15"/>
          <p:cNvSpPr txBox="1"/>
          <p:nvPr/>
        </p:nvSpPr>
        <p:spPr>
          <a:xfrm>
            <a:off x="777240" y="4709160"/>
            <a:ext cx="6492240" cy="914400"/>
          </a:xfrm>
          <a:prstGeom prst="rect">
            <a:avLst/>
          </a:prstGeom>
          <a:noFill/>
        </p:spPr>
        <p:txBody>
          <a:bodyPr wrap="square">
            <a:spAutoFit/>
          </a:bodyPr>
          <a:lstStyle/>
          <a:p>
            <a:pPr algn="l">
              <a:spcAft>
                <a:spcPts val="0"/>
              </a:spcAft>
            </a:pPr>
            <a:r>
              <a:rPr sz="1350" b="0">
                <a:solidFill>
                  <a:srgbClr val="1F2A44"/>
                </a:solidFill>
                <a:latin typeface="Calibri"/>
              </a:rPr>
              <a:t>The AI only ever writes text. The thing that limits the rows is not in that text, so no rewriting of the text can remove it. Nine bypass attempts, nine failures.</a:t>
            </a:r>
          </a:p>
        </p:txBody>
      </p:sp>
      <p:sp>
        <p:nvSpPr>
          <p:cNvPr id="17" name="Rounded Rectangle 16"/>
          <p:cNvSpPr/>
          <p:nvPr/>
        </p:nvSpPr>
        <p:spPr>
          <a:xfrm>
            <a:off x="7680960" y="4288536"/>
            <a:ext cx="4023360" cy="1371600"/>
          </a:xfrm>
          <a:prstGeom prst="roundRect">
            <a:avLst>
              <a:gd name="adj" fmla="val 4000"/>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4398264"/>
            <a:ext cx="3566160" cy="320040"/>
          </a:xfrm>
          <a:prstGeom prst="rect">
            <a:avLst/>
          </a:prstGeom>
          <a:noFill/>
        </p:spPr>
        <p:txBody>
          <a:bodyPr wrap="square">
            <a:spAutoFit/>
          </a:bodyPr>
          <a:lstStyle/>
          <a:p>
            <a:pPr algn="l">
              <a:spcAft>
                <a:spcPts val="400"/>
              </a:spcAft>
            </a:pPr>
            <a:r>
              <a:rPr sz="1100" b="1">
                <a:solidFill>
                  <a:srgbClr val="B45309"/>
                </a:solidFill>
                <a:latin typeface="Calibri"/>
              </a:rPr>
              <a:t>WHAT IT COSTS</a:t>
            </a:r>
          </a:p>
        </p:txBody>
      </p:sp>
      <p:sp>
        <p:nvSpPr>
          <p:cNvPr id="19" name="TextBox 18"/>
          <p:cNvSpPr txBox="1"/>
          <p:nvPr/>
        </p:nvSpPr>
        <p:spPr>
          <a:xfrm>
            <a:off x="7909560" y="4709160"/>
            <a:ext cx="3566160" cy="914400"/>
          </a:xfrm>
          <a:prstGeom prst="rect">
            <a:avLst/>
          </a:prstGeom>
          <a:noFill/>
        </p:spPr>
        <p:txBody>
          <a:bodyPr wrap="square">
            <a:spAutoFit/>
          </a:bodyPr>
          <a:lstStyle/>
          <a:p>
            <a:pPr algn="l">
              <a:spcAft>
                <a:spcPts val="0"/>
              </a:spcAft>
            </a:pPr>
            <a:r>
              <a:rPr sz="1350" b="0">
                <a:solidFill>
                  <a:srgbClr val="1F2A44"/>
                </a:solidFill>
                <a:latin typeface="Calibri"/>
              </a:rPr>
              <a:t>One login per person, which complicates connection pooling. The answer is a pool per role, or a trusted gateway that picks the role.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1</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The same request, three places the lock could sit</a:t>
            </a:r>
          </a:p>
        </p:txBody>
      </p:sp>
      <p:pic>
        <p:nvPicPr>
          <p:cNvPr id="4" name="Picture 3" descr="05_where_the_filter_sits.png"/>
          <p:cNvPicPr>
            <a:picLocks noChangeAspect="1"/>
          </p:cNvPicPr>
          <p:nvPr/>
        </p:nvPicPr>
        <p:blipFill>
          <a:blip r:embed="rId2"/>
          <a:stretch>
            <a:fillRect/>
          </a:stretch>
        </p:blipFill>
        <p:spPr>
          <a:xfrm>
            <a:off x="548640" y="1280160"/>
            <a:ext cx="11094415" cy="5014675"/>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2</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One big table, or a proper model?</a:t>
            </a:r>
          </a:p>
        </p:txBody>
      </p:sp>
      <p:sp>
        <p:nvSpPr>
          <p:cNvPr id="4" name="Rounded Rectangle 3"/>
          <p:cNvSpPr/>
          <p:nvPr/>
        </p:nvSpPr>
        <p:spPr>
          <a:xfrm>
            <a:off x="548640" y="1463040"/>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3657600" cy="457200"/>
          </a:xfrm>
          <a:prstGeom prst="rect">
            <a:avLst/>
          </a:prstGeom>
          <a:noFill/>
        </p:spPr>
        <p:txBody>
          <a:bodyPr wrap="square">
            <a:spAutoFit/>
          </a:bodyPr>
          <a:lstStyle/>
          <a:p>
            <a:pPr algn="l">
              <a:spcAft>
                <a:spcPts val="0"/>
              </a:spcAft>
            </a:pPr>
            <a:r>
              <a:rPr sz="1500" b="1">
                <a:solidFill>
                  <a:srgbClr val="1F2A44"/>
                </a:solidFill>
                <a:latin typeface="Calibri"/>
              </a:rPr>
              <a:t>One big table</a:t>
            </a:r>
          </a:p>
        </p:txBody>
      </p:sp>
      <p:sp>
        <p:nvSpPr>
          <p:cNvPr id="6" name="TextBox 5"/>
          <p:cNvSpPr txBox="1"/>
          <p:nvPr/>
        </p:nvSpPr>
        <p:spPr>
          <a:xfrm>
            <a:off x="4526280" y="1591056"/>
            <a:ext cx="6949440" cy="548640"/>
          </a:xfrm>
          <a:prstGeom prst="rect">
            <a:avLst/>
          </a:prstGeom>
          <a:noFill/>
        </p:spPr>
        <p:txBody>
          <a:bodyPr wrap="square">
            <a:spAutoFit/>
          </a:bodyPr>
          <a:lstStyle/>
          <a:p>
            <a:pPr algn="l">
              <a:spcAft>
                <a:spcPts val="0"/>
              </a:spcAft>
            </a:pPr>
            <a:r>
              <a:rPr sz="1300" b="0">
                <a:solidFill>
                  <a:srgbClr val="5B6472"/>
                </a:solidFill>
                <a:latin typeface="Calibri"/>
              </a:rPr>
              <a:t>Flatten everything onto the payment. No joins — which is why many AI tools prefer it.</a:t>
            </a:r>
          </a:p>
        </p:txBody>
      </p:sp>
      <p:sp>
        <p:nvSpPr>
          <p:cNvPr id="7" name="Rounded Rectangle 6"/>
          <p:cNvSpPr/>
          <p:nvPr/>
        </p:nvSpPr>
        <p:spPr>
          <a:xfrm>
            <a:off x="548640" y="2359152"/>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50592"/>
            <a:ext cx="3657600" cy="457200"/>
          </a:xfrm>
          <a:prstGeom prst="rect">
            <a:avLst/>
          </a:prstGeom>
          <a:noFill/>
        </p:spPr>
        <p:txBody>
          <a:bodyPr wrap="square">
            <a:spAutoFit/>
          </a:bodyPr>
          <a:lstStyle/>
          <a:p>
            <a:pPr algn="l">
              <a:spcAft>
                <a:spcPts val="0"/>
              </a:spcAft>
            </a:pPr>
            <a:r>
              <a:rPr sz="1500" b="1">
                <a:solidFill>
                  <a:srgbClr val="1F2A44"/>
                </a:solidFill>
                <a:latin typeface="Calibri"/>
              </a:rPr>
              <a:t>Data Vault</a:t>
            </a:r>
          </a:p>
        </p:txBody>
      </p:sp>
      <p:sp>
        <p:nvSpPr>
          <p:cNvPr id="9" name="TextBox 8"/>
          <p:cNvSpPr txBox="1"/>
          <p:nvPr/>
        </p:nvSpPr>
        <p:spPr>
          <a:xfrm>
            <a:off x="4526280" y="2487168"/>
            <a:ext cx="6949440" cy="548640"/>
          </a:xfrm>
          <a:prstGeom prst="rect">
            <a:avLst/>
          </a:prstGeom>
          <a:noFill/>
        </p:spPr>
        <p:txBody>
          <a:bodyPr wrap="square">
            <a:spAutoFit/>
          </a:bodyPr>
          <a:lstStyle/>
          <a:p>
            <a:pPr algn="l">
              <a:spcAft>
                <a:spcPts val="0"/>
              </a:spcAft>
            </a:pPr>
            <a:r>
              <a:rPr sz="1300" b="0">
                <a:solidFill>
                  <a:srgbClr val="5B6472"/>
                </a:solidFill>
                <a:latin typeface="Calibri"/>
              </a:rPr>
              <a:t>Right for integrating many sources with history. There is one source and a single extract.</a:t>
            </a:r>
          </a:p>
        </p:txBody>
      </p:sp>
      <p:sp>
        <p:nvSpPr>
          <p:cNvPr id="10" name="Rounded Rectangle 9"/>
          <p:cNvSpPr/>
          <p:nvPr/>
        </p:nvSpPr>
        <p:spPr>
          <a:xfrm>
            <a:off x="548640" y="3255264"/>
            <a:ext cx="11155680" cy="777240"/>
          </a:xfrm>
          <a:prstGeom prst="roundRect">
            <a:avLst>
              <a:gd name="adj" fmla="val 4000"/>
            </a:avLst>
          </a:prstGeom>
          <a:solidFill>
            <a:srgbClr val="F1F8F3"/>
          </a:solidFill>
          <a:ln w="2286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46704"/>
            <a:ext cx="3657600" cy="457200"/>
          </a:xfrm>
          <a:prstGeom prst="rect">
            <a:avLst/>
          </a:prstGeom>
          <a:noFill/>
        </p:spPr>
        <p:txBody>
          <a:bodyPr wrap="square">
            <a:spAutoFit/>
          </a:bodyPr>
          <a:lstStyle/>
          <a:p>
            <a:pPr algn="l">
              <a:spcAft>
                <a:spcPts val="0"/>
              </a:spcAft>
            </a:pPr>
            <a:r>
              <a:rPr sz="1500" b="1">
                <a:solidFill>
                  <a:srgbClr val="15803D"/>
                </a:solidFill>
                <a:latin typeface="Calibri"/>
              </a:rPr>
              <a:t>Star schema with a bridge</a:t>
            </a:r>
          </a:p>
        </p:txBody>
      </p:sp>
      <p:sp>
        <p:nvSpPr>
          <p:cNvPr id="12" name="TextBox 11"/>
          <p:cNvSpPr txBox="1"/>
          <p:nvPr/>
        </p:nvSpPr>
        <p:spPr>
          <a:xfrm>
            <a:off x="4526280" y="3383280"/>
            <a:ext cx="6949440" cy="548640"/>
          </a:xfrm>
          <a:prstGeom prst="rect">
            <a:avLst/>
          </a:prstGeom>
          <a:noFill/>
        </p:spPr>
        <p:txBody>
          <a:bodyPr wrap="square">
            <a:spAutoFit/>
          </a:bodyPr>
          <a:lstStyle/>
          <a:p>
            <a:pPr algn="l">
              <a:spcAft>
                <a:spcPts val="0"/>
              </a:spcAft>
            </a:pPr>
            <a:r>
              <a:rPr sz="1300" b="0">
                <a:solidFill>
                  <a:srgbClr val="5B6472"/>
                </a:solidFill>
                <a:latin typeface="Calibri"/>
              </a:rPr>
              <a:t>One table per kind of thing, joined through a record that says in what capacity.</a:t>
            </a:r>
          </a:p>
        </p:txBody>
      </p:sp>
      <p:sp>
        <p:nvSpPr>
          <p:cNvPr id="13" name="TextBox 12"/>
          <p:cNvSpPr txBox="1"/>
          <p:nvPr/>
        </p:nvSpPr>
        <p:spPr>
          <a:xfrm>
            <a:off x="10607040" y="3346704"/>
            <a:ext cx="1005840" cy="365760"/>
          </a:xfrm>
          <a:prstGeom prst="rect">
            <a:avLst/>
          </a:prstGeom>
          <a:noFill/>
        </p:spPr>
        <p:txBody>
          <a:bodyPr wrap="square">
            <a:spAutoFit/>
          </a:bodyPr>
          <a:lstStyle/>
          <a:p>
            <a:pPr algn="l">
              <a:spcAft>
                <a:spcPts val="0"/>
              </a:spcAft>
            </a:pPr>
            <a:r>
              <a:rPr sz="1100" b="1">
                <a:solidFill>
                  <a:srgbClr val="15803D"/>
                </a:solidFill>
                <a:latin typeface="Calibri"/>
              </a:rPr>
              <a:t>CHOSEN</a:t>
            </a:r>
          </a:p>
        </p:txBody>
      </p:sp>
      <p:sp>
        <p:nvSpPr>
          <p:cNvPr id="14" name="Rounded Rectangle 13"/>
          <p:cNvSpPr/>
          <p:nvPr/>
        </p:nvSpPr>
        <p:spPr>
          <a:xfrm>
            <a:off x="548640" y="4288536"/>
            <a:ext cx="6949440" cy="1371600"/>
          </a:xfrm>
          <a:prstGeom prst="roundRect">
            <a:avLst>
              <a:gd name="adj" fmla="val 4000"/>
            </a:avLst>
          </a:prstGeom>
          <a:solidFill>
            <a:srgbClr val="FFFFFF"/>
          </a:solidFill>
          <a:ln w="1778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98264"/>
            <a:ext cx="6492240" cy="320040"/>
          </a:xfrm>
          <a:prstGeom prst="rect">
            <a:avLst/>
          </a:prstGeom>
          <a:noFill/>
        </p:spPr>
        <p:txBody>
          <a:bodyPr wrap="square">
            <a:spAutoFit/>
          </a:bodyPr>
          <a:lstStyle/>
          <a:p>
            <a:pPr algn="l">
              <a:spcAft>
                <a:spcPts val="400"/>
              </a:spcAft>
            </a:pPr>
            <a:r>
              <a:rPr sz="1100" b="1">
                <a:solidFill>
                  <a:srgbClr val="1F3864"/>
                </a:solidFill>
                <a:latin typeface="Calibri"/>
              </a:rPr>
              <a:t>WHY</a:t>
            </a:r>
          </a:p>
        </p:txBody>
      </p:sp>
      <p:sp>
        <p:nvSpPr>
          <p:cNvPr id="16" name="TextBox 15"/>
          <p:cNvSpPr txBox="1"/>
          <p:nvPr/>
        </p:nvSpPr>
        <p:spPr>
          <a:xfrm>
            <a:off x="777240" y="4709160"/>
            <a:ext cx="6492240" cy="914400"/>
          </a:xfrm>
          <a:prstGeom prst="rect">
            <a:avLst/>
          </a:prstGeom>
          <a:noFill/>
        </p:spPr>
        <p:txBody>
          <a:bodyPr wrap="square">
            <a:spAutoFit/>
          </a:bodyPr>
          <a:lstStyle/>
          <a:p>
            <a:pPr algn="l">
              <a:spcAft>
                <a:spcPts val="0"/>
              </a:spcAft>
            </a:pPr>
            <a:r>
              <a:rPr sz="1350" b="0">
                <a:solidFill>
                  <a:srgbClr val="1F2A44"/>
                </a:solidFill>
                <a:latin typeface="Calibri"/>
              </a:rPr>
              <a:t>The ten questions have four different grains — customer, account, loan, payment. One table can only have one of them, so every other count becomes a DISTINCT the query author has to remember, and gets wrong with no error.</a:t>
            </a:r>
          </a:p>
        </p:txBody>
      </p:sp>
      <p:sp>
        <p:nvSpPr>
          <p:cNvPr id="17" name="Rounded Rectangle 16"/>
          <p:cNvSpPr/>
          <p:nvPr/>
        </p:nvSpPr>
        <p:spPr>
          <a:xfrm>
            <a:off x="7680960" y="4288536"/>
            <a:ext cx="4023360" cy="1371600"/>
          </a:xfrm>
          <a:prstGeom prst="roundRect">
            <a:avLst>
              <a:gd name="adj" fmla="val 4000"/>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4398264"/>
            <a:ext cx="3566160" cy="320040"/>
          </a:xfrm>
          <a:prstGeom prst="rect">
            <a:avLst/>
          </a:prstGeom>
          <a:noFill/>
        </p:spPr>
        <p:txBody>
          <a:bodyPr wrap="square">
            <a:spAutoFit/>
          </a:bodyPr>
          <a:lstStyle/>
          <a:p>
            <a:pPr algn="l">
              <a:spcAft>
                <a:spcPts val="400"/>
              </a:spcAft>
            </a:pPr>
            <a:r>
              <a:rPr sz="1100" b="1">
                <a:solidFill>
                  <a:srgbClr val="B45309"/>
                </a:solidFill>
                <a:latin typeface="Calibri"/>
              </a:rPr>
              <a:t>WHAT IT COSTS</a:t>
            </a:r>
          </a:p>
        </p:txBody>
      </p:sp>
      <p:sp>
        <p:nvSpPr>
          <p:cNvPr id="19" name="TextBox 18"/>
          <p:cNvSpPr txBox="1"/>
          <p:nvPr/>
        </p:nvSpPr>
        <p:spPr>
          <a:xfrm>
            <a:off x="7909560" y="4709160"/>
            <a:ext cx="3566160" cy="914400"/>
          </a:xfrm>
          <a:prstGeom prst="rect">
            <a:avLst/>
          </a:prstGeom>
          <a:noFill/>
        </p:spPr>
        <p:txBody>
          <a:bodyPr wrap="square">
            <a:spAutoFit/>
          </a:bodyPr>
          <a:lstStyle/>
          <a:p>
            <a:pPr algn="l">
              <a:spcAft>
                <a:spcPts val="0"/>
              </a:spcAft>
            </a:pPr>
            <a:r>
              <a:rPr sz="1350" b="0">
                <a:solidFill>
                  <a:srgbClr val="1F2A44"/>
                </a:solidFill>
                <a:latin typeface="Calibri"/>
              </a:rPr>
              <a:t>Joins, and a month-end balance table that has to be rebuilt. The curated views give the AI a join-free surface anyway.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2</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The same two tasks, priced against both shapes</a:t>
            </a:r>
          </a:p>
        </p:txBody>
      </p:sp>
      <p:pic>
        <p:nvPicPr>
          <p:cNvPr id="4" name="Picture 3" descr="06_model_shape.png"/>
          <p:cNvPicPr>
            <a:picLocks noChangeAspect="1"/>
          </p:cNvPicPr>
          <p:nvPr/>
        </p:nvPicPr>
        <p:blipFill>
          <a:blip r:embed="rId2"/>
          <a:stretch>
            <a:fillRect/>
          </a:stretch>
        </p:blipFill>
        <p:spPr>
          <a:xfrm>
            <a:off x="548640" y="1280160"/>
            <a:ext cx="11094415" cy="477059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3</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What should happen to a broken row?</a:t>
            </a:r>
          </a:p>
        </p:txBody>
      </p:sp>
      <p:sp>
        <p:nvSpPr>
          <p:cNvPr id="4" name="Rounded Rectangle 3"/>
          <p:cNvSpPr/>
          <p:nvPr/>
        </p:nvSpPr>
        <p:spPr>
          <a:xfrm>
            <a:off x="548640" y="1463040"/>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3657600" cy="457200"/>
          </a:xfrm>
          <a:prstGeom prst="rect">
            <a:avLst/>
          </a:prstGeom>
          <a:noFill/>
        </p:spPr>
        <p:txBody>
          <a:bodyPr wrap="square">
            <a:spAutoFit/>
          </a:bodyPr>
          <a:lstStyle/>
          <a:p>
            <a:pPr algn="l">
              <a:spcAft>
                <a:spcPts val="0"/>
              </a:spcAft>
            </a:pPr>
            <a:r>
              <a:rPr sz="1500" b="1">
                <a:solidFill>
                  <a:srgbClr val="1F2A44"/>
                </a:solidFill>
                <a:latin typeface="Calibri"/>
              </a:rPr>
              <a:t>Reject everything broken</a:t>
            </a:r>
          </a:p>
        </p:txBody>
      </p:sp>
      <p:sp>
        <p:nvSpPr>
          <p:cNvPr id="6" name="TextBox 5"/>
          <p:cNvSpPr txBox="1"/>
          <p:nvPr/>
        </p:nvSpPr>
        <p:spPr>
          <a:xfrm>
            <a:off x="4526280" y="1591056"/>
            <a:ext cx="6949440" cy="548640"/>
          </a:xfrm>
          <a:prstGeom prst="rect">
            <a:avLst/>
          </a:prstGeom>
          <a:noFill/>
        </p:spPr>
        <p:txBody>
          <a:bodyPr wrap="square">
            <a:spAutoFit/>
          </a:bodyPr>
          <a:lstStyle/>
          <a:p>
            <a:pPr algn="l">
              <a:spcAft>
                <a:spcPts val="0"/>
              </a:spcAft>
            </a:pPr>
            <a:r>
              <a:rPr sz="1300" b="0">
                <a:solidFill>
                  <a:srgbClr val="5B6472"/>
                </a:solidFill>
                <a:latin typeface="Calibri"/>
              </a:rPr>
              <a:t>Clean data, but 2.5 million rows deleted for cosmetic reasons, and the answers change.</a:t>
            </a:r>
          </a:p>
        </p:txBody>
      </p:sp>
      <p:sp>
        <p:nvSpPr>
          <p:cNvPr id="7" name="Rounded Rectangle 6"/>
          <p:cNvSpPr/>
          <p:nvPr/>
        </p:nvSpPr>
        <p:spPr>
          <a:xfrm>
            <a:off x="548640" y="2359152"/>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50592"/>
            <a:ext cx="3657600" cy="457200"/>
          </a:xfrm>
          <a:prstGeom prst="rect">
            <a:avLst/>
          </a:prstGeom>
          <a:noFill/>
        </p:spPr>
        <p:txBody>
          <a:bodyPr wrap="square">
            <a:spAutoFit/>
          </a:bodyPr>
          <a:lstStyle/>
          <a:p>
            <a:pPr algn="l">
              <a:spcAft>
                <a:spcPts val="0"/>
              </a:spcAft>
            </a:pPr>
            <a:r>
              <a:rPr sz="1500" b="1">
                <a:solidFill>
                  <a:srgbClr val="1F2A44"/>
                </a:solidFill>
                <a:latin typeface="Calibri"/>
              </a:rPr>
              <a:t>Repair it quietly</a:t>
            </a:r>
          </a:p>
        </p:txBody>
      </p:sp>
      <p:sp>
        <p:nvSpPr>
          <p:cNvPr id="9" name="TextBox 8"/>
          <p:cNvSpPr txBox="1"/>
          <p:nvPr/>
        </p:nvSpPr>
        <p:spPr>
          <a:xfrm>
            <a:off x="4526280" y="2487168"/>
            <a:ext cx="6949440" cy="548640"/>
          </a:xfrm>
          <a:prstGeom prst="rect">
            <a:avLst/>
          </a:prstGeom>
          <a:noFill/>
        </p:spPr>
        <p:txBody>
          <a:bodyPr wrap="square">
            <a:spAutoFit/>
          </a:bodyPr>
          <a:lstStyle/>
          <a:p>
            <a:pPr algn="l">
              <a:spcAft>
                <a:spcPts val="0"/>
              </a:spcAft>
            </a:pPr>
            <a:r>
              <a:rPr sz="1300" b="0">
                <a:solidFill>
                  <a:srgbClr val="5B6472"/>
                </a:solidFill>
                <a:latin typeface="Calibri"/>
              </a:rPr>
              <a:t>Looks tidy. Hides the incident, and nobody can audit what was changed.</a:t>
            </a:r>
          </a:p>
        </p:txBody>
      </p:sp>
      <p:sp>
        <p:nvSpPr>
          <p:cNvPr id="10" name="Rounded Rectangle 9"/>
          <p:cNvSpPr/>
          <p:nvPr/>
        </p:nvSpPr>
        <p:spPr>
          <a:xfrm>
            <a:off x="548640" y="3255264"/>
            <a:ext cx="11155680" cy="777240"/>
          </a:xfrm>
          <a:prstGeom prst="roundRect">
            <a:avLst>
              <a:gd name="adj" fmla="val 4000"/>
            </a:avLst>
          </a:prstGeom>
          <a:solidFill>
            <a:srgbClr val="F1F8F3"/>
          </a:solidFill>
          <a:ln w="2286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46704"/>
            <a:ext cx="3657600" cy="457200"/>
          </a:xfrm>
          <a:prstGeom prst="rect">
            <a:avLst/>
          </a:prstGeom>
          <a:noFill/>
        </p:spPr>
        <p:txBody>
          <a:bodyPr wrap="square">
            <a:spAutoFit/>
          </a:bodyPr>
          <a:lstStyle/>
          <a:p>
            <a:pPr algn="l">
              <a:spcAft>
                <a:spcPts val="0"/>
              </a:spcAft>
            </a:pPr>
            <a:r>
              <a:rPr sz="1500" b="1">
                <a:solidFill>
                  <a:srgbClr val="15803D"/>
                </a:solidFill>
                <a:latin typeface="Calibri"/>
              </a:rPr>
              <a:t>Grade it: red, orange, green</a:t>
            </a:r>
          </a:p>
        </p:txBody>
      </p:sp>
      <p:sp>
        <p:nvSpPr>
          <p:cNvPr id="12" name="TextBox 11"/>
          <p:cNvSpPr txBox="1"/>
          <p:nvPr/>
        </p:nvSpPr>
        <p:spPr>
          <a:xfrm>
            <a:off x="4526280" y="3383280"/>
            <a:ext cx="6949440" cy="548640"/>
          </a:xfrm>
          <a:prstGeom prst="rect">
            <a:avLst/>
          </a:prstGeom>
          <a:noFill/>
        </p:spPr>
        <p:txBody>
          <a:bodyPr wrap="square">
            <a:spAutoFit/>
          </a:bodyPr>
          <a:lstStyle/>
          <a:p>
            <a:pPr algn="l">
              <a:spcAft>
                <a:spcPts val="0"/>
              </a:spcAft>
            </a:pPr>
            <a:r>
              <a:rPr sz="1300" b="0">
                <a:solidFill>
                  <a:srgbClr val="5B6472"/>
                </a:solidFill>
                <a:latin typeface="Calibri"/>
              </a:rPr>
              <a:t>Each grade has a mechanical consequence, and the reason is written down.</a:t>
            </a:r>
          </a:p>
        </p:txBody>
      </p:sp>
      <p:sp>
        <p:nvSpPr>
          <p:cNvPr id="13" name="TextBox 12"/>
          <p:cNvSpPr txBox="1"/>
          <p:nvPr/>
        </p:nvSpPr>
        <p:spPr>
          <a:xfrm>
            <a:off x="10607040" y="3346704"/>
            <a:ext cx="1005840" cy="365760"/>
          </a:xfrm>
          <a:prstGeom prst="rect">
            <a:avLst/>
          </a:prstGeom>
          <a:noFill/>
        </p:spPr>
        <p:txBody>
          <a:bodyPr wrap="square">
            <a:spAutoFit/>
          </a:bodyPr>
          <a:lstStyle/>
          <a:p>
            <a:pPr algn="l">
              <a:spcAft>
                <a:spcPts val="0"/>
              </a:spcAft>
            </a:pPr>
            <a:r>
              <a:rPr sz="1100" b="1">
                <a:solidFill>
                  <a:srgbClr val="15803D"/>
                </a:solidFill>
                <a:latin typeface="Calibri"/>
              </a:rPr>
              <a:t>CHOSEN</a:t>
            </a:r>
          </a:p>
        </p:txBody>
      </p:sp>
      <p:sp>
        <p:nvSpPr>
          <p:cNvPr id="14" name="Rounded Rectangle 13"/>
          <p:cNvSpPr/>
          <p:nvPr/>
        </p:nvSpPr>
        <p:spPr>
          <a:xfrm>
            <a:off x="548640" y="4288536"/>
            <a:ext cx="6949440" cy="1371600"/>
          </a:xfrm>
          <a:prstGeom prst="roundRect">
            <a:avLst>
              <a:gd name="adj" fmla="val 4000"/>
            </a:avLst>
          </a:prstGeom>
          <a:solidFill>
            <a:srgbClr val="FFFFFF"/>
          </a:solidFill>
          <a:ln w="1778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98264"/>
            <a:ext cx="6492240" cy="320040"/>
          </a:xfrm>
          <a:prstGeom prst="rect">
            <a:avLst/>
          </a:prstGeom>
          <a:noFill/>
        </p:spPr>
        <p:txBody>
          <a:bodyPr wrap="square">
            <a:spAutoFit/>
          </a:bodyPr>
          <a:lstStyle/>
          <a:p>
            <a:pPr algn="l">
              <a:spcAft>
                <a:spcPts val="400"/>
              </a:spcAft>
            </a:pPr>
            <a:r>
              <a:rPr sz="1100" b="1">
                <a:solidFill>
                  <a:srgbClr val="1F3864"/>
                </a:solidFill>
                <a:latin typeface="Calibri"/>
              </a:rPr>
              <a:t>WHY</a:t>
            </a:r>
          </a:p>
        </p:txBody>
      </p:sp>
      <p:sp>
        <p:nvSpPr>
          <p:cNvPr id="16" name="TextBox 15"/>
          <p:cNvSpPr txBox="1"/>
          <p:nvPr/>
        </p:nvSpPr>
        <p:spPr>
          <a:xfrm>
            <a:off x="777240" y="4709160"/>
            <a:ext cx="6492240" cy="914400"/>
          </a:xfrm>
          <a:prstGeom prst="rect">
            <a:avLst/>
          </a:prstGeom>
          <a:noFill/>
        </p:spPr>
        <p:txBody>
          <a:bodyPr wrap="square">
            <a:spAutoFit/>
          </a:bodyPr>
          <a:lstStyle/>
          <a:p>
            <a:pPr algn="l">
              <a:spcAft>
                <a:spcPts val="0"/>
              </a:spcAft>
            </a:pPr>
            <a:r>
              <a:rPr sz="1350" b="0">
                <a:solidFill>
                  <a:srgbClr val="1F2A44"/>
                </a:solidFill>
                <a:latin typeface="Calibri"/>
              </a:rPr>
              <a:t>A grade without a consequence is a comment. Red removes and counts; orange keeps and attaches a warning that reaches the answer; green standardises and logs.</a:t>
            </a:r>
          </a:p>
        </p:txBody>
      </p:sp>
      <p:sp>
        <p:nvSpPr>
          <p:cNvPr id="17" name="Rounded Rectangle 16"/>
          <p:cNvSpPr/>
          <p:nvPr/>
        </p:nvSpPr>
        <p:spPr>
          <a:xfrm>
            <a:off x="7680960" y="4288536"/>
            <a:ext cx="4023360" cy="1371600"/>
          </a:xfrm>
          <a:prstGeom prst="roundRect">
            <a:avLst>
              <a:gd name="adj" fmla="val 4000"/>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4398264"/>
            <a:ext cx="3566160" cy="320040"/>
          </a:xfrm>
          <a:prstGeom prst="rect">
            <a:avLst/>
          </a:prstGeom>
          <a:noFill/>
        </p:spPr>
        <p:txBody>
          <a:bodyPr wrap="square">
            <a:spAutoFit/>
          </a:bodyPr>
          <a:lstStyle/>
          <a:p>
            <a:pPr algn="l">
              <a:spcAft>
                <a:spcPts val="400"/>
              </a:spcAft>
            </a:pPr>
            <a:r>
              <a:rPr sz="1100" b="1">
                <a:solidFill>
                  <a:srgbClr val="B45309"/>
                </a:solidFill>
                <a:latin typeface="Calibri"/>
              </a:rPr>
              <a:t>WHAT IT COSTS</a:t>
            </a:r>
          </a:p>
        </p:txBody>
      </p:sp>
      <p:sp>
        <p:nvSpPr>
          <p:cNvPr id="19" name="TextBox 18"/>
          <p:cNvSpPr txBox="1"/>
          <p:nvPr/>
        </p:nvSpPr>
        <p:spPr>
          <a:xfrm>
            <a:off x="7909560" y="4709160"/>
            <a:ext cx="3566160" cy="914400"/>
          </a:xfrm>
          <a:prstGeom prst="rect">
            <a:avLst/>
          </a:prstGeom>
          <a:noFill/>
        </p:spPr>
        <p:txBody>
          <a:bodyPr wrap="square">
            <a:spAutoFit/>
          </a:bodyPr>
          <a:lstStyle/>
          <a:p>
            <a:pPr algn="l">
              <a:spcAft>
                <a:spcPts val="0"/>
              </a:spcAft>
            </a:pPr>
            <a:r>
              <a:rPr sz="1350" b="0">
                <a:solidFill>
                  <a:srgbClr val="1F2A44"/>
                </a:solidFill>
                <a:latin typeface="Calibri"/>
              </a:rPr>
              <a:t>Three code paths instead of one, and a quarantine table to keep. In exchange every exclusion is reversible, countable and attributable to a named rule.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4</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How does the AI learn what the data means?</a:t>
            </a:r>
          </a:p>
        </p:txBody>
      </p:sp>
      <p:sp>
        <p:nvSpPr>
          <p:cNvPr id="4" name="Rounded Rectangle 3"/>
          <p:cNvSpPr/>
          <p:nvPr/>
        </p:nvSpPr>
        <p:spPr>
          <a:xfrm>
            <a:off x="548640" y="1463040"/>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3657600" cy="457200"/>
          </a:xfrm>
          <a:prstGeom prst="rect">
            <a:avLst/>
          </a:prstGeom>
          <a:noFill/>
        </p:spPr>
        <p:txBody>
          <a:bodyPr wrap="square">
            <a:spAutoFit/>
          </a:bodyPr>
          <a:lstStyle/>
          <a:p>
            <a:pPr algn="l">
              <a:spcAft>
                <a:spcPts val="0"/>
              </a:spcAft>
            </a:pPr>
            <a:r>
              <a:rPr sz="1500" b="1">
                <a:solidFill>
                  <a:srgbClr val="1F2A44"/>
                </a:solidFill>
                <a:latin typeface="Calibri"/>
              </a:rPr>
              <a:t>Describe it in the prompt</a:t>
            </a:r>
          </a:p>
        </p:txBody>
      </p:sp>
      <p:sp>
        <p:nvSpPr>
          <p:cNvPr id="6" name="TextBox 5"/>
          <p:cNvSpPr txBox="1"/>
          <p:nvPr/>
        </p:nvSpPr>
        <p:spPr>
          <a:xfrm>
            <a:off x="4526280" y="1591056"/>
            <a:ext cx="6949440" cy="548640"/>
          </a:xfrm>
          <a:prstGeom prst="rect">
            <a:avLst/>
          </a:prstGeom>
          <a:noFill/>
        </p:spPr>
        <p:txBody>
          <a:bodyPr wrap="square">
            <a:spAutoFit/>
          </a:bodyPr>
          <a:lstStyle/>
          <a:p>
            <a:pPr algn="l">
              <a:spcAft>
                <a:spcPts val="0"/>
              </a:spcAft>
            </a:pPr>
            <a:r>
              <a:rPr sz="1300" b="0">
                <a:solidFill>
                  <a:srgbClr val="5B6472"/>
                </a:solidFill>
                <a:latin typeface="Calibri"/>
              </a:rPr>
              <a:t>Fast to write. Drifts silently the moment the schema changes.</a:t>
            </a:r>
          </a:p>
        </p:txBody>
      </p:sp>
      <p:sp>
        <p:nvSpPr>
          <p:cNvPr id="7" name="Rounded Rectangle 6"/>
          <p:cNvSpPr/>
          <p:nvPr/>
        </p:nvSpPr>
        <p:spPr>
          <a:xfrm>
            <a:off x="548640" y="2359152"/>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50592"/>
            <a:ext cx="3657600" cy="457200"/>
          </a:xfrm>
          <a:prstGeom prst="rect">
            <a:avLst/>
          </a:prstGeom>
          <a:noFill/>
        </p:spPr>
        <p:txBody>
          <a:bodyPr wrap="square">
            <a:spAutoFit/>
          </a:bodyPr>
          <a:lstStyle/>
          <a:p>
            <a:pPr algn="l">
              <a:spcAft>
                <a:spcPts val="0"/>
              </a:spcAft>
            </a:pPr>
            <a:r>
              <a:rPr sz="1500" b="1">
                <a:solidFill>
                  <a:srgbClr val="1F2A44"/>
                </a:solidFill>
                <a:latin typeface="Calibri"/>
              </a:rPr>
              <a:t>A BI tool's metrics layer</a:t>
            </a:r>
          </a:p>
        </p:txBody>
      </p:sp>
      <p:sp>
        <p:nvSpPr>
          <p:cNvPr id="9" name="TextBox 8"/>
          <p:cNvSpPr txBox="1"/>
          <p:nvPr/>
        </p:nvSpPr>
        <p:spPr>
          <a:xfrm>
            <a:off x="4526280" y="2487168"/>
            <a:ext cx="6949440" cy="548640"/>
          </a:xfrm>
          <a:prstGeom prst="rect">
            <a:avLst/>
          </a:prstGeom>
          <a:noFill/>
        </p:spPr>
        <p:txBody>
          <a:bodyPr wrap="square">
            <a:spAutoFit/>
          </a:bodyPr>
          <a:lstStyle/>
          <a:p>
            <a:pPr algn="l">
              <a:spcAft>
                <a:spcPts val="0"/>
              </a:spcAft>
            </a:pPr>
            <a:r>
              <a:rPr sz="1300" b="0">
                <a:solidFill>
                  <a:srgbClr val="5B6472"/>
                </a:solidFill>
                <a:latin typeface="Calibri"/>
              </a:rPr>
              <a:t>Mature, but another product to buy, run and keep on-premises.</a:t>
            </a:r>
          </a:p>
        </p:txBody>
      </p:sp>
      <p:sp>
        <p:nvSpPr>
          <p:cNvPr id="10" name="Rounded Rectangle 9"/>
          <p:cNvSpPr/>
          <p:nvPr/>
        </p:nvSpPr>
        <p:spPr>
          <a:xfrm>
            <a:off x="548640" y="3255264"/>
            <a:ext cx="11155680" cy="777240"/>
          </a:xfrm>
          <a:prstGeom prst="roundRect">
            <a:avLst>
              <a:gd name="adj" fmla="val 4000"/>
            </a:avLst>
          </a:prstGeom>
          <a:solidFill>
            <a:srgbClr val="F1F8F3"/>
          </a:solidFill>
          <a:ln w="2286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46704"/>
            <a:ext cx="3657600" cy="457200"/>
          </a:xfrm>
          <a:prstGeom prst="rect">
            <a:avLst/>
          </a:prstGeom>
          <a:noFill/>
        </p:spPr>
        <p:txBody>
          <a:bodyPr wrap="square">
            <a:spAutoFit/>
          </a:bodyPr>
          <a:lstStyle/>
          <a:p>
            <a:pPr algn="l">
              <a:spcAft>
                <a:spcPts val="0"/>
              </a:spcAft>
            </a:pPr>
            <a:r>
              <a:rPr sz="1500" b="1">
                <a:solidFill>
                  <a:srgbClr val="15803D"/>
                </a:solidFill>
                <a:latin typeface="Calibri"/>
              </a:rPr>
              <a:t>A written file the build checks</a:t>
            </a:r>
          </a:p>
        </p:txBody>
      </p:sp>
      <p:sp>
        <p:nvSpPr>
          <p:cNvPr id="12" name="TextBox 11"/>
          <p:cNvSpPr txBox="1"/>
          <p:nvPr/>
        </p:nvSpPr>
        <p:spPr>
          <a:xfrm>
            <a:off x="4526280" y="3383280"/>
            <a:ext cx="6949440" cy="548640"/>
          </a:xfrm>
          <a:prstGeom prst="rect">
            <a:avLst/>
          </a:prstGeom>
          <a:noFill/>
        </p:spPr>
        <p:txBody>
          <a:bodyPr wrap="square">
            <a:spAutoFit/>
          </a:bodyPr>
          <a:lstStyle/>
          <a:p>
            <a:pPr algn="l">
              <a:spcAft>
                <a:spcPts val="0"/>
              </a:spcAft>
            </a:pPr>
            <a:r>
              <a:rPr sz="1300" b="0">
                <a:solidFill>
                  <a:srgbClr val="5B6472"/>
                </a:solidFill>
                <a:latin typeface="Calibri"/>
              </a:rPr>
              <a:t>Meanings, grains and caveats in one file, verified against the live database.</a:t>
            </a:r>
          </a:p>
        </p:txBody>
      </p:sp>
      <p:sp>
        <p:nvSpPr>
          <p:cNvPr id="13" name="TextBox 12"/>
          <p:cNvSpPr txBox="1"/>
          <p:nvPr/>
        </p:nvSpPr>
        <p:spPr>
          <a:xfrm>
            <a:off x="10607040" y="3346704"/>
            <a:ext cx="1005840" cy="365760"/>
          </a:xfrm>
          <a:prstGeom prst="rect">
            <a:avLst/>
          </a:prstGeom>
          <a:noFill/>
        </p:spPr>
        <p:txBody>
          <a:bodyPr wrap="square">
            <a:spAutoFit/>
          </a:bodyPr>
          <a:lstStyle/>
          <a:p>
            <a:pPr algn="l">
              <a:spcAft>
                <a:spcPts val="0"/>
              </a:spcAft>
            </a:pPr>
            <a:r>
              <a:rPr sz="1100" b="1">
                <a:solidFill>
                  <a:srgbClr val="15803D"/>
                </a:solidFill>
                <a:latin typeface="Calibri"/>
              </a:rPr>
              <a:t>CHOSEN</a:t>
            </a:r>
          </a:p>
        </p:txBody>
      </p:sp>
      <p:sp>
        <p:nvSpPr>
          <p:cNvPr id="14" name="Rounded Rectangle 13"/>
          <p:cNvSpPr/>
          <p:nvPr/>
        </p:nvSpPr>
        <p:spPr>
          <a:xfrm>
            <a:off x="548640" y="4288536"/>
            <a:ext cx="6949440" cy="1371600"/>
          </a:xfrm>
          <a:prstGeom prst="roundRect">
            <a:avLst>
              <a:gd name="adj" fmla="val 4000"/>
            </a:avLst>
          </a:prstGeom>
          <a:solidFill>
            <a:srgbClr val="FFFFFF"/>
          </a:solidFill>
          <a:ln w="1778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98264"/>
            <a:ext cx="6492240" cy="320040"/>
          </a:xfrm>
          <a:prstGeom prst="rect">
            <a:avLst/>
          </a:prstGeom>
          <a:noFill/>
        </p:spPr>
        <p:txBody>
          <a:bodyPr wrap="square">
            <a:spAutoFit/>
          </a:bodyPr>
          <a:lstStyle/>
          <a:p>
            <a:pPr algn="l">
              <a:spcAft>
                <a:spcPts val="400"/>
              </a:spcAft>
            </a:pPr>
            <a:r>
              <a:rPr sz="1100" b="1">
                <a:solidFill>
                  <a:srgbClr val="1F3864"/>
                </a:solidFill>
                <a:latin typeface="Calibri"/>
              </a:rPr>
              <a:t>WHY</a:t>
            </a:r>
          </a:p>
        </p:txBody>
      </p:sp>
      <p:sp>
        <p:nvSpPr>
          <p:cNvPr id="16" name="TextBox 15"/>
          <p:cNvSpPr txBox="1"/>
          <p:nvPr/>
        </p:nvSpPr>
        <p:spPr>
          <a:xfrm>
            <a:off x="777240" y="4709160"/>
            <a:ext cx="6492240" cy="914400"/>
          </a:xfrm>
          <a:prstGeom prst="rect">
            <a:avLst/>
          </a:prstGeom>
          <a:noFill/>
        </p:spPr>
        <p:txBody>
          <a:bodyPr wrap="square">
            <a:spAutoFit/>
          </a:bodyPr>
          <a:lstStyle/>
          <a:p>
            <a:pPr algn="l">
              <a:spcAft>
                <a:spcPts val="0"/>
              </a:spcAft>
            </a:pPr>
            <a:r>
              <a:rPr sz="1350" b="0">
                <a:solidFill>
                  <a:srgbClr val="1F2A44"/>
                </a:solidFill>
                <a:latin typeface="Calibri"/>
              </a:rPr>
              <a:t>A dictionary that has drifted is worse than none, because it gives the model confident wrong information and the model cannot check it. A described column that does not exist, or a column nobody described, fails the build.</a:t>
            </a:r>
          </a:p>
        </p:txBody>
      </p:sp>
      <p:sp>
        <p:nvSpPr>
          <p:cNvPr id="17" name="Rounded Rectangle 16"/>
          <p:cNvSpPr/>
          <p:nvPr/>
        </p:nvSpPr>
        <p:spPr>
          <a:xfrm>
            <a:off x="7680960" y="4288536"/>
            <a:ext cx="4023360" cy="1371600"/>
          </a:xfrm>
          <a:prstGeom prst="roundRect">
            <a:avLst>
              <a:gd name="adj" fmla="val 4000"/>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4398264"/>
            <a:ext cx="3566160" cy="320040"/>
          </a:xfrm>
          <a:prstGeom prst="rect">
            <a:avLst/>
          </a:prstGeom>
          <a:noFill/>
        </p:spPr>
        <p:txBody>
          <a:bodyPr wrap="square">
            <a:spAutoFit/>
          </a:bodyPr>
          <a:lstStyle/>
          <a:p>
            <a:pPr algn="l">
              <a:spcAft>
                <a:spcPts val="400"/>
              </a:spcAft>
            </a:pPr>
            <a:r>
              <a:rPr sz="1100" b="1">
                <a:solidFill>
                  <a:srgbClr val="B45309"/>
                </a:solidFill>
                <a:latin typeface="Calibri"/>
              </a:rPr>
              <a:t>WHAT IT COSTS</a:t>
            </a:r>
          </a:p>
        </p:txBody>
      </p:sp>
      <p:sp>
        <p:nvSpPr>
          <p:cNvPr id="19" name="TextBox 18"/>
          <p:cNvSpPr txBox="1"/>
          <p:nvPr/>
        </p:nvSpPr>
        <p:spPr>
          <a:xfrm>
            <a:off x="7909560" y="4709160"/>
            <a:ext cx="3566160" cy="914400"/>
          </a:xfrm>
          <a:prstGeom prst="rect">
            <a:avLst/>
          </a:prstGeom>
          <a:noFill/>
        </p:spPr>
        <p:txBody>
          <a:bodyPr wrap="square">
            <a:spAutoFit/>
          </a:bodyPr>
          <a:lstStyle/>
          <a:p>
            <a:pPr algn="l">
              <a:spcAft>
                <a:spcPts val="0"/>
              </a:spcAft>
            </a:pPr>
            <a:r>
              <a:rPr sz="1350" b="0">
                <a:solidFill>
                  <a:srgbClr val="1F2A44"/>
                </a:solidFill>
                <a:latin typeface="Calibri"/>
              </a:rPr>
              <a:t>The file has to be maintained alongside the model. The verification is what makes that safe rather than a liability.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5</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How much should we trust the AI?</a:t>
            </a:r>
          </a:p>
        </p:txBody>
      </p:sp>
      <p:sp>
        <p:nvSpPr>
          <p:cNvPr id="4" name="Rounded Rectangle 3"/>
          <p:cNvSpPr/>
          <p:nvPr/>
        </p:nvSpPr>
        <p:spPr>
          <a:xfrm>
            <a:off x="548640" y="1463040"/>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3657600" cy="457200"/>
          </a:xfrm>
          <a:prstGeom prst="rect">
            <a:avLst/>
          </a:prstGeom>
          <a:noFill/>
        </p:spPr>
        <p:txBody>
          <a:bodyPr wrap="square">
            <a:spAutoFit/>
          </a:bodyPr>
          <a:lstStyle/>
          <a:p>
            <a:pPr algn="l">
              <a:spcAft>
                <a:spcPts val="0"/>
              </a:spcAft>
            </a:pPr>
            <a:r>
              <a:rPr sz="1500" b="1">
                <a:solidFill>
                  <a:srgbClr val="1F2A44"/>
                </a:solidFill>
                <a:latin typeface="Calibri"/>
              </a:rPr>
              <a:t>Trust it; give it the database</a:t>
            </a:r>
          </a:p>
        </p:txBody>
      </p:sp>
      <p:sp>
        <p:nvSpPr>
          <p:cNvPr id="6" name="TextBox 5"/>
          <p:cNvSpPr txBox="1"/>
          <p:nvPr/>
        </p:nvSpPr>
        <p:spPr>
          <a:xfrm>
            <a:off x="4526280" y="1591056"/>
            <a:ext cx="6949440" cy="548640"/>
          </a:xfrm>
          <a:prstGeom prst="rect">
            <a:avLst/>
          </a:prstGeom>
          <a:noFill/>
        </p:spPr>
        <p:txBody>
          <a:bodyPr wrap="square">
            <a:spAutoFit/>
          </a:bodyPr>
          <a:lstStyle/>
          <a:p>
            <a:pPr algn="l">
              <a:spcAft>
                <a:spcPts val="0"/>
              </a:spcAft>
            </a:pPr>
            <a:r>
              <a:rPr sz="1300" b="0">
                <a:solidFill>
                  <a:srgbClr val="5B6472"/>
                </a:solidFill>
                <a:latin typeface="Calibri"/>
              </a:rPr>
              <a:t>It would answer by looking at the data, which tests the agent and not the data product.</a:t>
            </a:r>
          </a:p>
        </p:txBody>
      </p:sp>
      <p:sp>
        <p:nvSpPr>
          <p:cNvPr id="7" name="Rounded Rectangle 6"/>
          <p:cNvSpPr/>
          <p:nvPr/>
        </p:nvSpPr>
        <p:spPr>
          <a:xfrm>
            <a:off x="548640" y="2359152"/>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50592"/>
            <a:ext cx="3657600" cy="457200"/>
          </a:xfrm>
          <a:prstGeom prst="rect">
            <a:avLst/>
          </a:prstGeom>
          <a:noFill/>
        </p:spPr>
        <p:txBody>
          <a:bodyPr wrap="square">
            <a:spAutoFit/>
          </a:bodyPr>
          <a:lstStyle/>
          <a:p>
            <a:pPr algn="l">
              <a:spcAft>
                <a:spcPts val="0"/>
              </a:spcAft>
            </a:pPr>
            <a:r>
              <a:rPr sz="1500" b="1">
                <a:solidFill>
                  <a:srgbClr val="1F2A44"/>
                </a:solidFill>
                <a:latin typeface="Calibri"/>
              </a:rPr>
              <a:t>Trust it; check the answer</a:t>
            </a:r>
          </a:p>
        </p:txBody>
      </p:sp>
      <p:sp>
        <p:nvSpPr>
          <p:cNvPr id="9" name="TextBox 8"/>
          <p:cNvSpPr txBox="1"/>
          <p:nvPr/>
        </p:nvSpPr>
        <p:spPr>
          <a:xfrm>
            <a:off x="4526280" y="2487168"/>
            <a:ext cx="6949440" cy="548640"/>
          </a:xfrm>
          <a:prstGeom prst="rect">
            <a:avLst/>
          </a:prstGeom>
          <a:noFill/>
        </p:spPr>
        <p:txBody>
          <a:bodyPr wrap="square">
            <a:spAutoFit/>
          </a:bodyPr>
          <a:lstStyle/>
          <a:p>
            <a:pPr algn="l">
              <a:spcAft>
                <a:spcPts val="0"/>
              </a:spcAft>
            </a:pPr>
            <a:r>
              <a:rPr sz="1300" b="0">
                <a:solidFill>
                  <a:srgbClr val="5B6472"/>
                </a:solidFill>
                <a:latin typeface="Calibri"/>
              </a:rPr>
              <a:t>Too late. By then the query has already run against production.</a:t>
            </a:r>
          </a:p>
        </p:txBody>
      </p:sp>
      <p:sp>
        <p:nvSpPr>
          <p:cNvPr id="10" name="Rounded Rectangle 9"/>
          <p:cNvSpPr/>
          <p:nvPr/>
        </p:nvSpPr>
        <p:spPr>
          <a:xfrm>
            <a:off x="548640" y="3255264"/>
            <a:ext cx="11155680" cy="777240"/>
          </a:xfrm>
          <a:prstGeom prst="roundRect">
            <a:avLst>
              <a:gd name="adj" fmla="val 4000"/>
            </a:avLst>
          </a:prstGeom>
          <a:solidFill>
            <a:srgbClr val="F1F8F3"/>
          </a:solidFill>
          <a:ln w="2286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46704"/>
            <a:ext cx="3657600" cy="457200"/>
          </a:xfrm>
          <a:prstGeom prst="rect">
            <a:avLst/>
          </a:prstGeom>
          <a:noFill/>
        </p:spPr>
        <p:txBody>
          <a:bodyPr wrap="square">
            <a:spAutoFit/>
          </a:bodyPr>
          <a:lstStyle/>
          <a:p>
            <a:pPr algn="l">
              <a:spcAft>
                <a:spcPts val="0"/>
              </a:spcAft>
            </a:pPr>
            <a:r>
              <a:rPr sz="1500" b="1">
                <a:solidFill>
                  <a:srgbClr val="15803D"/>
                </a:solidFill>
                <a:latin typeface="Calibri"/>
              </a:rPr>
              <a:t>Treat it as an untrusted author</a:t>
            </a:r>
          </a:p>
        </p:txBody>
      </p:sp>
      <p:sp>
        <p:nvSpPr>
          <p:cNvPr id="12" name="TextBox 11"/>
          <p:cNvSpPr txBox="1"/>
          <p:nvPr/>
        </p:nvSpPr>
        <p:spPr>
          <a:xfrm>
            <a:off x="4526280" y="3383280"/>
            <a:ext cx="6949440" cy="548640"/>
          </a:xfrm>
          <a:prstGeom prst="rect">
            <a:avLst/>
          </a:prstGeom>
          <a:noFill/>
        </p:spPr>
        <p:txBody>
          <a:bodyPr wrap="square">
            <a:spAutoFit/>
          </a:bodyPr>
          <a:lstStyle/>
          <a:p>
            <a:pPr algn="l">
              <a:spcAft>
                <a:spcPts val="0"/>
              </a:spcAft>
            </a:pPr>
            <a:r>
              <a:rPr sz="1300" b="0">
                <a:solidFill>
                  <a:srgbClr val="5B6472"/>
                </a:solidFill>
                <a:latin typeface="Calibri"/>
              </a:rPr>
              <a:t>No tools, no filesystem, no connection. Its SQL is parsed before anything runs.</a:t>
            </a:r>
          </a:p>
        </p:txBody>
      </p:sp>
      <p:sp>
        <p:nvSpPr>
          <p:cNvPr id="13" name="TextBox 12"/>
          <p:cNvSpPr txBox="1"/>
          <p:nvPr/>
        </p:nvSpPr>
        <p:spPr>
          <a:xfrm>
            <a:off x="10607040" y="3346704"/>
            <a:ext cx="1005840" cy="365760"/>
          </a:xfrm>
          <a:prstGeom prst="rect">
            <a:avLst/>
          </a:prstGeom>
          <a:noFill/>
        </p:spPr>
        <p:txBody>
          <a:bodyPr wrap="square">
            <a:spAutoFit/>
          </a:bodyPr>
          <a:lstStyle/>
          <a:p>
            <a:pPr algn="l">
              <a:spcAft>
                <a:spcPts val="0"/>
              </a:spcAft>
            </a:pPr>
            <a:r>
              <a:rPr sz="1100" b="1">
                <a:solidFill>
                  <a:srgbClr val="15803D"/>
                </a:solidFill>
                <a:latin typeface="Calibri"/>
              </a:rPr>
              <a:t>CHOSEN</a:t>
            </a:r>
          </a:p>
        </p:txBody>
      </p:sp>
      <p:sp>
        <p:nvSpPr>
          <p:cNvPr id="14" name="Rounded Rectangle 13"/>
          <p:cNvSpPr/>
          <p:nvPr/>
        </p:nvSpPr>
        <p:spPr>
          <a:xfrm>
            <a:off x="548640" y="4288536"/>
            <a:ext cx="6949440" cy="1371600"/>
          </a:xfrm>
          <a:prstGeom prst="roundRect">
            <a:avLst>
              <a:gd name="adj" fmla="val 4000"/>
            </a:avLst>
          </a:prstGeom>
          <a:solidFill>
            <a:srgbClr val="FFFFFF"/>
          </a:solidFill>
          <a:ln w="1778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98264"/>
            <a:ext cx="6492240" cy="320040"/>
          </a:xfrm>
          <a:prstGeom prst="rect">
            <a:avLst/>
          </a:prstGeom>
          <a:noFill/>
        </p:spPr>
        <p:txBody>
          <a:bodyPr wrap="square">
            <a:spAutoFit/>
          </a:bodyPr>
          <a:lstStyle/>
          <a:p>
            <a:pPr algn="l">
              <a:spcAft>
                <a:spcPts val="400"/>
              </a:spcAft>
            </a:pPr>
            <a:r>
              <a:rPr sz="1100" b="1">
                <a:solidFill>
                  <a:srgbClr val="1F3864"/>
                </a:solidFill>
                <a:latin typeface="Calibri"/>
              </a:rPr>
              <a:t>WHY</a:t>
            </a:r>
          </a:p>
        </p:txBody>
      </p:sp>
      <p:sp>
        <p:nvSpPr>
          <p:cNvPr id="16" name="TextBox 15"/>
          <p:cNvSpPr txBox="1"/>
          <p:nvPr/>
        </p:nvSpPr>
        <p:spPr>
          <a:xfrm>
            <a:off x="777240" y="4709160"/>
            <a:ext cx="6492240" cy="914400"/>
          </a:xfrm>
          <a:prstGeom prst="rect">
            <a:avLst/>
          </a:prstGeom>
          <a:noFill/>
        </p:spPr>
        <p:txBody>
          <a:bodyPr wrap="square">
            <a:spAutoFit/>
          </a:bodyPr>
          <a:lstStyle/>
          <a:p>
            <a:pPr algn="l">
              <a:spcAft>
                <a:spcPts val="0"/>
              </a:spcAft>
            </a:pPr>
            <a:r>
              <a:rPr sz="1350" b="0">
                <a:solidFill>
                  <a:srgbClr val="1F2A44"/>
                </a:solidFill>
                <a:latin typeface="Calibri"/>
              </a:rPr>
              <a:t>We are testing whether the semantic layer is good enough for a model to be right — not whether a model can go digging. And a query author you do not control should not be able to reach anything you have not deliberately published.</a:t>
            </a:r>
          </a:p>
        </p:txBody>
      </p:sp>
      <p:sp>
        <p:nvSpPr>
          <p:cNvPr id="17" name="Rounded Rectangle 16"/>
          <p:cNvSpPr/>
          <p:nvPr/>
        </p:nvSpPr>
        <p:spPr>
          <a:xfrm>
            <a:off x="7680960" y="4288536"/>
            <a:ext cx="4023360" cy="1371600"/>
          </a:xfrm>
          <a:prstGeom prst="roundRect">
            <a:avLst>
              <a:gd name="adj" fmla="val 4000"/>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4398264"/>
            <a:ext cx="3566160" cy="320040"/>
          </a:xfrm>
          <a:prstGeom prst="rect">
            <a:avLst/>
          </a:prstGeom>
          <a:noFill/>
        </p:spPr>
        <p:txBody>
          <a:bodyPr wrap="square">
            <a:spAutoFit/>
          </a:bodyPr>
          <a:lstStyle/>
          <a:p>
            <a:pPr algn="l">
              <a:spcAft>
                <a:spcPts val="400"/>
              </a:spcAft>
            </a:pPr>
            <a:r>
              <a:rPr sz="1100" b="1">
                <a:solidFill>
                  <a:srgbClr val="B45309"/>
                </a:solidFill>
                <a:latin typeface="Calibri"/>
              </a:rPr>
              <a:t>WHAT IT COSTS</a:t>
            </a:r>
          </a:p>
        </p:txBody>
      </p:sp>
      <p:sp>
        <p:nvSpPr>
          <p:cNvPr id="19" name="TextBox 18"/>
          <p:cNvSpPr txBox="1"/>
          <p:nvPr/>
        </p:nvSpPr>
        <p:spPr>
          <a:xfrm>
            <a:off x="7909560" y="4709160"/>
            <a:ext cx="3566160" cy="914400"/>
          </a:xfrm>
          <a:prstGeom prst="rect">
            <a:avLst/>
          </a:prstGeom>
          <a:noFill/>
        </p:spPr>
        <p:txBody>
          <a:bodyPr wrap="square">
            <a:spAutoFit/>
          </a:bodyPr>
          <a:lstStyle/>
          <a:p>
            <a:pPr algn="l">
              <a:spcAft>
                <a:spcPts val="0"/>
              </a:spcAft>
            </a:pPr>
            <a:r>
              <a:rPr sz="1350" b="0">
                <a:solidFill>
                  <a:srgbClr val="1F2A44"/>
                </a:solidFill>
                <a:latin typeface="Calibri"/>
              </a:rPr>
              <a:t>A parser dependency, and legitimate queries are occasionally stricter than necessary.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DESIGN DECISION 6</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PostgreSQL, or something lighter?</a:t>
            </a:r>
          </a:p>
        </p:txBody>
      </p:sp>
      <p:sp>
        <p:nvSpPr>
          <p:cNvPr id="4" name="Rounded Rectangle 3"/>
          <p:cNvSpPr/>
          <p:nvPr/>
        </p:nvSpPr>
        <p:spPr>
          <a:xfrm>
            <a:off x="548640" y="1463040"/>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3657600" cy="457200"/>
          </a:xfrm>
          <a:prstGeom prst="rect">
            <a:avLst/>
          </a:prstGeom>
          <a:noFill/>
        </p:spPr>
        <p:txBody>
          <a:bodyPr wrap="square">
            <a:spAutoFit/>
          </a:bodyPr>
          <a:lstStyle/>
          <a:p>
            <a:pPr algn="l">
              <a:spcAft>
                <a:spcPts val="0"/>
              </a:spcAft>
            </a:pPr>
            <a:r>
              <a:rPr sz="1500" b="1">
                <a:solidFill>
                  <a:srgbClr val="1F2A44"/>
                </a:solidFill>
                <a:latin typeface="Calibri"/>
              </a:rPr>
              <a:t>DuckDB, in-process</a:t>
            </a:r>
          </a:p>
        </p:txBody>
      </p:sp>
      <p:sp>
        <p:nvSpPr>
          <p:cNvPr id="6" name="TextBox 5"/>
          <p:cNvSpPr txBox="1"/>
          <p:nvPr/>
        </p:nvSpPr>
        <p:spPr>
          <a:xfrm>
            <a:off x="4526280" y="1591056"/>
            <a:ext cx="6949440" cy="548640"/>
          </a:xfrm>
          <a:prstGeom prst="rect">
            <a:avLst/>
          </a:prstGeom>
          <a:noFill/>
        </p:spPr>
        <p:txBody>
          <a:bodyPr wrap="square">
            <a:spAutoFit/>
          </a:bodyPr>
          <a:lstStyle/>
          <a:p>
            <a:pPr algn="l">
              <a:spcAft>
                <a:spcPts val="0"/>
              </a:spcAft>
            </a:pPr>
            <a:r>
              <a:rPr sz="1300" b="0">
                <a:solidFill>
                  <a:srgbClr val="5B6472"/>
                </a:solidFill>
                <a:latin typeface="Calibri"/>
              </a:rPr>
              <a:t>Fastest to set up. Has no row-level security — so Task 3 becomes prose and untested SQL.</a:t>
            </a:r>
          </a:p>
        </p:txBody>
      </p:sp>
      <p:sp>
        <p:nvSpPr>
          <p:cNvPr id="7" name="Rounded Rectangle 6"/>
          <p:cNvSpPr/>
          <p:nvPr/>
        </p:nvSpPr>
        <p:spPr>
          <a:xfrm>
            <a:off x="548640" y="2359152"/>
            <a:ext cx="11155680" cy="777240"/>
          </a:xfrm>
          <a:prstGeom prst="roundRect">
            <a:avLst>
              <a:gd name="adj" fmla="val 4000"/>
            </a:avLst>
          </a:prstGeom>
          <a:solidFill>
            <a:srgbClr val="F7F9FC"/>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50592"/>
            <a:ext cx="3657600" cy="457200"/>
          </a:xfrm>
          <a:prstGeom prst="rect">
            <a:avLst/>
          </a:prstGeom>
          <a:noFill/>
        </p:spPr>
        <p:txBody>
          <a:bodyPr wrap="square">
            <a:spAutoFit/>
          </a:bodyPr>
          <a:lstStyle/>
          <a:p>
            <a:pPr algn="l">
              <a:spcAft>
                <a:spcPts val="0"/>
              </a:spcAft>
            </a:pPr>
            <a:r>
              <a:rPr sz="1500" b="1">
                <a:solidFill>
                  <a:srgbClr val="1F2A44"/>
                </a:solidFill>
                <a:latin typeface="Calibri"/>
              </a:rPr>
              <a:t>A cloud warehouse</a:t>
            </a:r>
          </a:p>
        </p:txBody>
      </p:sp>
      <p:sp>
        <p:nvSpPr>
          <p:cNvPr id="9" name="TextBox 8"/>
          <p:cNvSpPr txBox="1"/>
          <p:nvPr/>
        </p:nvSpPr>
        <p:spPr>
          <a:xfrm>
            <a:off x="4526280" y="2487168"/>
            <a:ext cx="6949440" cy="548640"/>
          </a:xfrm>
          <a:prstGeom prst="rect">
            <a:avLst/>
          </a:prstGeom>
          <a:noFill/>
        </p:spPr>
        <p:txBody>
          <a:bodyPr wrap="square">
            <a:spAutoFit/>
          </a:bodyPr>
          <a:lstStyle/>
          <a:p>
            <a:pPr algn="l">
              <a:spcAft>
                <a:spcPts val="0"/>
              </a:spcAft>
            </a:pPr>
            <a:r>
              <a:rPr sz="1300" b="0">
                <a:solidFill>
                  <a:srgbClr val="5B6472"/>
                </a:solidFill>
                <a:latin typeface="Calibri"/>
              </a:rPr>
              <a:t>Powerful. Contradicts the bank's own direction of travel, which is back on-premises.</a:t>
            </a:r>
          </a:p>
        </p:txBody>
      </p:sp>
      <p:sp>
        <p:nvSpPr>
          <p:cNvPr id="10" name="Rounded Rectangle 9"/>
          <p:cNvSpPr/>
          <p:nvPr/>
        </p:nvSpPr>
        <p:spPr>
          <a:xfrm>
            <a:off x="548640" y="3255264"/>
            <a:ext cx="11155680" cy="777240"/>
          </a:xfrm>
          <a:prstGeom prst="roundRect">
            <a:avLst>
              <a:gd name="adj" fmla="val 4000"/>
            </a:avLst>
          </a:prstGeom>
          <a:solidFill>
            <a:srgbClr val="F1F8F3"/>
          </a:solidFill>
          <a:ln w="2286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46704"/>
            <a:ext cx="3657600" cy="457200"/>
          </a:xfrm>
          <a:prstGeom prst="rect">
            <a:avLst/>
          </a:prstGeom>
          <a:noFill/>
        </p:spPr>
        <p:txBody>
          <a:bodyPr wrap="square">
            <a:spAutoFit/>
          </a:bodyPr>
          <a:lstStyle/>
          <a:p>
            <a:pPr algn="l">
              <a:spcAft>
                <a:spcPts val="0"/>
              </a:spcAft>
            </a:pPr>
            <a:r>
              <a:rPr sz="1500" b="1">
                <a:solidFill>
                  <a:srgbClr val="15803D"/>
                </a:solidFill>
                <a:latin typeface="Calibri"/>
              </a:rPr>
              <a:t>PostgreSQL 16</a:t>
            </a:r>
          </a:p>
        </p:txBody>
      </p:sp>
      <p:sp>
        <p:nvSpPr>
          <p:cNvPr id="12" name="TextBox 11"/>
          <p:cNvSpPr txBox="1"/>
          <p:nvPr/>
        </p:nvSpPr>
        <p:spPr>
          <a:xfrm>
            <a:off x="4526280" y="3383280"/>
            <a:ext cx="6949440" cy="548640"/>
          </a:xfrm>
          <a:prstGeom prst="rect">
            <a:avLst/>
          </a:prstGeom>
          <a:noFill/>
        </p:spPr>
        <p:txBody>
          <a:bodyPr wrap="square">
            <a:spAutoFit/>
          </a:bodyPr>
          <a:lstStyle/>
          <a:p>
            <a:pPr algn="l">
              <a:spcAft>
                <a:spcPts val="0"/>
              </a:spcAft>
            </a:pPr>
            <a:r>
              <a:rPr sz="1300" b="0">
                <a:solidFill>
                  <a:srgbClr val="5B6472"/>
                </a:solidFill>
                <a:latin typeface="Calibri"/>
              </a:rPr>
              <a:t>One database. Row-level security that we can connect to and prove.</a:t>
            </a:r>
          </a:p>
        </p:txBody>
      </p:sp>
      <p:sp>
        <p:nvSpPr>
          <p:cNvPr id="13" name="TextBox 12"/>
          <p:cNvSpPr txBox="1"/>
          <p:nvPr/>
        </p:nvSpPr>
        <p:spPr>
          <a:xfrm>
            <a:off x="10607040" y="3346704"/>
            <a:ext cx="1005840" cy="365760"/>
          </a:xfrm>
          <a:prstGeom prst="rect">
            <a:avLst/>
          </a:prstGeom>
          <a:noFill/>
        </p:spPr>
        <p:txBody>
          <a:bodyPr wrap="square">
            <a:spAutoFit/>
          </a:bodyPr>
          <a:lstStyle/>
          <a:p>
            <a:pPr algn="l">
              <a:spcAft>
                <a:spcPts val="0"/>
              </a:spcAft>
            </a:pPr>
            <a:r>
              <a:rPr sz="1100" b="1">
                <a:solidFill>
                  <a:srgbClr val="15803D"/>
                </a:solidFill>
                <a:latin typeface="Calibri"/>
              </a:rPr>
              <a:t>CHOSEN</a:t>
            </a:r>
          </a:p>
        </p:txBody>
      </p:sp>
      <p:sp>
        <p:nvSpPr>
          <p:cNvPr id="14" name="Rounded Rectangle 13"/>
          <p:cNvSpPr/>
          <p:nvPr/>
        </p:nvSpPr>
        <p:spPr>
          <a:xfrm>
            <a:off x="548640" y="4288536"/>
            <a:ext cx="6949440" cy="1371600"/>
          </a:xfrm>
          <a:prstGeom prst="roundRect">
            <a:avLst>
              <a:gd name="adj" fmla="val 4000"/>
            </a:avLst>
          </a:prstGeom>
          <a:solidFill>
            <a:srgbClr val="FFFFFF"/>
          </a:solidFill>
          <a:ln w="1778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398264"/>
            <a:ext cx="6492240" cy="320040"/>
          </a:xfrm>
          <a:prstGeom prst="rect">
            <a:avLst/>
          </a:prstGeom>
          <a:noFill/>
        </p:spPr>
        <p:txBody>
          <a:bodyPr wrap="square">
            <a:spAutoFit/>
          </a:bodyPr>
          <a:lstStyle/>
          <a:p>
            <a:pPr algn="l">
              <a:spcAft>
                <a:spcPts val="400"/>
              </a:spcAft>
            </a:pPr>
            <a:r>
              <a:rPr sz="1100" b="1">
                <a:solidFill>
                  <a:srgbClr val="1F3864"/>
                </a:solidFill>
                <a:latin typeface="Calibri"/>
              </a:rPr>
              <a:t>WHY</a:t>
            </a:r>
          </a:p>
        </p:txBody>
      </p:sp>
      <p:sp>
        <p:nvSpPr>
          <p:cNvPr id="16" name="TextBox 15"/>
          <p:cNvSpPr txBox="1"/>
          <p:nvPr/>
        </p:nvSpPr>
        <p:spPr>
          <a:xfrm>
            <a:off x="777240" y="4709160"/>
            <a:ext cx="6492240" cy="914400"/>
          </a:xfrm>
          <a:prstGeom prst="rect">
            <a:avLst/>
          </a:prstGeom>
          <a:noFill/>
        </p:spPr>
        <p:txBody>
          <a:bodyPr wrap="square">
            <a:spAutoFit/>
          </a:bodyPr>
          <a:lstStyle/>
          <a:p>
            <a:pPr algn="l">
              <a:spcAft>
                <a:spcPts val="0"/>
              </a:spcAft>
            </a:pPr>
            <a:r>
              <a:rPr sz="1350" b="0">
                <a:solidFill>
                  <a:srgbClr val="1F2A44"/>
                </a:solidFill>
                <a:latin typeface="Calibri"/>
              </a:rPr>
              <a:t>Task 3 is about enforcement, and the only honest way to show a query cannot bypass a filter is to put the filter in the engine and prove it by logging in as a restricted user and counting rows.</a:t>
            </a:r>
          </a:p>
        </p:txBody>
      </p:sp>
      <p:sp>
        <p:nvSpPr>
          <p:cNvPr id="17" name="Rounded Rectangle 16"/>
          <p:cNvSpPr/>
          <p:nvPr/>
        </p:nvSpPr>
        <p:spPr>
          <a:xfrm>
            <a:off x="7680960" y="4288536"/>
            <a:ext cx="4023360" cy="1371600"/>
          </a:xfrm>
          <a:prstGeom prst="roundRect">
            <a:avLst>
              <a:gd name="adj" fmla="val 4000"/>
            </a:avLst>
          </a:prstGeom>
          <a:solidFill>
            <a:srgbClr val="FFFFFF"/>
          </a:solidFill>
          <a:ln w="1778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4398264"/>
            <a:ext cx="3566160" cy="320040"/>
          </a:xfrm>
          <a:prstGeom prst="rect">
            <a:avLst/>
          </a:prstGeom>
          <a:noFill/>
        </p:spPr>
        <p:txBody>
          <a:bodyPr wrap="square">
            <a:spAutoFit/>
          </a:bodyPr>
          <a:lstStyle/>
          <a:p>
            <a:pPr algn="l">
              <a:spcAft>
                <a:spcPts val="400"/>
              </a:spcAft>
            </a:pPr>
            <a:r>
              <a:rPr sz="1100" b="1">
                <a:solidFill>
                  <a:srgbClr val="B45309"/>
                </a:solidFill>
                <a:latin typeface="Calibri"/>
              </a:rPr>
              <a:t>WHAT IT COSTS</a:t>
            </a:r>
          </a:p>
        </p:txBody>
      </p:sp>
      <p:sp>
        <p:nvSpPr>
          <p:cNvPr id="19" name="TextBox 18"/>
          <p:cNvSpPr txBox="1"/>
          <p:nvPr/>
        </p:nvSpPr>
        <p:spPr>
          <a:xfrm>
            <a:off x="7909560" y="4709160"/>
            <a:ext cx="3566160" cy="914400"/>
          </a:xfrm>
          <a:prstGeom prst="rect">
            <a:avLst/>
          </a:prstGeom>
          <a:noFill/>
        </p:spPr>
        <p:txBody>
          <a:bodyPr wrap="square">
            <a:spAutoFit/>
          </a:bodyPr>
          <a:lstStyle/>
          <a:p>
            <a:pPr algn="l">
              <a:spcAft>
                <a:spcPts val="0"/>
              </a:spcAft>
            </a:pPr>
            <a:r>
              <a:rPr sz="1350" b="0">
                <a:solidFill>
                  <a:srgbClr val="1F2A44"/>
                </a:solidFill>
                <a:latin typeface="Calibri"/>
              </a:rPr>
              <a:t>No built-in lineage or scheduling, and a single node. Neither is on the critical path of this brief, and both are named in the scaling section.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SCALING HONESTLY</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What breaks at 100,000 times the data</a:t>
            </a:r>
          </a:p>
        </p:txBody>
      </p:sp>
      <p:sp>
        <p:nvSpPr>
          <p:cNvPr id="4" name="TextBox 3"/>
          <p:cNvSpPr txBox="1"/>
          <p:nvPr/>
        </p:nvSpPr>
        <p:spPr>
          <a:xfrm>
            <a:off x="640080" y="1371600"/>
            <a:ext cx="10972800" cy="457200"/>
          </a:xfrm>
          <a:prstGeom prst="rect">
            <a:avLst/>
          </a:prstGeom>
          <a:noFill/>
        </p:spPr>
        <p:txBody>
          <a:bodyPr wrap="square">
            <a:spAutoFit/>
          </a:bodyPr>
          <a:lstStyle/>
          <a:p>
            <a:pPr algn="l">
              <a:spcAft>
                <a:spcPts val="1200"/>
              </a:spcAft>
            </a:pPr>
            <a:r>
              <a:rPr sz="1700" b="0">
                <a:solidFill>
                  <a:srgbClr val="5B6472"/>
                </a:solidFill>
                <a:latin typeface="Calibri"/>
              </a:rPr>
              <a:t>100 billion payments. 450 million accounts. Around 10 terabytes. Four things break, in this order.</a:t>
            </a:r>
          </a:p>
        </p:txBody>
      </p:sp>
      <p:sp>
        <p:nvSpPr>
          <p:cNvPr id="5" name="Rounded Rectangle 4"/>
          <p:cNvSpPr/>
          <p:nvPr/>
        </p:nvSpPr>
        <p:spPr>
          <a:xfrm>
            <a:off x="548640" y="2011680"/>
            <a:ext cx="502920" cy="82296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12848"/>
            <a:ext cx="502920" cy="457200"/>
          </a:xfrm>
          <a:prstGeom prst="rect">
            <a:avLst/>
          </a:prstGeom>
          <a:noFill/>
        </p:spPr>
        <p:txBody>
          <a:bodyPr wrap="square">
            <a:spAutoFit/>
          </a:bodyPr>
          <a:lstStyle/>
          <a:p>
            <a:pPr algn="ctr">
              <a:spcAft>
                <a:spcPts val="0"/>
              </a:spcAft>
            </a:pPr>
            <a:r>
              <a:rPr sz="2000" b="1">
                <a:solidFill>
                  <a:srgbClr val="FFFFFF"/>
                </a:solidFill>
                <a:latin typeface="Calibri"/>
              </a:rPr>
              <a:t>1</a:t>
            </a:r>
          </a:p>
        </p:txBody>
      </p:sp>
      <p:sp>
        <p:nvSpPr>
          <p:cNvPr id="7" name="Rounded Rectangle 6"/>
          <p:cNvSpPr/>
          <p:nvPr/>
        </p:nvSpPr>
        <p:spPr>
          <a:xfrm>
            <a:off x="1051560" y="2011680"/>
            <a:ext cx="10652760" cy="82296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103120"/>
            <a:ext cx="2743200" cy="365760"/>
          </a:xfrm>
          <a:prstGeom prst="rect">
            <a:avLst/>
          </a:prstGeom>
          <a:noFill/>
        </p:spPr>
        <p:txBody>
          <a:bodyPr wrap="square">
            <a:spAutoFit/>
          </a:bodyPr>
          <a:lstStyle/>
          <a:p>
            <a:pPr algn="l">
              <a:spcAft>
                <a:spcPts val="0"/>
              </a:spcAft>
            </a:pPr>
            <a:r>
              <a:rPr sz="1500" b="1">
                <a:solidFill>
                  <a:srgbClr val="1F2A44"/>
                </a:solidFill>
                <a:latin typeface="Calibri"/>
              </a:rPr>
              <a:t>The full rebuild</a:t>
            </a:r>
          </a:p>
        </p:txBody>
      </p:sp>
      <p:sp>
        <p:nvSpPr>
          <p:cNvPr id="9" name="TextBox 8"/>
          <p:cNvSpPr txBox="1"/>
          <p:nvPr/>
        </p:nvSpPr>
        <p:spPr>
          <a:xfrm>
            <a:off x="4114800" y="2121408"/>
            <a:ext cx="7406640" cy="640080"/>
          </a:xfrm>
          <a:prstGeom prst="rect">
            <a:avLst/>
          </a:prstGeom>
          <a:noFill/>
        </p:spPr>
        <p:txBody>
          <a:bodyPr wrap="square">
            <a:spAutoFit/>
          </a:bodyPr>
          <a:lstStyle/>
          <a:p>
            <a:pPr algn="l">
              <a:spcAft>
                <a:spcPts val="0"/>
              </a:spcAft>
            </a:pPr>
            <a:r>
              <a:rPr sz="1250" b="0">
                <a:solidFill>
                  <a:srgbClr val="5B6472"/>
                </a:solidFill>
                <a:latin typeface="Calibri"/>
              </a:rPr>
              <a:t>Everything is rebuilt from scratch each run. At 10 TB that is hours of rewriting data that did not change. It becomes an incremental load, month by month.</a:t>
            </a:r>
          </a:p>
        </p:txBody>
      </p:sp>
      <p:sp>
        <p:nvSpPr>
          <p:cNvPr id="10" name="Rounded Rectangle 9"/>
          <p:cNvSpPr/>
          <p:nvPr/>
        </p:nvSpPr>
        <p:spPr>
          <a:xfrm>
            <a:off x="548640" y="2944368"/>
            <a:ext cx="502920" cy="82296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145536"/>
            <a:ext cx="502920" cy="457200"/>
          </a:xfrm>
          <a:prstGeom prst="rect">
            <a:avLst/>
          </a:prstGeom>
          <a:noFill/>
        </p:spPr>
        <p:txBody>
          <a:bodyPr wrap="square">
            <a:spAutoFit/>
          </a:bodyPr>
          <a:lstStyle/>
          <a:p>
            <a:pPr algn="ctr">
              <a:spcAft>
                <a:spcPts val="0"/>
              </a:spcAft>
            </a:pPr>
            <a:r>
              <a:rPr sz="2000" b="1">
                <a:solidFill>
                  <a:srgbClr val="FFFFFF"/>
                </a:solidFill>
                <a:latin typeface="Calibri"/>
              </a:rPr>
              <a:t>2</a:t>
            </a:r>
          </a:p>
        </p:txBody>
      </p:sp>
      <p:sp>
        <p:nvSpPr>
          <p:cNvPr id="12" name="Rounded Rectangle 11"/>
          <p:cNvSpPr/>
          <p:nvPr/>
        </p:nvSpPr>
        <p:spPr>
          <a:xfrm>
            <a:off x="1051560" y="2944368"/>
            <a:ext cx="10652760" cy="82296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035808"/>
            <a:ext cx="2743200" cy="365760"/>
          </a:xfrm>
          <a:prstGeom prst="rect">
            <a:avLst/>
          </a:prstGeom>
          <a:noFill/>
        </p:spPr>
        <p:txBody>
          <a:bodyPr wrap="square">
            <a:spAutoFit/>
          </a:bodyPr>
          <a:lstStyle/>
          <a:p>
            <a:pPr algn="l">
              <a:spcAft>
                <a:spcPts val="0"/>
              </a:spcAft>
            </a:pPr>
            <a:r>
              <a:rPr sz="1500" b="1">
                <a:solidFill>
                  <a:srgbClr val="1F2A44"/>
                </a:solidFill>
                <a:latin typeface="Calibri"/>
              </a:rPr>
              <a:t>The quality checks</a:t>
            </a:r>
          </a:p>
        </p:txBody>
      </p:sp>
      <p:sp>
        <p:nvSpPr>
          <p:cNvPr id="14" name="TextBox 13"/>
          <p:cNvSpPr txBox="1"/>
          <p:nvPr/>
        </p:nvSpPr>
        <p:spPr>
          <a:xfrm>
            <a:off x="4114800" y="3054096"/>
            <a:ext cx="7406640" cy="640080"/>
          </a:xfrm>
          <a:prstGeom prst="rect">
            <a:avLst/>
          </a:prstGeom>
          <a:noFill/>
        </p:spPr>
        <p:txBody>
          <a:bodyPr wrap="square">
            <a:spAutoFit/>
          </a:bodyPr>
          <a:lstStyle/>
          <a:p>
            <a:pPr algn="l">
              <a:spcAft>
                <a:spcPts val="0"/>
              </a:spcAft>
            </a:pPr>
            <a:r>
              <a:rPr sz="1250" b="0">
                <a:solidFill>
                  <a:srgbClr val="5B6472"/>
                </a:solidFill>
                <a:latin typeface="Calibri"/>
              </a:rPr>
              <a:t>123 rules, each reading everything. They have to check only what arrived, and the running-balance check needs to remember where it got to.</a:t>
            </a:r>
          </a:p>
        </p:txBody>
      </p:sp>
      <p:sp>
        <p:nvSpPr>
          <p:cNvPr id="15" name="Rounded Rectangle 14"/>
          <p:cNvSpPr/>
          <p:nvPr/>
        </p:nvSpPr>
        <p:spPr>
          <a:xfrm>
            <a:off x="548640" y="3877056"/>
            <a:ext cx="502920" cy="82296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78224"/>
            <a:ext cx="502920" cy="457200"/>
          </a:xfrm>
          <a:prstGeom prst="rect">
            <a:avLst/>
          </a:prstGeom>
          <a:noFill/>
        </p:spPr>
        <p:txBody>
          <a:bodyPr wrap="square">
            <a:spAutoFit/>
          </a:bodyPr>
          <a:lstStyle/>
          <a:p>
            <a:pPr algn="ctr">
              <a:spcAft>
                <a:spcPts val="0"/>
              </a:spcAft>
            </a:pPr>
            <a:r>
              <a:rPr sz="2000" b="1">
                <a:solidFill>
                  <a:srgbClr val="FFFFFF"/>
                </a:solidFill>
                <a:latin typeface="Calibri"/>
              </a:rPr>
              <a:t>3</a:t>
            </a:r>
          </a:p>
        </p:txBody>
      </p:sp>
      <p:sp>
        <p:nvSpPr>
          <p:cNvPr id="17" name="Rounded Rectangle 16"/>
          <p:cNvSpPr/>
          <p:nvPr/>
        </p:nvSpPr>
        <p:spPr>
          <a:xfrm>
            <a:off x="1051560" y="3877056"/>
            <a:ext cx="10652760" cy="82296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3968496"/>
            <a:ext cx="2743200" cy="365760"/>
          </a:xfrm>
          <a:prstGeom prst="rect">
            <a:avLst/>
          </a:prstGeom>
          <a:noFill/>
        </p:spPr>
        <p:txBody>
          <a:bodyPr wrap="square">
            <a:spAutoFit/>
          </a:bodyPr>
          <a:lstStyle/>
          <a:p>
            <a:pPr algn="l">
              <a:spcAft>
                <a:spcPts val="0"/>
              </a:spcAft>
            </a:pPr>
            <a:r>
              <a:rPr sz="1500" b="1">
                <a:solidFill>
                  <a:srgbClr val="1F2A44"/>
                </a:solidFill>
                <a:latin typeface="Calibri"/>
              </a:rPr>
              <a:t>The month-end balance table</a:t>
            </a:r>
          </a:p>
        </p:txBody>
      </p:sp>
      <p:sp>
        <p:nvSpPr>
          <p:cNvPr id="19" name="TextBox 18"/>
          <p:cNvSpPr txBox="1"/>
          <p:nvPr/>
        </p:nvSpPr>
        <p:spPr>
          <a:xfrm>
            <a:off x="4114800" y="3986784"/>
            <a:ext cx="7406640" cy="640080"/>
          </a:xfrm>
          <a:prstGeom prst="rect">
            <a:avLst/>
          </a:prstGeom>
          <a:noFill/>
        </p:spPr>
        <p:txBody>
          <a:bodyPr wrap="square">
            <a:spAutoFit/>
          </a:bodyPr>
          <a:lstStyle/>
          <a:p>
            <a:pPr algn="l">
              <a:spcAft>
                <a:spcPts val="0"/>
              </a:spcAft>
            </a:pPr>
            <a:r>
              <a:rPr sz="1250" b="0">
                <a:solidFill>
                  <a:srgbClr val="5B6472"/>
                </a:solidFill>
                <a:latin typeface="Calibri"/>
              </a:rPr>
              <a:t>450 million accounts times 72 months is 32 billion pre-computed rows. It becomes one new slice per month instead of a rebuild.</a:t>
            </a:r>
          </a:p>
        </p:txBody>
      </p:sp>
      <p:sp>
        <p:nvSpPr>
          <p:cNvPr id="20" name="Rounded Rectangle 19"/>
          <p:cNvSpPr/>
          <p:nvPr/>
        </p:nvSpPr>
        <p:spPr>
          <a:xfrm>
            <a:off x="548640" y="4809744"/>
            <a:ext cx="502920" cy="82296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010912"/>
            <a:ext cx="502920" cy="457200"/>
          </a:xfrm>
          <a:prstGeom prst="rect">
            <a:avLst/>
          </a:prstGeom>
          <a:noFill/>
        </p:spPr>
        <p:txBody>
          <a:bodyPr wrap="square">
            <a:spAutoFit/>
          </a:bodyPr>
          <a:lstStyle/>
          <a:p>
            <a:pPr algn="ctr">
              <a:spcAft>
                <a:spcPts val="0"/>
              </a:spcAft>
            </a:pPr>
            <a:r>
              <a:rPr sz="2000" b="1">
                <a:solidFill>
                  <a:srgbClr val="FFFFFF"/>
                </a:solidFill>
                <a:latin typeface="Calibri"/>
              </a:rPr>
              <a:t>4</a:t>
            </a:r>
          </a:p>
        </p:txBody>
      </p:sp>
      <p:sp>
        <p:nvSpPr>
          <p:cNvPr id="22" name="Rounded Rectangle 21"/>
          <p:cNvSpPr/>
          <p:nvPr/>
        </p:nvSpPr>
        <p:spPr>
          <a:xfrm>
            <a:off x="1051560" y="4809744"/>
            <a:ext cx="10652760" cy="82296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4901184"/>
            <a:ext cx="2743200" cy="365760"/>
          </a:xfrm>
          <a:prstGeom prst="rect">
            <a:avLst/>
          </a:prstGeom>
          <a:noFill/>
        </p:spPr>
        <p:txBody>
          <a:bodyPr wrap="square">
            <a:spAutoFit/>
          </a:bodyPr>
          <a:lstStyle/>
          <a:p>
            <a:pPr algn="l">
              <a:spcAft>
                <a:spcPts val="0"/>
              </a:spcAft>
            </a:pPr>
            <a:r>
              <a:rPr sz="1500" b="1">
                <a:solidFill>
                  <a:srgbClr val="1F2A44"/>
                </a:solidFill>
                <a:latin typeface="Calibri"/>
              </a:rPr>
              <a:t>The entitlement lookup</a:t>
            </a:r>
          </a:p>
        </p:txBody>
      </p:sp>
      <p:sp>
        <p:nvSpPr>
          <p:cNvPr id="24" name="TextBox 23"/>
          <p:cNvSpPr txBox="1"/>
          <p:nvPr/>
        </p:nvSpPr>
        <p:spPr>
          <a:xfrm>
            <a:off x="4114800" y="4919472"/>
            <a:ext cx="7406640" cy="640080"/>
          </a:xfrm>
          <a:prstGeom prst="rect">
            <a:avLst/>
          </a:prstGeom>
          <a:noFill/>
        </p:spPr>
        <p:txBody>
          <a:bodyPr wrap="square">
            <a:spAutoFit/>
          </a:bodyPr>
          <a:lstStyle/>
          <a:p>
            <a:pPr algn="l">
              <a:spcAft>
                <a:spcPts val="0"/>
              </a:spcAft>
            </a:pPr>
            <a:r>
              <a:rPr sz="1250" b="0">
                <a:solidFill>
                  <a:srgbClr val="5B6472"/>
                </a:solidFill>
                <a:latin typeface="Calibri"/>
              </a:rPr>
              <a:t>Cheap over 4,500 accounts, expensive when one portfolio holds millions. It becomes a stored, indexed list sitting next to the data.</a:t>
            </a:r>
          </a:p>
        </p:txBody>
      </p:sp>
      <p:sp>
        <p:nvSpPr>
          <p:cNvPr id="25" name="TextBox 24"/>
          <p:cNvSpPr txBox="1"/>
          <p:nvPr/>
        </p:nvSpPr>
        <p:spPr>
          <a:xfrm>
            <a:off x="548640" y="5943600"/>
            <a:ext cx="11155680" cy="640080"/>
          </a:xfrm>
          <a:prstGeom prst="rect">
            <a:avLst/>
          </a:prstGeom>
          <a:noFill/>
        </p:spPr>
        <p:txBody>
          <a:bodyPr wrap="square">
            <a:spAutoFit/>
          </a:bodyPr>
          <a:lstStyle/>
          <a:p>
            <a:pPr algn="l">
              <a:spcAft>
                <a:spcPts val="0"/>
              </a:spcAft>
            </a:pPr>
            <a:r>
              <a:rPr sz="1500" b="1">
                <a:solidFill>
                  <a:srgbClr val="15803D"/>
                </a:solidFill>
                <a:latin typeface="Calibri"/>
              </a:rPr>
              <a:t>Two things do not break, and they are the parts worth keeping: the dictionary (a few thousand words, whatever the volume) and where the lock sits.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058400" cy="457200"/>
          </a:xfrm>
          <a:prstGeom prst="rect">
            <a:avLst/>
          </a:prstGeom>
          <a:noFill/>
        </p:spPr>
        <p:txBody>
          <a:bodyPr wrap="square">
            <a:spAutoFit/>
          </a:bodyPr>
          <a:lstStyle/>
          <a:p>
            <a:pPr algn="l">
              <a:spcAft>
                <a:spcPts val="600"/>
              </a:spcAft>
            </a:pPr>
            <a:r>
              <a:rPr sz="1400" b="1">
                <a:solidFill>
                  <a:srgbClr val="9AB2D8"/>
                </a:solidFill>
                <a:latin typeface="Calibri"/>
              </a:rPr>
              <a:t>PART 4</a:t>
            </a:r>
          </a:p>
        </p:txBody>
      </p:sp>
      <p:sp>
        <p:nvSpPr>
          <p:cNvPr id="4" name="TextBox 3"/>
          <p:cNvSpPr txBox="1"/>
          <p:nvPr/>
        </p:nvSpPr>
        <p:spPr>
          <a:xfrm>
            <a:off x="1005840" y="2743200"/>
            <a:ext cx="10058400" cy="1097280"/>
          </a:xfrm>
          <a:prstGeom prst="rect">
            <a:avLst/>
          </a:prstGeom>
          <a:noFill/>
        </p:spPr>
        <p:txBody>
          <a:bodyPr wrap="square">
            <a:spAutoFit/>
          </a:bodyPr>
          <a:lstStyle/>
          <a:p>
            <a:pPr algn="l">
              <a:spcAft>
                <a:spcPts val="800"/>
              </a:spcAft>
            </a:pPr>
            <a:r>
              <a:rPr sz="4000" b="1">
                <a:solidFill>
                  <a:srgbClr val="FFFFFF"/>
                </a:solidFill>
                <a:latin typeface="Calibri"/>
              </a:rPr>
              <a:t>Is it ready?</a:t>
            </a:r>
          </a:p>
        </p:txBody>
      </p:sp>
      <p:sp>
        <p:nvSpPr>
          <p:cNvPr id="5" name="TextBox 4"/>
          <p:cNvSpPr txBox="1"/>
          <p:nvPr/>
        </p:nvSpPr>
        <p:spPr>
          <a:xfrm>
            <a:off x="1005840" y="3931920"/>
            <a:ext cx="9144000" cy="731520"/>
          </a:xfrm>
          <a:prstGeom prst="rect">
            <a:avLst/>
          </a:prstGeom>
          <a:noFill/>
        </p:spPr>
        <p:txBody>
          <a:bodyPr wrap="square">
            <a:spAutoFit/>
          </a:bodyPr>
          <a:lstStyle/>
          <a:p>
            <a:pPr algn="l">
              <a:spcAft>
                <a:spcPts val="0"/>
              </a:spcAft>
            </a:pPr>
            <a:r>
              <a:rPr sz="1700" b="0">
                <a:solidFill>
                  <a:srgbClr val="C9D6EA"/>
                </a:solidFill>
                <a:latin typeface="Calibri"/>
              </a:rPr>
              <a:t>What was built, what it is worth, and what is still thin - said out loud rather than left for a reviewer to find.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WHOLE BUILD, IN ONE PICTURE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What exists</a:t>
            </a:r>
          </a:p>
        </p:txBody>
      </p:sp>
      <p:sp>
        <p:nvSpPr>
          <p:cNvPr id="4" name="TextBox 3"/>
          <p:cNvSpPr txBox="1"/>
          <p:nvPr/>
        </p:nvSpPr>
        <p:spPr>
          <a:xfrm>
            <a:off x="640080" y="1280160"/>
            <a:ext cx="10972800" cy="457200"/>
          </a:xfrm>
          <a:prstGeom prst="rect">
            <a:avLst/>
          </a:prstGeom>
          <a:noFill/>
        </p:spPr>
        <p:txBody>
          <a:bodyPr wrap="square">
            <a:spAutoFit/>
          </a:bodyPr>
          <a:lstStyle/>
          <a:p>
            <a:pPr algn="l">
              <a:spcAft>
                <a:spcPts val="1000"/>
              </a:spcAft>
            </a:pPr>
            <a:r>
              <a:rPr sz="1600" b="0">
                <a:solidFill>
                  <a:srgbClr val="5B6472"/>
                </a:solidFill>
                <a:latin typeface="Calibri"/>
              </a:rPr>
              <a:t>One command - make clean all - builds every number in every deliverable from the four source files. It takes four and a half minutes.</a:t>
            </a:r>
          </a:p>
        </p:txBody>
      </p:sp>
      <p:sp>
        <p:nvSpPr>
          <p:cNvPr id="5" name="Rounded Rectangle 4"/>
          <p:cNvSpPr/>
          <p:nvPr/>
        </p:nvSpPr>
        <p:spPr>
          <a:xfrm>
            <a:off x="548640" y="192024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48256"/>
            <a:ext cx="2036003" cy="548640"/>
          </a:xfrm>
          <a:prstGeom prst="rect">
            <a:avLst/>
          </a:prstGeom>
          <a:noFill/>
        </p:spPr>
        <p:txBody>
          <a:bodyPr wrap="square">
            <a:spAutoFit/>
          </a:bodyPr>
          <a:lstStyle/>
          <a:p>
            <a:pPr algn="ctr">
              <a:spcAft>
                <a:spcPts val="0"/>
              </a:spcAft>
            </a:pPr>
            <a:r>
              <a:rPr sz="2600" b="1">
                <a:solidFill>
                  <a:srgbClr val="1F3864"/>
                </a:solidFill>
                <a:latin typeface="Calibri"/>
              </a:rPr>
              <a:t>12 of 12</a:t>
            </a:r>
          </a:p>
        </p:txBody>
      </p:sp>
      <p:sp>
        <p:nvSpPr>
          <p:cNvPr id="7" name="TextBox 6"/>
          <p:cNvSpPr txBox="1"/>
          <p:nvPr/>
        </p:nvSpPr>
        <p:spPr>
          <a:xfrm>
            <a:off x="640080" y="2578608"/>
            <a:ext cx="1853123" cy="457200"/>
          </a:xfrm>
          <a:prstGeom prst="rect">
            <a:avLst/>
          </a:prstGeom>
          <a:noFill/>
        </p:spPr>
        <p:txBody>
          <a:bodyPr wrap="square">
            <a:spAutoFit/>
          </a:bodyPr>
          <a:lstStyle/>
          <a:p>
            <a:pPr algn="ctr">
              <a:spcAft>
                <a:spcPts val="0"/>
              </a:spcAft>
            </a:pPr>
            <a:r>
              <a:rPr sz="1100" b="0">
                <a:solidFill>
                  <a:srgbClr val="5B6472"/>
                </a:solidFill>
                <a:latin typeface="Calibri"/>
              </a:rPr>
              <a:t>pipeline steps green</a:t>
            </a:r>
          </a:p>
        </p:txBody>
      </p:sp>
      <p:sp>
        <p:nvSpPr>
          <p:cNvPr id="8" name="Rounded Rectangle 7"/>
          <p:cNvSpPr/>
          <p:nvPr/>
        </p:nvSpPr>
        <p:spPr>
          <a:xfrm>
            <a:off x="2813243" y="192024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13243" y="2048256"/>
            <a:ext cx="2036003" cy="548640"/>
          </a:xfrm>
          <a:prstGeom prst="rect">
            <a:avLst/>
          </a:prstGeom>
          <a:noFill/>
        </p:spPr>
        <p:txBody>
          <a:bodyPr wrap="square">
            <a:spAutoFit/>
          </a:bodyPr>
          <a:lstStyle/>
          <a:p>
            <a:pPr algn="ctr">
              <a:spcAft>
                <a:spcPts val="0"/>
              </a:spcAft>
            </a:pPr>
            <a:r>
              <a:rPr sz="2600" b="1">
                <a:solidFill>
                  <a:srgbClr val="1F3864"/>
                </a:solidFill>
                <a:latin typeface="Calibri"/>
              </a:rPr>
              <a:t>4m 28s</a:t>
            </a:r>
          </a:p>
        </p:txBody>
      </p:sp>
      <p:sp>
        <p:nvSpPr>
          <p:cNvPr id="10" name="TextBox 9"/>
          <p:cNvSpPr txBox="1"/>
          <p:nvPr/>
        </p:nvSpPr>
        <p:spPr>
          <a:xfrm>
            <a:off x="2904683" y="2578608"/>
            <a:ext cx="1853123" cy="457200"/>
          </a:xfrm>
          <a:prstGeom prst="rect">
            <a:avLst/>
          </a:prstGeom>
          <a:noFill/>
        </p:spPr>
        <p:txBody>
          <a:bodyPr wrap="square">
            <a:spAutoFit/>
          </a:bodyPr>
          <a:lstStyle/>
          <a:p>
            <a:pPr algn="ctr">
              <a:spcAft>
                <a:spcPts val="0"/>
              </a:spcAft>
            </a:pPr>
            <a:r>
              <a:rPr sz="1100" b="0">
                <a:solidFill>
                  <a:srgbClr val="5B6472"/>
                </a:solidFill>
                <a:latin typeface="Calibri"/>
              </a:rPr>
              <a:t>empty database to deliverables</a:t>
            </a:r>
          </a:p>
        </p:txBody>
      </p:sp>
      <p:sp>
        <p:nvSpPr>
          <p:cNvPr id="11" name="Rounded Rectangle 10"/>
          <p:cNvSpPr/>
          <p:nvPr/>
        </p:nvSpPr>
        <p:spPr>
          <a:xfrm>
            <a:off x="5077846" y="192024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7846" y="2048256"/>
            <a:ext cx="2036003" cy="548640"/>
          </a:xfrm>
          <a:prstGeom prst="rect">
            <a:avLst/>
          </a:prstGeom>
          <a:noFill/>
        </p:spPr>
        <p:txBody>
          <a:bodyPr wrap="square">
            <a:spAutoFit/>
          </a:bodyPr>
          <a:lstStyle/>
          <a:p>
            <a:pPr algn="ctr">
              <a:spcAft>
                <a:spcPts val="0"/>
              </a:spcAft>
            </a:pPr>
            <a:r>
              <a:rPr sz="2600" b="1">
                <a:solidFill>
                  <a:srgbClr val="1F3864"/>
                </a:solidFill>
                <a:latin typeface="Calibri"/>
              </a:rPr>
              <a:t>137</a:t>
            </a:r>
          </a:p>
        </p:txBody>
      </p:sp>
      <p:sp>
        <p:nvSpPr>
          <p:cNvPr id="13" name="TextBox 12"/>
          <p:cNvSpPr txBox="1"/>
          <p:nvPr/>
        </p:nvSpPr>
        <p:spPr>
          <a:xfrm>
            <a:off x="5169286" y="2578608"/>
            <a:ext cx="1853123" cy="457200"/>
          </a:xfrm>
          <a:prstGeom prst="rect">
            <a:avLst/>
          </a:prstGeom>
          <a:noFill/>
        </p:spPr>
        <p:txBody>
          <a:bodyPr wrap="square">
            <a:spAutoFit/>
          </a:bodyPr>
          <a:lstStyle/>
          <a:p>
            <a:pPr algn="ctr">
              <a:spcAft>
                <a:spcPts val="0"/>
              </a:spcAft>
            </a:pPr>
            <a:r>
              <a:rPr sz="1100" b="0">
                <a:solidFill>
                  <a:srgbClr val="5B6472"/>
                </a:solidFill>
                <a:latin typeface="Calibri"/>
              </a:rPr>
              <a:t>tests passing</a:t>
            </a:r>
          </a:p>
        </p:txBody>
      </p:sp>
      <p:sp>
        <p:nvSpPr>
          <p:cNvPr id="14" name="Rounded Rectangle 13"/>
          <p:cNvSpPr/>
          <p:nvPr/>
        </p:nvSpPr>
        <p:spPr>
          <a:xfrm>
            <a:off x="7342449" y="192024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42449" y="2048256"/>
            <a:ext cx="2036003" cy="548640"/>
          </a:xfrm>
          <a:prstGeom prst="rect">
            <a:avLst/>
          </a:prstGeom>
          <a:noFill/>
        </p:spPr>
        <p:txBody>
          <a:bodyPr wrap="square">
            <a:spAutoFit/>
          </a:bodyPr>
          <a:lstStyle/>
          <a:p>
            <a:pPr algn="ctr">
              <a:spcAft>
                <a:spcPts val="0"/>
              </a:spcAft>
            </a:pPr>
            <a:r>
              <a:rPr sz="2600" b="1">
                <a:solidFill>
                  <a:srgbClr val="1F3864"/>
                </a:solidFill>
                <a:latin typeface="Calibri"/>
              </a:rPr>
              <a:t>123</a:t>
            </a:r>
          </a:p>
        </p:txBody>
      </p:sp>
      <p:sp>
        <p:nvSpPr>
          <p:cNvPr id="16" name="TextBox 15"/>
          <p:cNvSpPr txBox="1"/>
          <p:nvPr/>
        </p:nvSpPr>
        <p:spPr>
          <a:xfrm>
            <a:off x="7433889" y="2578608"/>
            <a:ext cx="1853123" cy="457200"/>
          </a:xfrm>
          <a:prstGeom prst="rect">
            <a:avLst/>
          </a:prstGeom>
          <a:noFill/>
        </p:spPr>
        <p:txBody>
          <a:bodyPr wrap="square">
            <a:spAutoFit/>
          </a:bodyPr>
          <a:lstStyle/>
          <a:p>
            <a:pPr algn="ctr">
              <a:spcAft>
                <a:spcPts val="0"/>
              </a:spcAft>
            </a:pPr>
            <a:r>
              <a:rPr sz="1100" b="0">
                <a:solidFill>
                  <a:srgbClr val="5B6472"/>
                </a:solidFill>
                <a:latin typeface="Calibri"/>
              </a:rPr>
              <a:t>quality rules executed</a:t>
            </a:r>
          </a:p>
        </p:txBody>
      </p:sp>
      <p:sp>
        <p:nvSpPr>
          <p:cNvPr id="17" name="Rounded Rectangle 16"/>
          <p:cNvSpPr/>
          <p:nvPr/>
        </p:nvSpPr>
        <p:spPr>
          <a:xfrm>
            <a:off x="9607052" y="192024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7052" y="2048256"/>
            <a:ext cx="2036003" cy="548640"/>
          </a:xfrm>
          <a:prstGeom prst="rect">
            <a:avLst/>
          </a:prstGeom>
          <a:noFill/>
        </p:spPr>
        <p:txBody>
          <a:bodyPr wrap="square">
            <a:spAutoFit/>
          </a:bodyPr>
          <a:lstStyle/>
          <a:p>
            <a:pPr algn="ctr">
              <a:spcAft>
                <a:spcPts val="0"/>
              </a:spcAft>
            </a:pPr>
            <a:r>
              <a:rPr sz="2600" b="1">
                <a:solidFill>
                  <a:srgbClr val="1F3864"/>
                </a:solidFill>
                <a:latin typeface="Calibri"/>
              </a:rPr>
              <a:t>1.06 m</a:t>
            </a:r>
          </a:p>
        </p:txBody>
      </p:sp>
      <p:sp>
        <p:nvSpPr>
          <p:cNvPr id="19" name="TextBox 18"/>
          <p:cNvSpPr txBox="1"/>
          <p:nvPr/>
        </p:nvSpPr>
        <p:spPr>
          <a:xfrm>
            <a:off x="9698492" y="2578608"/>
            <a:ext cx="1853123" cy="457200"/>
          </a:xfrm>
          <a:prstGeom prst="rect">
            <a:avLst/>
          </a:prstGeom>
          <a:noFill/>
        </p:spPr>
        <p:txBody>
          <a:bodyPr wrap="square">
            <a:spAutoFit/>
          </a:bodyPr>
          <a:lstStyle/>
          <a:p>
            <a:pPr algn="ctr">
              <a:spcAft>
                <a:spcPts val="0"/>
              </a:spcAft>
            </a:pPr>
            <a:r>
              <a:rPr sz="1100" b="0">
                <a:solidFill>
                  <a:srgbClr val="5B6472"/>
                </a:solidFill>
                <a:latin typeface="Calibri"/>
              </a:rPr>
              <a:t>rows checked</a:t>
            </a:r>
          </a:p>
        </p:txBody>
      </p:sp>
      <p:sp>
        <p:nvSpPr>
          <p:cNvPr id="20" name="Rounded Rectangle 19"/>
          <p:cNvSpPr/>
          <p:nvPr/>
        </p:nvSpPr>
        <p:spPr>
          <a:xfrm>
            <a:off x="548640" y="338328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511296"/>
            <a:ext cx="2036003" cy="548640"/>
          </a:xfrm>
          <a:prstGeom prst="rect">
            <a:avLst/>
          </a:prstGeom>
          <a:noFill/>
        </p:spPr>
        <p:txBody>
          <a:bodyPr wrap="square">
            <a:spAutoFit/>
          </a:bodyPr>
          <a:lstStyle/>
          <a:p>
            <a:pPr algn="ctr">
              <a:spcAft>
                <a:spcPts val="0"/>
              </a:spcAft>
            </a:pPr>
            <a:r>
              <a:rPr sz="2600" b="1">
                <a:solidFill>
                  <a:srgbClr val="1F3864"/>
                </a:solidFill>
                <a:latin typeface="Calibri"/>
              </a:rPr>
              <a:t>10 of 10</a:t>
            </a:r>
          </a:p>
        </p:txBody>
      </p:sp>
      <p:sp>
        <p:nvSpPr>
          <p:cNvPr id="22" name="TextBox 21"/>
          <p:cNvSpPr txBox="1"/>
          <p:nvPr/>
        </p:nvSpPr>
        <p:spPr>
          <a:xfrm>
            <a:off x="640080" y="4041648"/>
            <a:ext cx="1853123" cy="457200"/>
          </a:xfrm>
          <a:prstGeom prst="rect">
            <a:avLst/>
          </a:prstGeom>
          <a:noFill/>
        </p:spPr>
        <p:txBody>
          <a:bodyPr wrap="square">
            <a:spAutoFit/>
          </a:bodyPr>
          <a:lstStyle/>
          <a:p>
            <a:pPr algn="ctr">
              <a:spcAft>
                <a:spcPts val="0"/>
              </a:spcAft>
            </a:pPr>
            <a:r>
              <a:rPr sz="1100" b="0">
                <a:solidFill>
                  <a:srgbClr val="5B6472"/>
                </a:solidFill>
                <a:latin typeface="Calibri"/>
              </a:rPr>
              <a:t>LLM answers correct</a:t>
            </a:r>
          </a:p>
        </p:txBody>
      </p:sp>
      <p:sp>
        <p:nvSpPr>
          <p:cNvPr id="23" name="Rounded Rectangle 22"/>
          <p:cNvSpPr/>
          <p:nvPr/>
        </p:nvSpPr>
        <p:spPr>
          <a:xfrm>
            <a:off x="2813243" y="338328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13243" y="3511296"/>
            <a:ext cx="2036003" cy="548640"/>
          </a:xfrm>
          <a:prstGeom prst="rect">
            <a:avLst/>
          </a:prstGeom>
          <a:noFill/>
        </p:spPr>
        <p:txBody>
          <a:bodyPr wrap="square">
            <a:spAutoFit/>
          </a:bodyPr>
          <a:lstStyle/>
          <a:p>
            <a:pPr algn="ctr">
              <a:spcAft>
                <a:spcPts val="0"/>
              </a:spcAft>
            </a:pPr>
            <a:r>
              <a:rPr sz="2600" b="1">
                <a:solidFill>
                  <a:srgbClr val="1F3864"/>
                </a:solidFill>
                <a:latin typeface="Calibri"/>
              </a:rPr>
              <a:t>9 of 9</a:t>
            </a:r>
          </a:p>
        </p:txBody>
      </p:sp>
      <p:sp>
        <p:nvSpPr>
          <p:cNvPr id="25" name="TextBox 24"/>
          <p:cNvSpPr txBox="1"/>
          <p:nvPr/>
        </p:nvSpPr>
        <p:spPr>
          <a:xfrm>
            <a:off x="2904683" y="4041648"/>
            <a:ext cx="1853123" cy="457200"/>
          </a:xfrm>
          <a:prstGeom prst="rect">
            <a:avLst/>
          </a:prstGeom>
          <a:noFill/>
        </p:spPr>
        <p:txBody>
          <a:bodyPr wrap="square">
            <a:spAutoFit/>
          </a:bodyPr>
          <a:lstStyle/>
          <a:p>
            <a:pPr algn="ctr">
              <a:spcAft>
                <a:spcPts val="0"/>
              </a:spcAft>
            </a:pPr>
            <a:r>
              <a:rPr sz="1100" b="0">
                <a:solidFill>
                  <a:srgbClr val="5B6472"/>
                </a:solidFill>
                <a:latin typeface="Calibri"/>
              </a:rPr>
              <a:t>bypass attempts refused</a:t>
            </a:r>
          </a:p>
        </p:txBody>
      </p:sp>
      <p:sp>
        <p:nvSpPr>
          <p:cNvPr id="26" name="Rounded Rectangle 25"/>
          <p:cNvSpPr/>
          <p:nvPr/>
        </p:nvSpPr>
        <p:spPr>
          <a:xfrm>
            <a:off x="5077846" y="338328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7846" y="3511296"/>
            <a:ext cx="2036003" cy="548640"/>
          </a:xfrm>
          <a:prstGeom prst="rect">
            <a:avLst/>
          </a:prstGeom>
          <a:noFill/>
        </p:spPr>
        <p:txBody>
          <a:bodyPr wrap="square">
            <a:spAutoFit/>
          </a:bodyPr>
          <a:lstStyle/>
          <a:p>
            <a:pPr algn="ctr">
              <a:spcAft>
                <a:spcPts val="0"/>
              </a:spcAft>
            </a:pPr>
            <a:r>
              <a:rPr sz="2600" b="1">
                <a:solidFill>
                  <a:srgbClr val="1F3864"/>
                </a:solidFill>
                <a:latin typeface="Calibri"/>
              </a:rPr>
              <a:t>20 of 20</a:t>
            </a:r>
          </a:p>
        </p:txBody>
      </p:sp>
      <p:sp>
        <p:nvSpPr>
          <p:cNvPr id="28" name="TextBox 27"/>
          <p:cNvSpPr txBox="1"/>
          <p:nvPr/>
        </p:nvSpPr>
        <p:spPr>
          <a:xfrm>
            <a:off x="5169286" y="4041648"/>
            <a:ext cx="1853123" cy="457200"/>
          </a:xfrm>
          <a:prstGeom prst="rect">
            <a:avLst/>
          </a:prstGeom>
          <a:noFill/>
        </p:spPr>
        <p:txBody>
          <a:bodyPr wrap="square">
            <a:spAutoFit/>
          </a:bodyPr>
          <a:lstStyle/>
          <a:p>
            <a:pPr algn="ctr">
              <a:spcAft>
                <a:spcPts val="0"/>
              </a:spcAft>
            </a:pPr>
            <a:r>
              <a:rPr sz="1100" b="0">
                <a:solidFill>
                  <a:srgbClr val="5B6472"/>
                </a:solidFill>
                <a:latin typeface="Calibri"/>
              </a:rPr>
              <a:t>seeded defects caught</a:t>
            </a:r>
          </a:p>
        </p:txBody>
      </p:sp>
      <p:sp>
        <p:nvSpPr>
          <p:cNvPr id="29" name="Rounded Rectangle 28"/>
          <p:cNvSpPr/>
          <p:nvPr/>
        </p:nvSpPr>
        <p:spPr>
          <a:xfrm>
            <a:off x="7342449" y="338328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42449" y="3511296"/>
            <a:ext cx="2036003" cy="548640"/>
          </a:xfrm>
          <a:prstGeom prst="rect">
            <a:avLst/>
          </a:prstGeom>
          <a:noFill/>
        </p:spPr>
        <p:txBody>
          <a:bodyPr wrap="square">
            <a:spAutoFit/>
          </a:bodyPr>
          <a:lstStyle/>
          <a:p>
            <a:pPr algn="ctr">
              <a:spcAft>
                <a:spcPts val="0"/>
              </a:spcAft>
            </a:pPr>
            <a:r>
              <a:rPr sz="2600" b="1">
                <a:solidFill>
                  <a:srgbClr val="1F3864"/>
                </a:solidFill>
                <a:latin typeface="Calibri"/>
              </a:rPr>
              <a:t>135</a:t>
            </a:r>
          </a:p>
        </p:txBody>
      </p:sp>
      <p:sp>
        <p:nvSpPr>
          <p:cNvPr id="31" name="TextBox 30"/>
          <p:cNvSpPr txBox="1"/>
          <p:nvPr/>
        </p:nvSpPr>
        <p:spPr>
          <a:xfrm>
            <a:off x="7433889" y="4041648"/>
            <a:ext cx="1853123" cy="457200"/>
          </a:xfrm>
          <a:prstGeom prst="rect">
            <a:avLst/>
          </a:prstGeom>
          <a:noFill/>
        </p:spPr>
        <p:txBody>
          <a:bodyPr wrap="square">
            <a:spAutoFit/>
          </a:bodyPr>
          <a:lstStyle/>
          <a:p>
            <a:pPr algn="ctr">
              <a:spcAft>
                <a:spcPts val="0"/>
              </a:spcAft>
            </a:pPr>
            <a:r>
              <a:rPr sz="1100" b="0">
                <a:solidFill>
                  <a:srgbClr val="5B6472"/>
                </a:solidFill>
                <a:latin typeface="Calibri"/>
              </a:rPr>
              <a:t>files in the submitted ZIP</a:t>
            </a:r>
          </a:p>
        </p:txBody>
      </p:sp>
      <p:sp>
        <p:nvSpPr>
          <p:cNvPr id="32" name="Rounded Rectangle 31"/>
          <p:cNvSpPr/>
          <p:nvPr/>
        </p:nvSpPr>
        <p:spPr>
          <a:xfrm>
            <a:off x="9607052" y="3383280"/>
            <a:ext cx="2036003" cy="1234440"/>
          </a:xfrm>
          <a:prstGeom prst="roundRect">
            <a:avLst>
              <a:gd name="adj" fmla="val 4000"/>
            </a:avLst>
          </a:prstGeom>
          <a:solidFill>
            <a:srgbClr val="F7F9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7052" y="3511296"/>
            <a:ext cx="2036003" cy="548640"/>
          </a:xfrm>
          <a:prstGeom prst="rect">
            <a:avLst/>
          </a:prstGeom>
          <a:noFill/>
        </p:spPr>
        <p:txBody>
          <a:bodyPr wrap="square">
            <a:spAutoFit/>
          </a:bodyPr>
          <a:lstStyle/>
          <a:p>
            <a:pPr algn="ctr">
              <a:spcAft>
                <a:spcPts val="0"/>
              </a:spcAft>
            </a:pPr>
            <a:r>
              <a:rPr sz="2600" b="1">
                <a:solidFill>
                  <a:srgbClr val="1F3864"/>
                </a:solidFill>
                <a:latin typeface="Calibri"/>
              </a:rPr>
              <a:t>0</a:t>
            </a:r>
          </a:p>
        </p:txBody>
      </p:sp>
      <p:sp>
        <p:nvSpPr>
          <p:cNvPr id="34" name="TextBox 33"/>
          <p:cNvSpPr txBox="1"/>
          <p:nvPr/>
        </p:nvSpPr>
        <p:spPr>
          <a:xfrm>
            <a:off x="9698492" y="4041648"/>
            <a:ext cx="1853123" cy="457200"/>
          </a:xfrm>
          <a:prstGeom prst="rect">
            <a:avLst/>
          </a:prstGeom>
          <a:noFill/>
        </p:spPr>
        <p:txBody>
          <a:bodyPr wrap="square">
            <a:spAutoFit/>
          </a:bodyPr>
          <a:lstStyle/>
          <a:p>
            <a:pPr algn="ctr">
              <a:spcAft>
                <a:spcPts val="0"/>
              </a:spcAft>
            </a:pPr>
            <a:r>
              <a:rPr sz="1100" b="0">
                <a:solidFill>
                  <a:srgbClr val="5B6472"/>
                </a:solidFill>
                <a:latin typeface="Calibri"/>
              </a:rPr>
              <a:t>numbers typed by hand</a:t>
            </a:r>
          </a:p>
        </p:txBody>
      </p:sp>
      <p:sp>
        <p:nvSpPr>
          <p:cNvPr id="35" name="TextBox 34"/>
          <p:cNvSpPr txBox="1"/>
          <p:nvPr/>
        </p:nvSpPr>
        <p:spPr>
          <a:xfrm>
            <a:off x="548640" y="5029200"/>
            <a:ext cx="11155680" cy="1188720"/>
          </a:xfrm>
          <a:prstGeom prst="rect">
            <a:avLst/>
          </a:prstGeom>
          <a:noFill/>
        </p:spPr>
        <p:txBody>
          <a:bodyPr wrap="square">
            <a:spAutoFit/>
          </a:bodyPr>
          <a:lstStyle/>
          <a:p>
            <a:pPr algn="l">
              <a:spcAft>
                <a:spcPts val="0"/>
              </a:spcAft>
            </a:pPr>
            <a:r>
              <a:rPr sz="1500" b="0">
                <a:solidFill>
                  <a:srgbClr val="1F2A44"/>
                </a:solidFill>
                <a:latin typeface="Calibri"/>
              </a:rPr>
              <a:t>Why the last one matters most: a deck or a spreadsheet goes stale the moment a number changes. Every figure on these slides is read out of the database or the run log by a script. If the pipeline changes, the deck is wrong until it is re-run - and re-running it is one command.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ONE MAP OF THE WHOLE THING</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Everything that was set up</a:t>
            </a:r>
          </a:p>
        </p:txBody>
      </p:sp>
      <p:pic>
        <p:nvPicPr>
          <p:cNvPr id="4" name="Picture 3" descr="09_system_map.png"/>
          <p:cNvPicPr>
            <a:picLocks noChangeAspect="1"/>
          </p:cNvPicPr>
          <p:nvPr/>
        </p:nvPicPr>
        <p:blipFill>
          <a:blip r:embed="rId2"/>
          <a:stretch>
            <a:fillRect/>
          </a:stretch>
        </p:blipFill>
        <p:spPr>
          <a:xfrm>
            <a:off x="2252717" y="1143000"/>
            <a:ext cx="7686260" cy="530352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AND WHY THE ORDER IS A CONTROL, NOT A HABIT</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The order it runs in</a:t>
            </a:r>
          </a:p>
        </p:txBody>
      </p:sp>
      <p:pic>
        <p:nvPicPr>
          <p:cNvPr id="4" name="Picture 3" descr="10_build_sequence.png"/>
          <p:cNvPicPr>
            <a:picLocks noChangeAspect="1"/>
          </p:cNvPicPr>
          <p:nvPr/>
        </p:nvPicPr>
        <p:blipFill>
          <a:blip r:embed="rId2"/>
          <a:stretch>
            <a:fillRect/>
          </a:stretch>
        </p:blipFill>
        <p:spPr>
          <a:xfrm>
            <a:off x="1891011" y="1143000"/>
            <a:ext cx="8409673" cy="530352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PART WORTH TRUSTING</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Two bugs this build found in itself</a:t>
            </a:r>
          </a:p>
        </p:txBody>
      </p:sp>
      <p:sp>
        <p:nvSpPr>
          <p:cNvPr id="4" name="TextBox 3"/>
          <p:cNvSpPr txBox="1"/>
          <p:nvPr/>
        </p:nvSpPr>
        <p:spPr>
          <a:xfrm>
            <a:off x="640080" y="1234440"/>
            <a:ext cx="10972800" cy="411480"/>
          </a:xfrm>
          <a:prstGeom prst="rect">
            <a:avLst/>
          </a:prstGeom>
          <a:noFill/>
        </p:spPr>
        <p:txBody>
          <a:bodyPr wrap="square">
            <a:spAutoFit/>
          </a:bodyPr>
          <a:lstStyle/>
          <a:p>
            <a:pPr algn="l">
              <a:spcAft>
                <a:spcPts val="800"/>
              </a:spcAft>
            </a:pPr>
            <a:r>
              <a:rPr sz="1600" b="0">
                <a:solidFill>
                  <a:srgbClr val="5B6472"/>
                </a:solidFill>
                <a:latin typeface="Calibri"/>
              </a:rPr>
              <a:t>Both would have been invisible to a reviewer. Both were caught by a check that runs every time, not by someone reading the code.</a:t>
            </a:r>
          </a:p>
        </p:txBody>
      </p:sp>
      <p:sp>
        <p:nvSpPr>
          <p:cNvPr id="5" name="Rounded Rectangle 4"/>
          <p:cNvSpPr/>
          <p:nvPr/>
        </p:nvSpPr>
        <p:spPr>
          <a:xfrm>
            <a:off x="548640" y="1874519"/>
            <a:ext cx="548640" cy="1965960"/>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560319"/>
            <a:ext cx="548640" cy="457200"/>
          </a:xfrm>
          <a:prstGeom prst="rect">
            <a:avLst/>
          </a:prstGeom>
          <a:noFill/>
        </p:spPr>
        <p:txBody>
          <a:bodyPr wrap="square">
            <a:spAutoFit/>
          </a:bodyPr>
          <a:lstStyle/>
          <a:p>
            <a:pPr algn="ctr">
              <a:spcAft>
                <a:spcPts val="0"/>
              </a:spcAft>
            </a:pPr>
            <a:r>
              <a:rPr sz="2400" b="1">
                <a:solidFill>
                  <a:srgbClr val="FFFFFF"/>
                </a:solidFill>
                <a:latin typeface="Calibri"/>
              </a:rPr>
              <a:t>1</a:t>
            </a:r>
          </a:p>
        </p:txBody>
      </p:sp>
      <p:sp>
        <p:nvSpPr>
          <p:cNvPr id="7" name="Rounded Rectangle 6"/>
          <p:cNvSpPr/>
          <p:nvPr/>
        </p:nvSpPr>
        <p:spPr>
          <a:xfrm>
            <a:off x="1097280" y="1874519"/>
            <a:ext cx="10561320" cy="196596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1984247"/>
            <a:ext cx="10149840" cy="320040"/>
          </a:xfrm>
          <a:prstGeom prst="rect">
            <a:avLst/>
          </a:prstGeom>
          <a:noFill/>
        </p:spPr>
        <p:txBody>
          <a:bodyPr wrap="square">
            <a:spAutoFit/>
          </a:bodyPr>
          <a:lstStyle/>
          <a:p>
            <a:pPr algn="l">
              <a:spcAft>
                <a:spcPts val="0"/>
              </a:spcAft>
            </a:pPr>
            <a:r>
              <a:rPr sz="1600" b="1">
                <a:solidFill>
                  <a:srgbClr val="1F2A44"/>
                </a:solidFill>
                <a:latin typeface="Calibri"/>
              </a:rPr>
              <a:t>The quarantine list was not told which room to look in</a:t>
            </a:r>
          </a:p>
        </p:txBody>
      </p:sp>
      <p:sp>
        <p:nvSpPr>
          <p:cNvPr id="9" name="TextBox 8"/>
          <p:cNvSpPr txBox="1"/>
          <p:nvPr/>
        </p:nvSpPr>
        <p:spPr>
          <a:xfrm>
            <a:off x="1325880" y="2350007"/>
            <a:ext cx="10149840" cy="685800"/>
          </a:xfrm>
          <a:prstGeom prst="rect">
            <a:avLst/>
          </a:prstGeom>
          <a:noFill/>
        </p:spPr>
        <p:txBody>
          <a:bodyPr wrap="square">
            <a:spAutoFit/>
          </a:bodyPr>
          <a:lstStyle/>
          <a:p>
            <a:pPr algn="l">
              <a:spcAft>
                <a:spcPts val="0"/>
              </a:spcAft>
            </a:pPr>
            <a:r>
              <a:rPr sz="1250" b="0">
                <a:solidFill>
                  <a:srgbClr val="5B6472"/>
                </a:solidFill>
                <a:latin typeface="Calibri"/>
              </a:rPr>
              <a:t>Testing the rules means planting known defects in a copy of the data. But the list of rows to throw away did not say which copy, so a planted defect deleted a REAL row: 76 districts instead of 77, and 11,024 payments left pointing at nothing.</a:t>
            </a:r>
          </a:p>
        </p:txBody>
      </p:sp>
      <p:sp>
        <p:nvSpPr>
          <p:cNvPr id="10" name="TextBox 9"/>
          <p:cNvSpPr txBox="1"/>
          <p:nvPr/>
        </p:nvSpPr>
        <p:spPr>
          <a:xfrm>
            <a:off x="1325880" y="3172967"/>
            <a:ext cx="10149840" cy="594360"/>
          </a:xfrm>
          <a:prstGeom prst="rect">
            <a:avLst/>
          </a:prstGeom>
          <a:noFill/>
        </p:spPr>
        <p:txBody>
          <a:bodyPr wrap="square">
            <a:spAutoFit/>
          </a:bodyPr>
          <a:lstStyle/>
          <a:p>
            <a:pPr algn="l">
              <a:spcAft>
                <a:spcPts val="0"/>
              </a:spcAft>
            </a:pPr>
            <a:r>
              <a:rPr sz="1250" b="0">
                <a:solidFill>
                  <a:srgbClr val="15803D"/>
                </a:solidFill>
                <a:latin typeface="Calibri"/>
              </a:rPr>
              <a:t>Caught by the model build, which counts every parent before it accepts a child. Fixed by scoping the list to one schema. Written up as D008.</a:t>
            </a:r>
          </a:p>
        </p:txBody>
      </p:sp>
      <p:sp>
        <p:nvSpPr>
          <p:cNvPr id="11" name="Rounded Rectangle 10"/>
          <p:cNvSpPr/>
          <p:nvPr/>
        </p:nvSpPr>
        <p:spPr>
          <a:xfrm>
            <a:off x="548640" y="4023359"/>
            <a:ext cx="548640" cy="1965960"/>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709159"/>
            <a:ext cx="548640" cy="457200"/>
          </a:xfrm>
          <a:prstGeom prst="rect">
            <a:avLst/>
          </a:prstGeom>
          <a:noFill/>
        </p:spPr>
        <p:txBody>
          <a:bodyPr wrap="square">
            <a:spAutoFit/>
          </a:bodyPr>
          <a:lstStyle/>
          <a:p>
            <a:pPr algn="ctr">
              <a:spcAft>
                <a:spcPts val="0"/>
              </a:spcAft>
            </a:pPr>
            <a:r>
              <a:rPr sz="2400" b="1">
                <a:solidFill>
                  <a:srgbClr val="FFFFFF"/>
                </a:solidFill>
                <a:latin typeface="Calibri"/>
              </a:rPr>
              <a:t>2</a:t>
            </a:r>
          </a:p>
        </p:txBody>
      </p:sp>
      <p:sp>
        <p:nvSpPr>
          <p:cNvPr id="13" name="Rounded Rectangle 12"/>
          <p:cNvSpPr/>
          <p:nvPr/>
        </p:nvSpPr>
        <p:spPr>
          <a:xfrm>
            <a:off x="1097280" y="4023359"/>
            <a:ext cx="10561320" cy="196596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4133087"/>
            <a:ext cx="10149840" cy="320040"/>
          </a:xfrm>
          <a:prstGeom prst="rect">
            <a:avLst/>
          </a:prstGeom>
          <a:noFill/>
        </p:spPr>
        <p:txBody>
          <a:bodyPr wrap="square">
            <a:spAutoFit/>
          </a:bodyPr>
          <a:lstStyle/>
          <a:p>
            <a:pPr algn="l">
              <a:spcAft>
                <a:spcPts val="0"/>
              </a:spcAft>
            </a:pPr>
            <a:r>
              <a:rPr sz="1600" b="1">
                <a:solidFill>
                  <a:srgbClr val="1F2A44"/>
                </a:solidFill>
                <a:latin typeface="Calibri"/>
              </a:rPr>
              <a:t>A view politely dropped the lock</a:t>
            </a:r>
          </a:p>
        </p:txBody>
      </p:sp>
      <p:sp>
        <p:nvSpPr>
          <p:cNvPr id="15" name="TextBox 14"/>
          <p:cNvSpPr txBox="1"/>
          <p:nvPr/>
        </p:nvSpPr>
        <p:spPr>
          <a:xfrm>
            <a:off x="1325880" y="4498847"/>
            <a:ext cx="10149840" cy="685800"/>
          </a:xfrm>
          <a:prstGeom prst="rect">
            <a:avLst/>
          </a:prstGeom>
          <a:noFill/>
        </p:spPr>
        <p:txBody>
          <a:bodyPr wrap="square">
            <a:spAutoFit/>
          </a:bodyPr>
          <a:lstStyle/>
          <a:p>
            <a:pPr algn="l">
              <a:spcAft>
                <a:spcPts val="0"/>
              </a:spcAft>
            </a:pPr>
            <a:r>
              <a:rPr sz="1250" b="0">
                <a:solidFill>
                  <a:srgbClr val="5B6472"/>
                </a:solidFill>
                <a:latin typeface="Calibri"/>
              </a:rPr>
              <a:t>The rule that hides other people's clients sits on the table. A view on top of that table normally runs as its owner - so it read the table as the owner and handed back all 682 loans to a user entitled to none.</a:t>
            </a:r>
          </a:p>
        </p:txBody>
      </p:sp>
      <p:sp>
        <p:nvSpPr>
          <p:cNvPr id="16" name="TextBox 15"/>
          <p:cNvSpPr txBox="1"/>
          <p:nvPr/>
        </p:nvSpPr>
        <p:spPr>
          <a:xfrm>
            <a:off x="1325880" y="5321807"/>
            <a:ext cx="10149840" cy="594360"/>
          </a:xfrm>
          <a:prstGeom prst="rect">
            <a:avLst/>
          </a:prstGeom>
          <a:noFill/>
        </p:spPr>
        <p:txBody>
          <a:bodyPr wrap="square">
            <a:spAutoFit/>
          </a:bodyPr>
          <a:lstStyle/>
          <a:p>
            <a:pPr algn="l">
              <a:spcAft>
                <a:spcPts val="0"/>
              </a:spcAft>
            </a:pPr>
            <a:r>
              <a:rPr sz="1250" b="0">
                <a:solidFill>
                  <a:srgbClr val="15803D"/>
                </a:solidFill>
                <a:latin typeface="Calibri"/>
              </a:rPr>
              <a:t>Caught by logging in as that restricted user and counting, which is the only test that would have found it. Fixed with one setting per view, plus a test that reads the setting back. Written up as D010.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SAID BEFORE ANYONE HAS TO ASK</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Strong here, thin there</a:t>
            </a:r>
          </a:p>
        </p:txBody>
      </p:sp>
      <p:sp>
        <p:nvSpPr>
          <p:cNvPr id="4" name="Rounded Rectangle 3"/>
          <p:cNvSpPr/>
          <p:nvPr/>
        </p:nvSpPr>
        <p:spPr>
          <a:xfrm>
            <a:off x="548640" y="1325880"/>
            <a:ext cx="5285232" cy="457200"/>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89888"/>
            <a:ext cx="4937760" cy="365760"/>
          </a:xfrm>
          <a:prstGeom prst="rect">
            <a:avLst/>
          </a:prstGeom>
          <a:noFill/>
        </p:spPr>
        <p:txBody>
          <a:bodyPr wrap="square">
            <a:spAutoFit/>
          </a:bodyPr>
          <a:lstStyle/>
          <a:p>
            <a:pPr algn="l">
              <a:spcAft>
                <a:spcPts val="0"/>
              </a:spcAft>
            </a:pPr>
            <a:r>
              <a:rPr sz="1300" b="1">
                <a:solidFill>
                  <a:srgbClr val="FFFFFF"/>
                </a:solidFill>
                <a:latin typeface="Calibri"/>
              </a:rPr>
              <a:t>STRONG</a:t>
            </a:r>
          </a:p>
        </p:txBody>
      </p:sp>
      <p:sp>
        <p:nvSpPr>
          <p:cNvPr id="6" name="Rounded Rectangle 5"/>
          <p:cNvSpPr/>
          <p:nvPr/>
        </p:nvSpPr>
        <p:spPr>
          <a:xfrm>
            <a:off x="548640" y="1920240"/>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93392"/>
            <a:ext cx="4937760" cy="274320"/>
          </a:xfrm>
          <a:prstGeom prst="rect">
            <a:avLst/>
          </a:prstGeom>
          <a:noFill/>
        </p:spPr>
        <p:txBody>
          <a:bodyPr wrap="square">
            <a:spAutoFit/>
          </a:bodyPr>
          <a:lstStyle/>
          <a:p>
            <a:pPr algn="l">
              <a:spcAft>
                <a:spcPts val="0"/>
              </a:spcAft>
            </a:pPr>
            <a:r>
              <a:rPr sz="1350" b="1">
                <a:solidFill>
                  <a:srgbClr val="1F2A44"/>
                </a:solidFill>
                <a:latin typeface="Calibri"/>
              </a:rPr>
              <a:t>Severities have consequences, not labels</a:t>
            </a:r>
          </a:p>
        </p:txBody>
      </p:sp>
      <p:sp>
        <p:nvSpPr>
          <p:cNvPr id="8" name="TextBox 7"/>
          <p:cNvSpPr txBox="1"/>
          <p:nvPr/>
        </p:nvSpPr>
        <p:spPr>
          <a:xfrm>
            <a:off x="731520" y="2267712"/>
            <a:ext cx="4937760" cy="548640"/>
          </a:xfrm>
          <a:prstGeom prst="rect">
            <a:avLst/>
          </a:prstGeom>
          <a:noFill/>
        </p:spPr>
        <p:txBody>
          <a:bodyPr wrap="square">
            <a:spAutoFit/>
          </a:bodyPr>
          <a:lstStyle/>
          <a:p>
            <a:pPr algn="l">
              <a:spcAft>
                <a:spcPts val="0"/>
              </a:spcAft>
            </a:pPr>
            <a:r>
              <a:rPr sz="1150" b="0">
                <a:solidFill>
                  <a:srgbClr val="5B6472"/>
                </a:solidFill>
                <a:latin typeface="Calibri"/>
              </a:rPr>
              <a:t>block quarantines and the exclusion is counted and reversible; warn flags the row and the flag travels into the answer; info changes no number.</a:t>
            </a:r>
          </a:p>
        </p:txBody>
      </p:sp>
      <p:sp>
        <p:nvSpPr>
          <p:cNvPr id="9" name="Rounded Rectangle 8"/>
          <p:cNvSpPr/>
          <p:nvPr/>
        </p:nvSpPr>
        <p:spPr>
          <a:xfrm>
            <a:off x="548640" y="2944368"/>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17520"/>
            <a:ext cx="4937760" cy="274320"/>
          </a:xfrm>
          <a:prstGeom prst="rect">
            <a:avLst/>
          </a:prstGeom>
          <a:noFill/>
        </p:spPr>
        <p:txBody>
          <a:bodyPr wrap="square">
            <a:spAutoFit/>
          </a:bodyPr>
          <a:lstStyle/>
          <a:p>
            <a:pPr algn="l">
              <a:spcAft>
                <a:spcPts val="0"/>
              </a:spcAft>
            </a:pPr>
            <a:r>
              <a:rPr sz="1350" b="1">
                <a:solidFill>
                  <a:srgbClr val="1F2A44"/>
                </a:solidFill>
                <a:latin typeface="Calibri"/>
              </a:rPr>
              <a:t>Three findings not in the dataset's own documentation</a:t>
            </a:r>
          </a:p>
        </p:txBody>
      </p:sp>
      <p:sp>
        <p:nvSpPr>
          <p:cNvPr id="11" name="TextBox 10"/>
          <p:cNvSpPr txBox="1"/>
          <p:nvPr/>
        </p:nvSpPr>
        <p:spPr>
          <a:xfrm>
            <a:off x="731520" y="3291840"/>
            <a:ext cx="4937760" cy="548640"/>
          </a:xfrm>
          <a:prstGeom prst="rect">
            <a:avLst/>
          </a:prstGeom>
          <a:noFill/>
        </p:spPr>
        <p:txBody>
          <a:bodyPr wrap="square">
            <a:spAutoFit/>
          </a:bodyPr>
          <a:lstStyle/>
          <a:p>
            <a:pPr algn="l">
              <a:spcAft>
                <a:spcPts val="0"/>
              </a:spcAft>
            </a:pPr>
            <a:r>
              <a:rPr sz="1150" b="0">
                <a:solidFill>
                  <a:srgbClr val="5B6472"/>
                </a:solidFill>
                <a:latin typeface="Calibri"/>
              </a:rPr>
              <a:t>55 accounts whose balance chain does not reconcile; intra-day order undefined for 183 accounts; one duplicate payment no primary key can catch.</a:t>
            </a:r>
          </a:p>
        </p:txBody>
      </p:sp>
      <p:sp>
        <p:nvSpPr>
          <p:cNvPr id="12" name="Rounded Rectangle 11"/>
          <p:cNvSpPr/>
          <p:nvPr/>
        </p:nvSpPr>
        <p:spPr>
          <a:xfrm>
            <a:off x="548640" y="3968496"/>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41648"/>
            <a:ext cx="4937760" cy="274320"/>
          </a:xfrm>
          <a:prstGeom prst="rect">
            <a:avLst/>
          </a:prstGeom>
          <a:noFill/>
        </p:spPr>
        <p:txBody>
          <a:bodyPr wrap="square">
            <a:spAutoFit/>
          </a:bodyPr>
          <a:lstStyle/>
          <a:p>
            <a:pPr algn="l">
              <a:spcAft>
                <a:spcPts val="0"/>
              </a:spcAft>
            </a:pPr>
            <a:r>
              <a:rPr sz="1350" b="1">
                <a:solidFill>
                  <a:srgbClr val="1F2A44"/>
                </a:solidFill>
                <a:latin typeface="Calibri"/>
              </a:rPr>
              <a:t>The entitlement claim is tested by logging in</a:t>
            </a:r>
          </a:p>
        </p:txBody>
      </p:sp>
      <p:sp>
        <p:nvSpPr>
          <p:cNvPr id="14" name="TextBox 13"/>
          <p:cNvSpPr txBox="1"/>
          <p:nvPr/>
        </p:nvSpPr>
        <p:spPr>
          <a:xfrm>
            <a:off x="731520" y="4315968"/>
            <a:ext cx="4937760" cy="548640"/>
          </a:xfrm>
          <a:prstGeom prst="rect">
            <a:avLst/>
          </a:prstGeom>
          <a:noFill/>
        </p:spPr>
        <p:txBody>
          <a:bodyPr wrap="square">
            <a:spAutoFit/>
          </a:bodyPr>
          <a:lstStyle/>
          <a:p>
            <a:pPr algn="l">
              <a:spcAft>
                <a:spcPts val="0"/>
              </a:spcAft>
            </a:pPr>
            <a:r>
              <a:rPr sz="1150" b="0">
                <a:solidFill>
                  <a:srgbClr val="5B6472"/>
                </a:solidFill>
                <a:latin typeface="Calibri"/>
              </a:rPr>
              <a:t>Four roles, 5,369 / 1,481 / 1,386 / 0 clients. That is what caught bug 2.</a:t>
            </a:r>
          </a:p>
        </p:txBody>
      </p:sp>
      <p:sp>
        <p:nvSpPr>
          <p:cNvPr id="15" name="Rounded Rectangle 14"/>
          <p:cNvSpPr/>
          <p:nvPr/>
        </p:nvSpPr>
        <p:spPr>
          <a:xfrm>
            <a:off x="548640" y="4992624"/>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65776"/>
            <a:ext cx="4937760" cy="274320"/>
          </a:xfrm>
          <a:prstGeom prst="rect">
            <a:avLst/>
          </a:prstGeom>
          <a:noFill/>
        </p:spPr>
        <p:txBody>
          <a:bodyPr wrap="square">
            <a:spAutoFit/>
          </a:bodyPr>
          <a:lstStyle/>
          <a:p>
            <a:pPr algn="l">
              <a:spcAft>
                <a:spcPts val="0"/>
              </a:spcAft>
            </a:pPr>
            <a:r>
              <a:rPr sz="1350" b="1">
                <a:solidFill>
                  <a:srgbClr val="1F2A44"/>
                </a:solidFill>
                <a:latin typeface="Calibri"/>
              </a:rPr>
              <a:t>Rules proven on clean data</a:t>
            </a:r>
          </a:p>
        </p:txBody>
      </p:sp>
      <p:sp>
        <p:nvSpPr>
          <p:cNvPr id="17" name="TextBox 16"/>
          <p:cNvSpPr txBox="1"/>
          <p:nvPr/>
        </p:nvSpPr>
        <p:spPr>
          <a:xfrm>
            <a:off x="731520" y="5340096"/>
            <a:ext cx="4937760" cy="548640"/>
          </a:xfrm>
          <a:prstGeom prst="rect">
            <a:avLst/>
          </a:prstGeom>
          <a:noFill/>
        </p:spPr>
        <p:txBody>
          <a:bodyPr wrap="square">
            <a:spAutoFit/>
          </a:bodyPr>
          <a:lstStyle/>
          <a:p>
            <a:pPr algn="l">
              <a:spcAft>
                <a:spcPts val="0"/>
              </a:spcAft>
            </a:pPr>
            <a:r>
              <a:rPr sz="1150" b="0">
                <a:solidFill>
                  <a:srgbClr val="5B6472"/>
                </a:solidFill>
                <a:latin typeface="Calibri"/>
              </a:rPr>
              <a:t>20 seeded defects in a separate schema, one per rule family, each caught by the rule meant to catch it.</a:t>
            </a:r>
          </a:p>
        </p:txBody>
      </p:sp>
      <p:sp>
        <p:nvSpPr>
          <p:cNvPr id="18" name="Rounded Rectangle 17"/>
          <p:cNvSpPr/>
          <p:nvPr/>
        </p:nvSpPr>
        <p:spPr>
          <a:xfrm>
            <a:off x="6355080" y="1325880"/>
            <a:ext cx="5285232" cy="45720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1389888"/>
            <a:ext cx="4937760" cy="365760"/>
          </a:xfrm>
          <a:prstGeom prst="rect">
            <a:avLst/>
          </a:prstGeom>
          <a:noFill/>
        </p:spPr>
        <p:txBody>
          <a:bodyPr wrap="square">
            <a:spAutoFit/>
          </a:bodyPr>
          <a:lstStyle/>
          <a:p>
            <a:pPr algn="l">
              <a:spcAft>
                <a:spcPts val="0"/>
              </a:spcAft>
            </a:pPr>
            <a:r>
              <a:rPr sz="1300" b="1">
                <a:solidFill>
                  <a:srgbClr val="FFFFFF"/>
                </a:solidFill>
                <a:latin typeface="Calibri"/>
              </a:rPr>
              <a:t>THIN</a:t>
            </a:r>
          </a:p>
        </p:txBody>
      </p:sp>
      <p:sp>
        <p:nvSpPr>
          <p:cNvPr id="20" name="Rounded Rectangle 19"/>
          <p:cNvSpPr/>
          <p:nvPr/>
        </p:nvSpPr>
        <p:spPr>
          <a:xfrm>
            <a:off x="6355080" y="1920240"/>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1993392"/>
            <a:ext cx="4937760" cy="274320"/>
          </a:xfrm>
          <a:prstGeom prst="rect">
            <a:avLst/>
          </a:prstGeom>
          <a:noFill/>
        </p:spPr>
        <p:txBody>
          <a:bodyPr wrap="square">
            <a:spAutoFit/>
          </a:bodyPr>
          <a:lstStyle/>
          <a:p>
            <a:pPr algn="l">
              <a:spcAft>
                <a:spcPts val="0"/>
              </a:spcAft>
            </a:pPr>
            <a:r>
              <a:rPr sz="1350" b="1">
                <a:solidFill>
                  <a:srgbClr val="1F2A44"/>
                </a:solidFill>
                <a:latin typeface="Calibri"/>
              </a:rPr>
              <a:t>Bronze has no dedicated tests</a:t>
            </a:r>
          </a:p>
        </p:txBody>
      </p:sp>
      <p:sp>
        <p:nvSpPr>
          <p:cNvPr id="22" name="TextBox 21"/>
          <p:cNvSpPr txBox="1"/>
          <p:nvPr/>
        </p:nvSpPr>
        <p:spPr>
          <a:xfrm>
            <a:off x="6537960" y="2267712"/>
            <a:ext cx="4937760" cy="548640"/>
          </a:xfrm>
          <a:prstGeom prst="rect">
            <a:avLst/>
          </a:prstGeom>
          <a:noFill/>
        </p:spPr>
        <p:txBody>
          <a:bodyPr wrap="square">
            <a:spAutoFit/>
          </a:bodyPr>
          <a:lstStyle/>
          <a:p>
            <a:pPr algn="l">
              <a:spcAft>
                <a:spcPts val="0"/>
              </a:spcAft>
            </a:pPr>
            <a:r>
              <a:rPr sz="1150" b="0">
                <a:solidFill>
                  <a:srgbClr val="5B6472"/>
                </a:solidFill>
                <a:latin typeface="Calibri"/>
              </a:rPr>
              <a:t>Its guarantees are assertions inside the ingest module and are never re-checked. Largest hole in the suite, and first item of next-step work.</a:t>
            </a:r>
          </a:p>
        </p:txBody>
      </p:sp>
      <p:sp>
        <p:nvSpPr>
          <p:cNvPr id="23" name="Rounded Rectangle 22"/>
          <p:cNvSpPr/>
          <p:nvPr/>
        </p:nvSpPr>
        <p:spPr>
          <a:xfrm>
            <a:off x="6355080" y="2944368"/>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017520"/>
            <a:ext cx="4937760" cy="274320"/>
          </a:xfrm>
          <a:prstGeom prst="rect">
            <a:avLst/>
          </a:prstGeom>
          <a:noFill/>
        </p:spPr>
        <p:txBody>
          <a:bodyPr wrap="square">
            <a:spAutoFit/>
          </a:bodyPr>
          <a:lstStyle/>
          <a:p>
            <a:pPr algn="l">
              <a:spcAft>
                <a:spcPts val="0"/>
              </a:spcAft>
            </a:pPr>
            <a:r>
              <a:rPr sz="1350" b="1">
                <a:solidFill>
                  <a:srgbClr val="1F2A44"/>
                </a:solidFill>
                <a:latin typeface="Calibri"/>
              </a:rPr>
              <a:t>Four modules are over 500 lines</a:t>
            </a:r>
          </a:p>
        </p:txBody>
      </p:sp>
      <p:sp>
        <p:nvSpPr>
          <p:cNvPr id="25" name="TextBox 24"/>
          <p:cNvSpPr txBox="1"/>
          <p:nvPr/>
        </p:nvSpPr>
        <p:spPr>
          <a:xfrm>
            <a:off x="6537960" y="3291840"/>
            <a:ext cx="4937760" cy="548640"/>
          </a:xfrm>
          <a:prstGeom prst="rect">
            <a:avLst/>
          </a:prstGeom>
          <a:noFill/>
        </p:spPr>
        <p:txBody>
          <a:bodyPr wrap="square">
            <a:spAutoFit/>
          </a:bodyPr>
          <a:lstStyle/>
          <a:p>
            <a:pPr algn="l">
              <a:spcAft>
                <a:spcPts val="0"/>
              </a:spcAft>
            </a:pPr>
            <a:r>
              <a:rPr sz="1150" b="0">
                <a:solidFill>
                  <a:srgbClr val="5B6472"/>
                </a:solidFill>
                <a:latin typeface="Calibri"/>
              </a:rPr>
              <a:t>dq_runner in particular mixes execution, quarantine, flagging, reconciliation and two report writers. Coherent, but due a split.</a:t>
            </a:r>
          </a:p>
        </p:txBody>
      </p:sp>
      <p:sp>
        <p:nvSpPr>
          <p:cNvPr id="26" name="Rounded Rectangle 25"/>
          <p:cNvSpPr/>
          <p:nvPr/>
        </p:nvSpPr>
        <p:spPr>
          <a:xfrm>
            <a:off x="6355080" y="3968496"/>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60" y="4041648"/>
            <a:ext cx="4937760" cy="274320"/>
          </a:xfrm>
          <a:prstGeom prst="rect">
            <a:avLst/>
          </a:prstGeom>
          <a:noFill/>
        </p:spPr>
        <p:txBody>
          <a:bodyPr wrap="square">
            <a:spAutoFit/>
          </a:bodyPr>
          <a:lstStyle/>
          <a:p>
            <a:pPr algn="l">
              <a:spcAft>
                <a:spcPts val="0"/>
              </a:spcAft>
            </a:pPr>
            <a:r>
              <a:rPr sz="1350" b="1">
                <a:solidFill>
                  <a:srgbClr val="1F2A44"/>
                </a:solidFill>
                <a:latin typeface="Calibri"/>
              </a:rPr>
              <a:t>The rule engine pulls violations into Python</a:t>
            </a:r>
          </a:p>
        </p:txBody>
      </p:sp>
      <p:sp>
        <p:nvSpPr>
          <p:cNvPr id="28" name="TextBox 27"/>
          <p:cNvSpPr txBox="1"/>
          <p:nvPr/>
        </p:nvSpPr>
        <p:spPr>
          <a:xfrm>
            <a:off x="6537960" y="4315968"/>
            <a:ext cx="4937760" cy="548640"/>
          </a:xfrm>
          <a:prstGeom prst="rect">
            <a:avLst/>
          </a:prstGeom>
          <a:noFill/>
        </p:spPr>
        <p:txBody>
          <a:bodyPr wrap="square">
            <a:spAutoFit/>
          </a:bodyPr>
          <a:lstStyle/>
          <a:p>
            <a:pPr algn="l">
              <a:spcAft>
                <a:spcPts val="0"/>
              </a:spcAft>
            </a:pPr>
            <a:r>
              <a:rPr sz="1150" b="0">
                <a:solidFill>
                  <a:srgbClr val="5B6472"/>
                </a:solidFill>
                <a:latin typeface="Calibri"/>
              </a:rPr>
              <a:t>Fine at 1.06 m rows; named in the Design Decision Record as one of the four things that break at 100,000 times the volume.</a:t>
            </a:r>
          </a:p>
        </p:txBody>
      </p:sp>
      <p:sp>
        <p:nvSpPr>
          <p:cNvPr id="29" name="Rounded Rectangle 28"/>
          <p:cNvSpPr/>
          <p:nvPr/>
        </p:nvSpPr>
        <p:spPr>
          <a:xfrm>
            <a:off x="6355080" y="4992624"/>
            <a:ext cx="5285232" cy="914400"/>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5065776"/>
            <a:ext cx="4937760" cy="274320"/>
          </a:xfrm>
          <a:prstGeom prst="rect">
            <a:avLst/>
          </a:prstGeom>
          <a:noFill/>
        </p:spPr>
        <p:txBody>
          <a:bodyPr wrap="square">
            <a:spAutoFit/>
          </a:bodyPr>
          <a:lstStyle/>
          <a:p>
            <a:pPr algn="l">
              <a:spcAft>
                <a:spcPts val="0"/>
              </a:spcAft>
            </a:pPr>
            <a:r>
              <a:rPr sz="1350" b="1">
                <a:solidFill>
                  <a:srgbClr val="1F2A44"/>
                </a:solidFill>
                <a:latin typeface="Calibri"/>
              </a:rPr>
              <a:t>No CI, and the page count is checked by regex</a:t>
            </a:r>
          </a:p>
        </p:txBody>
      </p:sp>
      <p:sp>
        <p:nvSpPr>
          <p:cNvPr id="31" name="TextBox 30"/>
          <p:cNvSpPr txBox="1"/>
          <p:nvPr/>
        </p:nvSpPr>
        <p:spPr>
          <a:xfrm>
            <a:off x="6537960" y="5340096"/>
            <a:ext cx="4937760" cy="548640"/>
          </a:xfrm>
          <a:prstGeom prst="rect">
            <a:avLst/>
          </a:prstGeom>
          <a:noFill/>
        </p:spPr>
        <p:txBody>
          <a:bodyPr wrap="square">
            <a:spAutoFit/>
          </a:bodyPr>
          <a:lstStyle/>
          <a:p>
            <a:pPr algn="l">
              <a:spcAft>
                <a:spcPts val="0"/>
              </a:spcAft>
            </a:pPr>
            <a:r>
              <a:rPr sz="1150" b="0">
                <a:solidFill>
                  <a:srgbClr val="5B6472"/>
                </a:solidFill>
                <a:latin typeface="Calibri"/>
              </a:rPr>
              <a:t>Everything is reproducible by one command; nothing runs it automatically. The DDR two-page check reads the PDF bytes.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1 OF 2 - THE THREE TASKS</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Completeness: every ask in the brief</a:t>
            </a:r>
          </a:p>
        </p:txBody>
      </p:sp>
      <p:sp>
        <p:nvSpPr>
          <p:cNvPr id="4" name="Rounded Rectangle 3"/>
          <p:cNvSpPr/>
          <p:nvPr/>
        </p:nvSpPr>
        <p:spPr>
          <a:xfrm>
            <a:off x="548640" y="1234440"/>
            <a:ext cx="3931920" cy="3840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6656" y="1307592"/>
            <a:ext cx="3712464" cy="292608"/>
          </a:xfrm>
          <a:prstGeom prst="rect">
            <a:avLst/>
          </a:prstGeom>
          <a:noFill/>
        </p:spPr>
        <p:txBody>
          <a:bodyPr wrap="square">
            <a:spAutoFit/>
          </a:bodyPr>
          <a:lstStyle/>
          <a:p>
            <a:pPr algn="l">
              <a:spcAft>
                <a:spcPts val="0"/>
              </a:spcAft>
            </a:pPr>
            <a:r>
              <a:rPr sz="1150" b="1">
                <a:solidFill>
                  <a:srgbClr val="FFFFFF"/>
                </a:solidFill>
                <a:latin typeface="Calibri"/>
              </a:rPr>
              <a:t>What the brief asks for</a:t>
            </a:r>
          </a:p>
        </p:txBody>
      </p:sp>
      <p:sp>
        <p:nvSpPr>
          <p:cNvPr id="6" name="Rounded Rectangle 5"/>
          <p:cNvSpPr/>
          <p:nvPr/>
        </p:nvSpPr>
        <p:spPr>
          <a:xfrm>
            <a:off x="4480560" y="1234440"/>
            <a:ext cx="3931920" cy="3840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1307592"/>
            <a:ext cx="3712464" cy="292608"/>
          </a:xfrm>
          <a:prstGeom prst="rect">
            <a:avLst/>
          </a:prstGeom>
          <a:noFill/>
        </p:spPr>
        <p:txBody>
          <a:bodyPr wrap="square">
            <a:spAutoFit/>
          </a:bodyPr>
          <a:lstStyle/>
          <a:p>
            <a:pPr algn="l">
              <a:spcAft>
                <a:spcPts val="0"/>
              </a:spcAft>
            </a:pPr>
            <a:r>
              <a:rPr sz="1150" b="1">
                <a:solidFill>
                  <a:srgbClr val="FFFFFF"/>
                </a:solidFill>
                <a:latin typeface="Calibri"/>
              </a:rPr>
              <a:t>Where it is delivered</a:t>
            </a:r>
          </a:p>
        </p:txBody>
      </p:sp>
      <p:sp>
        <p:nvSpPr>
          <p:cNvPr id="8" name="Rounded Rectangle 7"/>
          <p:cNvSpPr/>
          <p:nvPr/>
        </p:nvSpPr>
        <p:spPr>
          <a:xfrm>
            <a:off x="8412480" y="1234440"/>
            <a:ext cx="3474720" cy="3840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0496" y="1307592"/>
            <a:ext cx="3255264" cy="292608"/>
          </a:xfrm>
          <a:prstGeom prst="rect">
            <a:avLst/>
          </a:prstGeom>
          <a:noFill/>
        </p:spPr>
        <p:txBody>
          <a:bodyPr wrap="square">
            <a:spAutoFit/>
          </a:bodyPr>
          <a:lstStyle/>
          <a:p>
            <a:pPr algn="l">
              <a:spcAft>
                <a:spcPts val="0"/>
              </a:spcAft>
            </a:pPr>
            <a:r>
              <a:rPr sz="1150" b="1">
                <a:solidFill>
                  <a:srgbClr val="FFFFFF"/>
                </a:solidFill>
                <a:latin typeface="Calibri"/>
              </a:rPr>
              <a:t>Evidence it is real</a:t>
            </a:r>
          </a:p>
        </p:txBody>
      </p:sp>
      <p:sp>
        <p:nvSpPr>
          <p:cNvPr id="10" name="Rounded Rectangle 9"/>
          <p:cNvSpPr/>
          <p:nvPr/>
        </p:nvSpPr>
        <p:spPr>
          <a:xfrm>
            <a:off x="548640" y="1618488"/>
            <a:ext cx="39319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691640"/>
            <a:ext cx="3712464" cy="658368"/>
          </a:xfrm>
          <a:prstGeom prst="rect">
            <a:avLst/>
          </a:prstGeom>
          <a:noFill/>
        </p:spPr>
        <p:txBody>
          <a:bodyPr wrap="square">
            <a:spAutoFit/>
          </a:bodyPr>
          <a:lstStyle/>
          <a:p>
            <a:pPr algn="l">
              <a:spcAft>
                <a:spcPts val="0"/>
              </a:spcAft>
            </a:pPr>
            <a:r>
              <a:rPr sz="1100" b="0">
                <a:solidFill>
                  <a:srgbClr val="1F2A44"/>
                </a:solidFill>
                <a:latin typeface="Calibri"/>
              </a:rPr>
              <a:t>Rules for completeness, uniqueness,
referential integrity, validity,
cross-table consistency</a:t>
            </a:r>
          </a:p>
        </p:txBody>
      </p:sp>
      <p:sp>
        <p:nvSpPr>
          <p:cNvPr id="12" name="Rounded Rectangle 11"/>
          <p:cNvSpPr/>
          <p:nvPr/>
        </p:nvSpPr>
        <p:spPr>
          <a:xfrm>
            <a:off x="4480560" y="1618488"/>
            <a:ext cx="39319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691640"/>
            <a:ext cx="3712464" cy="658368"/>
          </a:xfrm>
          <a:prstGeom prst="rect">
            <a:avLst/>
          </a:prstGeom>
          <a:noFill/>
        </p:spPr>
        <p:txBody>
          <a:bodyPr wrap="square">
            <a:spAutoFit/>
          </a:bodyPr>
          <a:lstStyle/>
          <a:p>
            <a:pPr algn="l">
              <a:spcAft>
                <a:spcPts val="0"/>
              </a:spcAft>
            </a:pPr>
            <a:r>
              <a:rPr sz="1100" b="0">
                <a:solidFill>
                  <a:srgbClr val="1F2A44"/>
                </a:solidFill>
                <a:latin typeface="Calibri"/>
              </a:rPr>
              <a:t>dq/dq_rules.yaml - 88 written rules
plus a sweep, 123 executed over
six dimensions</a:t>
            </a:r>
          </a:p>
        </p:txBody>
      </p:sp>
      <p:sp>
        <p:nvSpPr>
          <p:cNvPr id="14" name="Rounded Rectangle 13"/>
          <p:cNvSpPr/>
          <p:nvPr/>
        </p:nvSpPr>
        <p:spPr>
          <a:xfrm>
            <a:off x="8412480" y="1618488"/>
            <a:ext cx="34747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0496" y="1691640"/>
            <a:ext cx="3255264" cy="658368"/>
          </a:xfrm>
          <a:prstGeom prst="rect">
            <a:avLst/>
          </a:prstGeom>
          <a:noFill/>
        </p:spPr>
        <p:txBody>
          <a:bodyPr wrap="square">
            <a:spAutoFit/>
          </a:bodyPr>
          <a:lstStyle/>
          <a:p>
            <a:pPr algn="l">
              <a:spcAft>
                <a:spcPts val="0"/>
              </a:spcAft>
            </a:pPr>
            <a:r>
              <a:rPr sz="1100" b="0">
                <a:solidFill>
                  <a:srgbClr val="1F2A44"/>
                </a:solidFill>
                <a:latin typeface="Calibri"/>
              </a:rPr>
              <a:t>dq.results, one row per rule
per run; DQ rules tab</a:t>
            </a:r>
          </a:p>
        </p:txBody>
      </p:sp>
      <p:sp>
        <p:nvSpPr>
          <p:cNvPr id="16" name="Rounded Rectangle 15"/>
          <p:cNvSpPr/>
          <p:nvPr/>
        </p:nvSpPr>
        <p:spPr>
          <a:xfrm>
            <a:off x="548640" y="2368296"/>
            <a:ext cx="39319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2441448"/>
            <a:ext cx="3712464" cy="658368"/>
          </a:xfrm>
          <a:prstGeom prst="rect">
            <a:avLst/>
          </a:prstGeom>
          <a:noFill/>
        </p:spPr>
        <p:txBody>
          <a:bodyPr wrap="square">
            <a:spAutoFit/>
          </a:bodyPr>
          <a:lstStyle/>
          <a:p>
            <a:pPr algn="l">
              <a:spcAft>
                <a:spcPts val="0"/>
              </a:spcAft>
            </a:pPr>
            <a:r>
              <a:rPr sz="1100" b="0">
                <a:solidFill>
                  <a:srgbClr val="1F2A44"/>
                </a:solidFill>
                <a:latin typeface="Calibri"/>
              </a:rPr>
              <a:t>Each defect type with the rule it
breaks and a severity</a:t>
            </a:r>
          </a:p>
        </p:txBody>
      </p:sp>
      <p:sp>
        <p:nvSpPr>
          <p:cNvPr id="18" name="Rounded Rectangle 17"/>
          <p:cNvSpPr/>
          <p:nvPr/>
        </p:nvSpPr>
        <p:spPr>
          <a:xfrm>
            <a:off x="4480560" y="2368296"/>
            <a:ext cx="39319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576" y="2441448"/>
            <a:ext cx="3712464" cy="658368"/>
          </a:xfrm>
          <a:prstGeom prst="rect">
            <a:avLst/>
          </a:prstGeom>
          <a:noFill/>
        </p:spPr>
        <p:txBody>
          <a:bodyPr wrap="square">
            <a:spAutoFit/>
          </a:bodyPr>
          <a:lstStyle/>
          <a:p>
            <a:pPr algn="l">
              <a:spcAft>
                <a:spcPts val="0"/>
              </a:spcAft>
            </a:pPr>
            <a:r>
              <a:rPr sz="1100" b="0">
                <a:solidFill>
                  <a:srgbClr val="1F2A44"/>
                </a:solidFill>
                <a:latin typeface="Calibri"/>
              </a:rPr>
              <a:t>Defect types tab and defects.csv -
rule id, dimension, severity,
rationale, handling</a:t>
            </a:r>
          </a:p>
        </p:txBody>
      </p:sp>
      <p:sp>
        <p:nvSpPr>
          <p:cNvPr id="20" name="Rounded Rectangle 19"/>
          <p:cNvSpPr/>
          <p:nvPr/>
        </p:nvSpPr>
        <p:spPr>
          <a:xfrm>
            <a:off x="8412480" y="2368296"/>
            <a:ext cx="34747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0496" y="2441448"/>
            <a:ext cx="3255264" cy="658368"/>
          </a:xfrm>
          <a:prstGeom prst="rect">
            <a:avLst/>
          </a:prstGeom>
          <a:noFill/>
        </p:spPr>
        <p:txBody>
          <a:bodyPr wrap="square">
            <a:spAutoFit/>
          </a:bodyPr>
          <a:lstStyle/>
          <a:p>
            <a:pPr algn="l">
              <a:spcAft>
                <a:spcPts val="0"/>
              </a:spcAft>
            </a:pPr>
            <a:r>
              <a:rPr sz="1100" b="0">
                <a:solidFill>
                  <a:srgbClr val="1F2A44"/>
                </a:solidFill>
                <a:latin typeface="Calibri"/>
              </a:rPr>
              <a:t>Generated from the run, not
typed; 08_defect_catalogue</a:t>
            </a:r>
          </a:p>
        </p:txBody>
      </p:sp>
      <p:sp>
        <p:nvSpPr>
          <p:cNvPr id="22" name="Rounded Rectangle 21"/>
          <p:cNvSpPr/>
          <p:nvPr/>
        </p:nvSpPr>
        <p:spPr>
          <a:xfrm>
            <a:off x="548640" y="3118104"/>
            <a:ext cx="39319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3191256"/>
            <a:ext cx="3712464" cy="658368"/>
          </a:xfrm>
          <a:prstGeom prst="rect">
            <a:avLst/>
          </a:prstGeom>
          <a:noFill/>
        </p:spPr>
        <p:txBody>
          <a:bodyPr wrap="square">
            <a:spAutoFit/>
          </a:bodyPr>
          <a:lstStyle/>
          <a:p>
            <a:pPr algn="l">
              <a:spcAft>
                <a:spcPts val="0"/>
              </a:spcAft>
            </a:pPr>
            <a:r>
              <a:rPr sz="1100" b="0">
                <a:solidFill>
                  <a:srgbClr val="1F2A44"/>
                </a:solidFill>
                <a:latin typeface="Calibri"/>
              </a:rPr>
              <a:t>A justified severity for every rule
("a rule without one scores as
no rule")</a:t>
            </a:r>
          </a:p>
        </p:txBody>
      </p:sp>
      <p:sp>
        <p:nvSpPr>
          <p:cNvPr id="24" name="Rounded Rectangle 23"/>
          <p:cNvSpPr/>
          <p:nvPr/>
        </p:nvSpPr>
        <p:spPr>
          <a:xfrm>
            <a:off x="4480560" y="3118104"/>
            <a:ext cx="39319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8576" y="3191256"/>
            <a:ext cx="3712464" cy="658368"/>
          </a:xfrm>
          <a:prstGeom prst="rect">
            <a:avLst/>
          </a:prstGeom>
          <a:noFill/>
        </p:spPr>
        <p:txBody>
          <a:bodyPr wrap="square">
            <a:spAutoFit/>
          </a:bodyPr>
          <a:lstStyle/>
          <a:p>
            <a:pPr algn="l">
              <a:spcAft>
                <a:spcPts val="0"/>
              </a:spcAft>
            </a:pPr>
            <a:r>
              <a:rPr sz="1100" b="0">
                <a:solidFill>
                  <a:srgbClr val="1F2A44"/>
                </a:solidFill>
                <a:latin typeface="Calibri"/>
              </a:rPr>
              <a:t>severity_rationale on all 88 rules,
each stated in terms of which of
the ten questions it would move</a:t>
            </a:r>
          </a:p>
        </p:txBody>
      </p:sp>
      <p:sp>
        <p:nvSpPr>
          <p:cNvPr id="26" name="Rounded Rectangle 25"/>
          <p:cNvSpPr/>
          <p:nvPr/>
        </p:nvSpPr>
        <p:spPr>
          <a:xfrm>
            <a:off x="8412480" y="3118104"/>
            <a:ext cx="34747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0496" y="3191256"/>
            <a:ext cx="3255264" cy="658368"/>
          </a:xfrm>
          <a:prstGeom prst="rect">
            <a:avLst/>
          </a:prstGeom>
          <a:noFill/>
        </p:spPr>
        <p:txBody>
          <a:bodyPr wrap="square">
            <a:spAutoFit/>
          </a:bodyPr>
          <a:lstStyle/>
          <a:p>
            <a:pPr algn="l">
              <a:spcAft>
                <a:spcPts val="0"/>
              </a:spcAft>
            </a:pPr>
            <a:r>
              <a:rPr sz="1100" b="0">
                <a:solidFill>
                  <a:srgbClr val="1F2A44"/>
                </a:solidFill>
                <a:latin typeface="Calibri"/>
              </a:rPr>
              <a:t>Rendered into the workbook;
test asserts no rule lacks one</a:t>
            </a:r>
          </a:p>
        </p:txBody>
      </p:sp>
      <p:sp>
        <p:nvSpPr>
          <p:cNvPr id="28" name="Rounded Rectangle 27"/>
          <p:cNvSpPr/>
          <p:nvPr/>
        </p:nvSpPr>
        <p:spPr>
          <a:xfrm>
            <a:off x="548640" y="3867912"/>
            <a:ext cx="39319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3941064"/>
            <a:ext cx="3712464" cy="658368"/>
          </a:xfrm>
          <a:prstGeom prst="rect">
            <a:avLst/>
          </a:prstGeom>
          <a:noFill/>
        </p:spPr>
        <p:txBody>
          <a:bodyPr wrap="square">
            <a:spAutoFit/>
          </a:bodyPr>
          <a:lstStyle/>
          <a:p>
            <a:pPr algn="l">
              <a:spcAft>
                <a:spcPts val="0"/>
              </a:spcAft>
            </a:pPr>
            <a:r>
              <a:rPr sz="1100" b="0">
                <a:solidFill>
                  <a:srgbClr val="1F2A44"/>
                </a:solidFill>
                <a:latin typeface="Calibri"/>
              </a:rPr>
              <a:t>AI-ready data product with a
semantic layer</a:t>
            </a:r>
          </a:p>
        </p:txBody>
      </p:sp>
      <p:sp>
        <p:nvSpPr>
          <p:cNvPr id="30" name="Rounded Rectangle 29"/>
          <p:cNvSpPr/>
          <p:nvPr/>
        </p:nvSpPr>
        <p:spPr>
          <a:xfrm>
            <a:off x="4480560" y="3867912"/>
            <a:ext cx="39319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08576" y="3941064"/>
            <a:ext cx="3712464" cy="658368"/>
          </a:xfrm>
          <a:prstGeom prst="rect">
            <a:avLst/>
          </a:prstGeom>
          <a:noFill/>
        </p:spPr>
        <p:txBody>
          <a:bodyPr wrap="square">
            <a:spAutoFit/>
          </a:bodyPr>
          <a:lstStyle/>
          <a:p>
            <a:pPr algn="l">
              <a:spcAft>
                <a:spcPts val="0"/>
              </a:spcAft>
            </a:pPr>
            <a:r>
              <a:rPr sz="1100" b="0">
                <a:solidFill>
                  <a:srgbClr val="1F2A44"/>
                </a:solidFill>
                <a:latin typeface="Calibri"/>
              </a:rPr>
              <a:t>core star schema + ai consumer
views + semantic/semantic.yaml,
validated against the live database</a:t>
            </a:r>
          </a:p>
        </p:txBody>
      </p:sp>
      <p:sp>
        <p:nvSpPr>
          <p:cNvPr id="32" name="Rounded Rectangle 31"/>
          <p:cNvSpPr/>
          <p:nvPr/>
        </p:nvSpPr>
        <p:spPr>
          <a:xfrm>
            <a:off x="8412480" y="3867912"/>
            <a:ext cx="34747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40496" y="3941064"/>
            <a:ext cx="3255264" cy="658368"/>
          </a:xfrm>
          <a:prstGeom prst="rect">
            <a:avLst/>
          </a:prstGeom>
          <a:noFill/>
        </p:spPr>
        <p:txBody>
          <a:bodyPr wrap="square">
            <a:spAutoFit/>
          </a:bodyPr>
          <a:lstStyle/>
          <a:p>
            <a:pPr algn="l">
              <a:spcAft>
                <a:spcPts val="0"/>
              </a:spcAft>
            </a:pPr>
            <a:r>
              <a:rPr sz="1100" b="0">
                <a:solidFill>
                  <a:srgbClr val="1F2A44"/>
                </a:solidFill>
                <a:latin typeface="Calibri"/>
              </a:rPr>
              <a:t>Model tab; grain, key and FK
checks; core = stg - quarantine</a:t>
            </a:r>
          </a:p>
        </p:txBody>
      </p:sp>
      <p:sp>
        <p:nvSpPr>
          <p:cNvPr id="34" name="Rounded Rectangle 33"/>
          <p:cNvSpPr/>
          <p:nvPr/>
        </p:nvSpPr>
        <p:spPr>
          <a:xfrm>
            <a:off x="548640" y="4617720"/>
            <a:ext cx="39319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4690872"/>
            <a:ext cx="3712464" cy="658368"/>
          </a:xfrm>
          <a:prstGeom prst="rect">
            <a:avLst/>
          </a:prstGeom>
          <a:noFill/>
        </p:spPr>
        <p:txBody>
          <a:bodyPr wrap="square">
            <a:spAutoFit/>
          </a:bodyPr>
          <a:lstStyle/>
          <a:p>
            <a:pPr algn="l">
              <a:spcAft>
                <a:spcPts val="0"/>
              </a:spcAft>
            </a:pPr>
            <a:r>
              <a:rPr sz="1100" b="0">
                <a:solidFill>
                  <a:srgbClr val="1F2A44"/>
                </a:solidFill>
                <a:latin typeface="Calibri"/>
              </a:rPr>
              <a:t>An LLM answering ten questions
with generated SQL and result</a:t>
            </a:r>
          </a:p>
        </p:txBody>
      </p:sp>
      <p:sp>
        <p:nvSpPr>
          <p:cNvPr id="36" name="Rounded Rectangle 35"/>
          <p:cNvSpPr/>
          <p:nvPr/>
        </p:nvSpPr>
        <p:spPr>
          <a:xfrm>
            <a:off x="4480560" y="4617720"/>
            <a:ext cx="39319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08576" y="4690872"/>
            <a:ext cx="3712464" cy="658368"/>
          </a:xfrm>
          <a:prstGeom prst="rect">
            <a:avLst/>
          </a:prstGeom>
          <a:noFill/>
        </p:spPr>
        <p:txBody>
          <a:bodyPr wrap="square">
            <a:spAutoFit/>
          </a:bodyPr>
          <a:lstStyle/>
          <a:p>
            <a:pPr algn="l">
              <a:spcAft>
                <a:spcPts val="0"/>
              </a:spcAft>
            </a:pPr>
            <a:r>
              <a:rPr sz="1100" b="0">
                <a:solidFill>
                  <a:srgbClr val="1F2A44"/>
                </a:solidFill>
                <a:latin typeface="Calibri"/>
              </a:rPr>
              <a:t>Questions and Q detail tabs - prompt,
model, raw response, guarded SQL,
result, reference answer</a:t>
            </a:r>
          </a:p>
        </p:txBody>
      </p:sp>
      <p:sp>
        <p:nvSpPr>
          <p:cNvPr id="38" name="Rounded Rectangle 37"/>
          <p:cNvSpPr/>
          <p:nvPr/>
        </p:nvSpPr>
        <p:spPr>
          <a:xfrm>
            <a:off x="8412480" y="4617720"/>
            <a:ext cx="3474720" cy="74980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40496" y="4690872"/>
            <a:ext cx="3255264" cy="658368"/>
          </a:xfrm>
          <a:prstGeom prst="rect">
            <a:avLst/>
          </a:prstGeom>
          <a:noFill/>
        </p:spPr>
        <p:txBody>
          <a:bodyPr wrap="square">
            <a:spAutoFit/>
          </a:bodyPr>
          <a:lstStyle/>
          <a:p>
            <a:pPr algn="l">
              <a:spcAft>
                <a:spcPts val="0"/>
              </a:spcAft>
            </a:pPr>
            <a:r>
              <a:rPr sz="1100" b="0">
                <a:solidFill>
                  <a:srgbClr val="1F2A44"/>
                </a:solidFill>
                <a:latin typeface="Calibri"/>
              </a:rPr>
              <a:t>10 of 10 correct first attempt;
every call logged to disk</a:t>
            </a:r>
          </a:p>
        </p:txBody>
      </p:sp>
      <p:sp>
        <p:nvSpPr>
          <p:cNvPr id="40" name="Rounded Rectangle 39"/>
          <p:cNvSpPr/>
          <p:nvPr/>
        </p:nvSpPr>
        <p:spPr>
          <a:xfrm>
            <a:off x="548640" y="5367528"/>
            <a:ext cx="39319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5440680"/>
            <a:ext cx="3712464" cy="658368"/>
          </a:xfrm>
          <a:prstGeom prst="rect">
            <a:avLst/>
          </a:prstGeom>
          <a:noFill/>
        </p:spPr>
        <p:txBody>
          <a:bodyPr wrap="square">
            <a:spAutoFit/>
          </a:bodyPr>
          <a:lstStyle/>
          <a:p>
            <a:pPr algn="l">
              <a:spcAft>
                <a:spcPts val="0"/>
              </a:spcAft>
            </a:pPr>
            <a:r>
              <a:rPr sz="1100" b="0">
                <a:solidFill>
                  <a:srgbClr val="1F2A44"/>
                </a:solidFill>
                <a:latin typeface="Calibri"/>
              </a:rPr>
              <a:t>Entitlements: each user sees only
their own clients, and an LLM query
cannot bypass it</a:t>
            </a:r>
          </a:p>
        </p:txBody>
      </p:sp>
      <p:sp>
        <p:nvSpPr>
          <p:cNvPr id="42" name="Rounded Rectangle 41"/>
          <p:cNvSpPr/>
          <p:nvPr/>
        </p:nvSpPr>
        <p:spPr>
          <a:xfrm>
            <a:off x="4480560" y="5367528"/>
            <a:ext cx="39319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08576" y="5440680"/>
            <a:ext cx="3712464" cy="658368"/>
          </a:xfrm>
          <a:prstGeom prst="rect">
            <a:avLst/>
          </a:prstGeom>
          <a:noFill/>
        </p:spPr>
        <p:txBody>
          <a:bodyPr wrap="square">
            <a:spAutoFit/>
          </a:bodyPr>
          <a:lstStyle/>
          <a:p>
            <a:pPr algn="l">
              <a:spcAft>
                <a:spcPts val="0"/>
              </a:spcAft>
            </a:pPr>
            <a:r>
              <a:rPr sz="1100" b="0">
                <a:solidFill>
                  <a:srgbClr val="1F2A44"/>
                </a:solidFill>
                <a:latin typeface="Calibri"/>
              </a:rPr>
              <a:t>Row level security on the base tables
+ security_invoker views; onboarding
is two inserts, no code change</a:t>
            </a:r>
          </a:p>
        </p:txBody>
      </p:sp>
      <p:sp>
        <p:nvSpPr>
          <p:cNvPr id="44" name="Rounded Rectangle 43"/>
          <p:cNvSpPr/>
          <p:nvPr/>
        </p:nvSpPr>
        <p:spPr>
          <a:xfrm>
            <a:off x="8412480" y="5367528"/>
            <a:ext cx="3474720" cy="74980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40496" y="5440680"/>
            <a:ext cx="3255264" cy="658368"/>
          </a:xfrm>
          <a:prstGeom prst="rect">
            <a:avLst/>
          </a:prstGeom>
          <a:noFill/>
        </p:spPr>
        <p:txBody>
          <a:bodyPr wrap="square">
            <a:spAutoFit/>
          </a:bodyPr>
          <a:lstStyle/>
          <a:p>
            <a:pPr algn="l">
              <a:spcAft>
                <a:spcPts val="0"/>
              </a:spcAft>
            </a:pPr>
            <a:r>
              <a:rPr sz="1100" b="0">
                <a:solidFill>
                  <a:srgbClr val="1F2A44"/>
                </a:solidFill>
                <a:latin typeface="Calibri"/>
              </a:rPr>
              <a:t>Entitlements tab: 5,369 / 1,481 /
1,386 / 0; nine bypass attempts
refused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2 OF 2 - THE ARTEFACTS AND THE DISCLOSURE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Completeness: every deliverable</a:t>
            </a:r>
          </a:p>
        </p:txBody>
      </p:sp>
      <p:sp>
        <p:nvSpPr>
          <p:cNvPr id="4" name="Rounded Rectangle 3"/>
          <p:cNvSpPr/>
          <p:nvPr/>
        </p:nvSpPr>
        <p:spPr>
          <a:xfrm>
            <a:off x="548640" y="1188720"/>
            <a:ext cx="3749039" cy="3840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6656" y="1261872"/>
            <a:ext cx="3529583" cy="292608"/>
          </a:xfrm>
          <a:prstGeom prst="rect">
            <a:avLst/>
          </a:prstGeom>
          <a:noFill/>
        </p:spPr>
        <p:txBody>
          <a:bodyPr wrap="square">
            <a:spAutoFit/>
          </a:bodyPr>
          <a:lstStyle/>
          <a:p>
            <a:pPr algn="l">
              <a:spcAft>
                <a:spcPts val="0"/>
              </a:spcAft>
            </a:pPr>
            <a:r>
              <a:rPr sz="1150" b="1">
                <a:solidFill>
                  <a:srgbClr val="FFFFFF"/>
                </a:solidFill>
                <a:latin typeface="Calibri"/>
              </a:rPr>
              <a:t>What the brief asks for</a:t>
            </a:r>
          </a:p>
        </p:txBody>
      </p:sp>
      <p:sp>
        <p:nvSpPr>
          <p:cNvPr id="6" name="Rounded Rectangle 5"/>
          <p:cNvSpPr/>
          <p:nvPr/>
        </p:nvSpPr>
        <p:spPr>
          <a:xfrm>
            <a:off x="4297679" y="1188720"/>
            <a:ext cx="4754880" cy="3840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25695" y="1261872"/>
            <a:ext cx="4535424" cy="292608"/>
          </a:xfrm>
          <a:prstGeom prst="rect">
            <a:avLst/>
          </a:prstGeom>
          <a:noFill/>
        </p:spPr>
        <p:txBody>
          <a:bodyPr wrap="square">
            <a:spAutoFit/>
          </a:bodyPr>
          <a:lstStyle/>
          <a:p>
            <a:pPr algn="l">
              <a:spcAft>
                <a:spcPts val="0"/>
              </a:spcAft>
            </a:pPr>
            <a:r>
              <a:rPr sz="1150" b="1">
                <a:solidFill>
                  <a:srgbClr val="FFFFFF"/>
                </a:solidFill>
                <a:latin typeface="Calibri"/>
              </a:rPr>
              <a:t>What was handed over</a:t>
            </a:r>
          </a:p>
        </p:txBody>
      </p:sp>
      <p:sp>
        <p:nvSpPr>
          <p:cNvPr id="8" name="Rounded Rectangle 7"/>
          <p:cNvSpPr/>
          <p:nvPr/>
        </p:nvSpPr>
        <p:spPr>
          <a:xfrm>
            <a:off x="9052559" y="1188720"/>
            <a:ext cx="2834640" cy="3840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80575" y="1261872"/>
            <a:ext cx="2615184" cy="292608"/>
          </a:xfrm>
          <a:prstGeom prst="rect">
            <a:avLst/>
          </a:prstGeom>
          <a:noFill/>
        </p:spPr>
        <p:txBody>
          <a:bodyPr wrap="square">
            <a:spAutoFit/>
          </a:bodyPr>
          <a:lstStyle/>
          <a:p>
            <a:pPr algn="l">
              <a:spcAft>
                <a:spcPts val="0"/>
              </a:spcAft>
            </a:pPr>
            <a:r>
              <a:rPr sz="1150" b="1">
                <a:solidFill>
                  <a:srgbClr val="FFFFFF"/>
                </a:solidFill>
                <a:latin typeface="Calibri"/>
              </a:rPr>
              <a:t>State</a:t>
            </a:r>
          </a:p>
        </p:txBody>
      </p:sp>
      <p:sp>
        <p:nvSpPr>
          <p:cNvPr id="10" name="Rounded Rectangle 9"/>
          <p:cNvSpPr/>
          <p:nvPr/>
        </p:nvSpPr>
        <p:spPr>
          <a:xfrm>
            <a:off x="548640" y="1572768"/>
            <a:ext cx="3749039"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645920"/>
            <a:ext cx="3529583" cy="749808"/>
          </a:xfrm>
          <a:prstGeom prst="rect">
            <a:avLst/>
          </a:prstGeom>
          <a:noFill/>
        </p:spPr>
        <p:txBody>
          <a:bodyPr wrap="square">
            <a:spAutoFit/>
          </a:bodyPr>
          <a:lstStyle/>
          <a:p>
            <a:pPr algn="l">
              <a:spcAft>
                <a:spcPts val="0"/>
              </a:spcAft>
            </a:pPr>
            <a:r>
              <a:rPr sz="1100" b="0">
                <a:solidFill>
                  <a:srgbClr val="1F2A44"/>
                </a:solidFill>
                <a:latin typeface="Calibri"/>
              </a:rPr>
              <a:t>Excel: defect types, model
explanation, questions</a:t>
            </a:r>
          </a:p>
        </p:txBody>
      </p:sp>
      <p:sp>
        <p:nvSpPr>
          <p:cNvPr id="12" name="Rounded Rectangle 11"/>
          <p:cNvSpPr/>
          <p:nvPr/>
        </p:nvSpPr>
        <p:spPr>
          <a:xfrm>
            <a:off x="4297679" y="1572768"/>
            <a:ext cx="4754880"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5695" y="1645920"/>
            <a:ext cx="4535424" cy="749808"/>
          </a:xfrm>
          <a:prstGeom prst="rect">
            <a:avLst/>
          </a:prstGeom>
          <a:noFill/>
        </p:spPr>
        <p:txBody>
          <a:bodyPr wrap="square">
            <a:spAutoFit/>
          </a:bodyPr>
          <a:lstStyle/>
          <a:p>
            <a:pPr algn="l">
              <a:spcAft>
                <a:spcPts val="0"/>
              </a:spcAft>
            </a:pPr>
            <a:r>
              <a:rPr sz="1100" b="0">
                <a:solidFill>
                  <a:srgbClr val="1F2A44"/>
                </a:solidFill>
                <a:latin typeface="Calibri"/>
              </a:rPr>
              <a:t>Berka_TakeHome_Submission.xlsx -
nine tabs; the three required plus
Q detail, DQ rules, Assumptions,
Entitlements, Run log, Overview</a:t>
            </a:r>
          </a:p>
        </p:txBody>
      </p:sp>
      <p:sp>
        <p:nvSpPr>
          <p:cNvPr id="14" name="Rounded Rectangle 13"/>
          <p:cNvSpPr/>
          <p:nvPr/>
        </p:nvSpPr>
        <p:spPr>
          <a:xfrm>
            <a:off x="9052559" y="1572768"/>
            <a:ext cx="2834640"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0575" y="1645920"/>
            <a:ext cx="2615184" cy="749808"/>
          </a:xfrm>
          <a:prstGeom prst="rect">
            <a:avLst/>
          </a:prstGeom>
          <a:noFill/>
        </p:spPr>
        <p:txBody>
          <a:bodyPr wrap="square">
            <a:spAutoFit/>
          </a:bodyPr>
          <a:lstStyle/>
          <a:p>
            <a:pPr algn="l">
              <a:spcAft>
                <a:spcPts val="0"/>
              </a:spcAft>
            </a:pPr>
            <a:r>
              <a:rPr sz="1100" b="0">
                <a:solidFill>
                  <a:srgbClr val="1F2A44"/>
                </a:solidFill>
                <a:latin typeface="Calibri"/>
              </a:rPr>
              <a:t>Complete; every cell
generated</a:t>
            </a:r>
          </a:p>
        </p:txBody>
      </p:sp>
      <p:sp>
        <p:nvSpPr>
          <p:cNvPr id="16" name="Rounded Rectangle 15"/>
          <p:cNvSpPr/>
          <p:nvPr/>
        </p:nvSpPr>
        <p:spPr>
          <a:xfrm>
            <a:off x="548640" y="2414016"/>
            <a:ext cx="3749039"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2487168"/>
            <a:ext cx="3529583" cy="749808"/>
          </a:xfrm>
          <a:prstGeom prst="rect">
            <a:avLst/>
          </a:prstGeom>
          <a:noFill/>
        </p:spPr>
        <p:txBody>
          <a:bodyPr wrap="square">
            <a:spAutoFit/>
          </a:bodyPr>
          <a:lstStyle/>
          <a:p>
            <a:pPr algn="l">
              <a:spcAft>
                <a:spcPts val="0"/>
              </a:spcAft>
            </a:pPr>
            <a:r>
              <a:rPr sz="1100" b="0">
                <a:solidFill>
                  <a:srgbClr val="1F2A44"/>
                </a:solidFill>
                <a:latin typeface="Calibri"/>
              </a:rPr>
              <a:t>A ZIP of the semantic solution
and the code</a:t>
            </a:r>
          </a:p>
        </p:txBody>
      </p:sp>
      <p:sp>
        <p:nvSpPr>
          <p:cNvPr id="18" name="Rounded Rectangle 17"/>
          <p:cNvSpPr/>
          <p:nvPr/>
        </p:nvSpPr>
        <p:spPr>
          <a:xfrm>
            <a:off x="4297679" y="2414016"/>
            <a:ext cx="4754880"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25695" y="2487168"/>
            <a:ext cx="4535424" cy="749808"/>
          </a:xfrm>
          <a:prstGeom prst="rect">
            <a:avLst/>
          </a:prstGeom>
          <a:noFill/>
        </p:spPr>
        <p:txBody>
          <a:bodyPr wrap="square">
            <a:spAutoFit/>
          </a:bodyPr>
          <a:lstStyle/>
          <a:p>
            <a:pPr algn="l">
              <a:spcAft>
                <a:spcPts val="0"/>
              </a:spcAft>
            </a:pPr>
            <a:r>
              <a:rPr sz="1100" b="0">
                <a:solidFill>
                  <a:srgbClr val="1F2A44"/>
                </a:solidFill>
                <a:latin typeface="Calibri"/>
              </a:rPr>
              <a:t>semantic_solution.zip - 135 files,
with a manifest that says which part
is the assessed pipeline and which
is next-step work</a:t>
            </a:r>
          </a:p>
        </p:txBody>
      </p:sp>
      <p:sp>
        <p:nvSpPr>
          <p:cNvPr id="20" name="Rounded Rectangle 19"/>
          <p:cNvSpPr/>
          <p:nvPr/>
        </p:nvSpPr>
        <p:spPr>
          <a:xfrm>
            <a:off x="9052559" y="2414016"/>
            <a:ext cx="2834640"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575" y="2487168"/>
            <a:ext cx="2615184" cy="749808"/>
          </a:xfrm>
          <a:prstGeom prst="rect">
            <a:avLst/>
          </a:prstGeom>
          <a:noFill/>
        </p:spPr>
        <p:txBody>
          <a:bodyPr wrap="square">
            <a:spAutoFit/>
          </a:bodyPr>
          <a:lstStyle/>
          <a:p>
            <a:pPr algn="l">
              <a:spcAft>
                <a:spcPts val="0"/>
              </a:spcAft>
            </a:pPr>
            <a:r>
              <a:rPr sz="1100" b="0">
                <a:solidFill>
                  <a:srgbClr val="1F2A44"/>
                </a:solidFill>
                <a:latin typeface="Calibri"/>
              </a:rPr>
              <a:t>Complete</a:t>
            </a:r>
          </a:p>
        </p:txBody>
      </p:sp>
      <p:sp>
        <p:nvSpPr>
          <p:cNvPr id="22" name="Rounded Rectangle 21"/>
          <p:cNvSpPr/>
          <p:nvPr/>
        </p:nvSpPr>
        <p:spPr>
          <a:xfrm>
            <a:off x="548640" y="3255264"/>
            <a:ext cx="3749039"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3328416"/>
            <a:ext cx="3529583" cy="749808"/>
          </a:xfrm>
          <a:prstGeom prst="rect">
            <a:avLst/>
          </a:prstGeom>
          <a:noFill/>
        </p:spPr>
        <p:txBody>
          <a:bodyPr wrap="square">
            <a:spAutoFit/>
          </a:bodyPr>
          <a:lstStyle/>
          <a:p>
            <a:pPr algn="l">
              <a:spcAft>
                <a:spcPts val="0"/>
              </a:spcAft>
            </a:pPr>
            <a:r>
              <a:rPr sz="1100" b="0">
                <a:solidFill>
                  <a:srgbClr val="1F2A44"/>
                </a:solidFill>
                <a:latin typeface="Calibri"/>
              </a:rPr>
              <a:t>Design Decision Record, max two
pages: options, choice, why, cost,
and what breaks at 100,000x</a:t>
            </a:r>
          </a:p>
        </p:txBody>
      </p:sp>
      <p:sp>
        <p:nvSpPr>
          <p:cNvPr id="24" name="Rounded Rectangle 23"/>
          <p:cNvSpPr/>
          <p:nvPr/>
        </p:nvSpPr>
        <p:spPr>
          <a:xfrm>
            <a:off x="4297679" y="3255264"/>
            <a:ext cx="4754880"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25695" y="3328416"/>
            <a:ext cx="4535424" cy="749808"/>
          </a:xfrm>
          <a:prstGeom prst="rect">
            <a:avLst/>
          </a:prstGeom>
          <a:noFill/>
        </p:spPr>
        <p:txBody>
          <a:bodyPr wrap="square">
            <a:spAutoFit/>
          </a:bodyPr>
          <a:lstStyle/>
          <a:p>
            <a:pPr algn="l">
              <a:spcAft>
                <a:spcPts val="0"/>
              </a:spcAft>
            </a:pPr>
            <a:r>
              <a:rPr sz="1100" b="0">
                <a:solidFill>
                  <a:srgbClr val="1F2A44"/>
                </a:solidFill>
                <a:latin typeface="Calibri"/>
              </a:rPr>
              <a:t>DDR.pdf and DDR.docx - twelve
decisions in options / chosen / why /
cost form, plus the four things that
break, named specifically</a:t>
            </a:r>
          </a:p>
        </p:txBody>
      </p:sp>
      <p:sp>
        <p:nvSpPr>
          <p:cNvPr id="26" name="Rounded Rectangle 25"/>
          <p:cNvSpPr/>
          <p:nvPr/>
        </p:nvSpPr>
        <p:spPr>
          <a:xfrm>
            <a:off x="9052559" y="3255264"/>
            <a:ext cx="2834640"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0575" y="3328416"/>
            <a:ext cx="2615184" cy="749808"/>
          </a:xfrm>
          <a:prstGeom prst="rect">
            <a:avLst/>
          </a:prstGeom>
          <a:noFill/>
        </p:spPr>
        <p:txBody>
          <a:bodyPr wrap="square">
            <a:spAutoFit/>
          </a:bodyPr>
          <a:lstStyle/>
          <a:p>
            <a:pPr algn="l">
              <a:spcAft>
                <a:spcPts val="0"/>
              </a:spcAft>
            </a:pPr>
            <a:r>
              <a:rPr sz="1100" b="0">
                <a:solidFill>
                  <a:srgbClr val="1F2A44"/>
                </a:solidFill>
                <a:latin typeface="Calibri"/>
              </a:rPr>
              <a:t>Complete; two pages,
checked</a:t>
            </a:r>
          </a:p>
        </p:txBody>
      </p:sp>
      <p:sp>
        <p:nvSpPr>
          <p:cNvPr id="28" name="Rounded Rectangle 27"/>
          <p:cNvSpPr/>
          <p:nvPr/>
        </p:nvSpPr>
        <p:spPr>
          <a:xfrm>
            <a:off x="548640" y="4096512"/>
            <a:ext cx="3749039"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4169664"/>
            <a:ext cx="3529583" cy="749808"/>
          </a:xfrm>
          <a:prstGeom prst="rect">
            <a:avLst/>
          </a:prstGeom>
          <a:noFill/>
        </p:spPr>
        <p:txBody>
          <a:bodyPr wrap="square">
            <a:spAutoFit/>
          </a:bodyPr>
          <a:lstStyle/>
          <a:p>
            <a:pPr algn="l">
              <a:spcAft>
                <a:spcPts val="0"/>
              </a:spcAft>
            </a:pPr>
            <a:r>
              <a:rPr sz="1100" b="0">
                <a:solidFill>
                  <a:srgbClr val="1F2A44"/>
                </a:solidFill>
                <a:latin typeface="Calibri"/>
              </a:rPr>
              <a:t>Full AI-tooling disclosure</a:t>
            </a:r>
          </a:p>
        </p:txBody>
      </p:sp>
      <p:sp>
        <p:nvSpPr>
          <p:cNvPr id="30" name="Rounded Rectangle 29"/>
          <p:cNvSpPr/>
          <p:nvPr/>
        </p:nvSpPr>
        <p:spPr>
          <a:xfrm>
            <a:off x="4297679" y="4096512"/>
            <a:ext cx="4754880"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25695" y="4169664"/>
            <a:ext cx="4535424" cy="749808"/>
          </a:xfrm>
          <a:prstGeom prst="rect">
            <a:avLst/>
          </a:prstGeom>
          <a:noFill/>
        </p:spPr>
        <p:txBody>
          <a:bodyPr wrap="square">
            <a:spAutoFit/>
          </a:bodyPr>
          <a:lstStyle/>
          <a:p>
            <a:pPr algn="l">
              <a:spcAft>
                <a:spcPts val="0"/>
              </a:spcAft>
            </a:pPr>
            <a:r>
              <a:rPr sz="1100" b="0">
                <a:solidFill>
                  <a:srgbClr val="1F2A44"/>
                </a:solidFill>
                <a:latin typeface="Calibri"/>
              </a:rPr>
              <a:t>AI_DISCLOSURE.md - which model, for
what, with what access, and what was
hand-written: the reference answers
and all 88 rules</a:t>
            </a:r>
          </a:p>
        </p:txBody>
      </p:sp>
      <p:sp>
        <p:nvSpPr>
          <p:cNvPr id="32" name="Rounded Rectangle 31"/>
          <p:cNvSpPr/>
          <p:nvPr/>
        </p:nvSpPr>
        <p:spPr>
          <a:xfrm>
            <a:off x="9052559" y="4096512"/>
            <a:ext cx="2834640"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80575" y="4169664"/>
            <a:ext cx="2615184" cy="749808"/>
          </a:xfrm>
          <a:prstGeom prst="rect">
            <a:avLst/>
          </a:prstGeom>
          <a:noFill/>
        </p:spPr>
        <p:txBody>
          <a:bodyPr wrap="square">
            <a:spAutoFit/>
          </a:bodyPr>
          <a:lstStyle/>
          <a:p>
            <a:pPr algn="l">
              <a:spcAft>
                <a:spcPts val="0"/>
              </a:spcAft>
            </a:pPr>
            <a:r>
              <a:rPr sz="1100" b="0">
                <a:solidFill>
                  <a:srgbClr val="1F2A44"/>
                </a:solidFill>
                <a:latin typeface="Calibri"/>
              </a:rPr>
              <a:t>Complete</a:t>
            </a:r>
          </a:p>
        </p:txBody>
      </p:sp>
      <p:sp>
        <p:nvSpPr>
          <p:cNvPr id="34" name="Rounded Rectangle 33"/>
          <p:cNvSpPr/>
          <p:nvPr/>
        </p:nvSpPr>
        <p:spPr>
          <a:xfrm>
            <a:off x="548640" y="4937760"/>
            <a:ext cx="3749039"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010912"/>
            <a:ext cx="3529583" cy="749808"/>
          </a:xfrm>
          <a:prstGeom prst="rect">
            <a:avLst/>
          </a:prstGeom>
          <a:noFill/>
        </p:spPr>
        <p:txBody>
          <a:bodyPr wrap="square">
            <a:spAutoFit/>
          </a:bodyPr>
          <a:lstStyle/>
          <a:p>
            <a:pPr algn="l">
              <a:spcAft>
                <a:spcPts val="0"/>
              </a:spcAft>
            </a:pPr>
            <a:r>
              <a:rPr sz="1100" b="0">
                <a:solidFill>
                  <a:srgbClr val="1F2A44"/>
                </a:solidFill>
                <a:latin typeface="Calibri"/>
              </a:rPr>
              <a:t>Assumptions stated explicitly</a:t>
            </a:r>
          </a:p>
        </p:txBody>
      </p:sp>
      <p:sp>
        <p:nvSpPr>
          <p:cNvPr id="36" name="Rounded Rectangle 35"/>
          <p:cNvSpPr/>
          <p:nvPr/>
        </p:nvSpPr>
        <p:spPr>
          <a:xfrm>
            <a:off x="4297679" y="4937760"/>
            <a:ext cx="4754880"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25695" y="5010912"/>
            <a:ext cx="4535424" cy="749808"/>
          </a:xfrm>
          <a:prstGeom prst="rect">
            <a:avLst/>
          </a:prstGeom>
          <a:noFill/>
        </p:spPr>
        <p:txBody>
          <a:bodyPr wrap="square">
            <a:spAutoFit/>
          </a:bodyPr>
          <a:lstStyle/>
          <a:p>
            <a:pPr algn="l">
              <a:spcAft>
                <a:spcPts val="0"/>
              </a:spcAft>
            </a:pPr>
            <a:r>
              <a:rPr sz="1100" b="0">
                <a:solidFill>
                  <a:srgbClr val="1F2A44"/>
                </a:solidFill>
                <a:latin typeface="Calibri"/>
              </a:rPr>
              <a:t>ASSUMPTIONS.md - A1 to A24, each
with what was assumed, why, and what
would change if it were wrong</a:t>
            </a:r>
          </a:p>
        </p:txBody>
      </p:sp>
      <p:sp>
        <p:nvSpPr>
          <p:cNvPr id="38" name="Rounded Rectangle 37"/>
          <p:cNvSpPr/>
          <p:nvPr/>
        </p:nvSpPr>
        <p:spPr>
          <a:xfrm>
            <a:off x="9052559" y="4937760"/>
            <a:ext cx="2834640" cy="841248"/>
          </a:xfrm>
          <a:prstGeom prst="roundRect">
            <a:avLst>
              <a:gd name="adj" fmla="val 4000"/>
            </a:avLst>
          </a:prstGeom>
          <a:solidFill>
            <a:srgbClr val="F7F9FC"/>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80575" y="5010912"/>
            <a:ext cx="2615184" cy="749808"/>
          </a:xfrm>
          <a:prstGeom prst="rect">
            <a:avLst/>
          </a:prstGeom>
          <a:noFill/>
        </p:spPr>
        <p:txBody>
          <a:bodyPr wrap="square">
            <a:spAutoFit/>
          </a:bodyPr>
          <a:lstStyle/>
          <a:p>
            <a:pPr algn="l">
              <a:spcAft>
                <a:spcPts val="0"/>
              </a:spcAft>
            </a:pPr>
            <a:r>
              <a:rPr sz="1100" b="0">
                <a:solidFill>
                  <a:srgbClr val="1F2A44"/>
                </a:solidFill>
                <a:latin typeface="Calibri"/>
              </a:rPr>
              <a:t>Complete; rendered
into the workbook</a:t>
            </a:r>
          </a:p>
        </p:txBody>
      </p:sp>
      <p:sp>
        <p:nvSpPr>
          <p:cNvPr id="40" name="Rounded Rectangle 39"/>
          <p:cNvSpPr/>
          <p:nvPr/>
        </p:nvSpPr>
        <p:spPr>
          <a:xfrm>
            <a:off x="548640" y="5779008"/>
            <a:ext cx="3749039"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5852160"/>
            <a:ext cx="3529583" cy="749808"/>
          </a:xfrm>
          <a:prstGeom prst="rect">
            <a:avLst/>
          </a:prstGeom>
          <a:noFill/>
        </p:spPr>
        <p:txBody>
          <a:bodyPr wrap="square">
            <a:spAutoFit/>
          </a:bodyPr>
          <a:lstStyle/>
          <a:p>
            <a:pPr algn="l">
              <a:spcAft>
                <a:spcPts val="0"/>
              </a:spcAft>
            </a:pPr>
            <a:r>
              <a:rPr sz="1100" b="0">
                <a:solidFill>
                  <a:srgbClr val="1F2A44"/>
                </a:solidFill>
                <a:latin typeface="Calibri"/>
              </a:rPr>
              <a:t>Plain-language walkthrough
(asked for in this session)</a:t>
            </a:r>
          </a:p>
        </p:txBody>
      </p:sp>
      <p:sp>
        <p:nvSpPr>
          <p:cNvPr id="42" name="Rounded Rectangle 41"/>
          <p:cNvSpPr/>
          <p:nvPr/>
        </p:nvSpPr>
        <p:spPr>
          <a:xfrm>
            <a:off x="4297679" y="5779008"/>
            <a:ext cx="4754880"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25695" y="5852160"/>
            <a:ext cx="4535424" cy="749808"/>
          </a:xfrm>
          <a:prstGeom prst="rect">
            <a:avLst/>
          </a:prstGeom>
          <a:noFill/>
        </p:spPr>
        <p:txBody>
          <a:bodyPr wrap="square">
            <a:spAutoFit/>
          </a:bodyPr>
          <a:lstStyle/>
          <a:p>
            <a:pPr algn="l">
              <a:spcAft>
                <a:spcPts val="0"/>
              </a:spcAft>
            </a:pPr>
            <a:r>
              <a:rPr sz="1100" b="0">
                <a:solidFill>
                  <a:srgbClr val="1F2A44"/>
                </a:solidFill>
                <a:latin typeface="Calibri"/>
              </a:rPr>
              <a:t>HOW_WE_WORKED_SIMPLY.md, VISUAL_GUIDE
with ten figures, and this deck</a:t>
            </a:r>
          </a:p>
        </p:txBody>
      </p:sp>
      <p:sp>
        <p:nvSpPr>
          <p:cNvPr id="44" name="Rounded Rectangle 43"/>
          <p:cNvSpPr/>
          <p:nvPr/>
        </p:nvSpPr>
        <p:spPr>
          <a:xfrm>
            <a:off x="9052559" y="5779008"/>
            <a:ext cx="2834640" cy="841248"/>
          </a:xfrm>
          <a:prstGeom prst="roundRect">
            <a:avLst>
              <a:gd name="adj" fmla="val 4000"/>
            </a:avLst>
          </a:prstGeom>
          <a:solidFill>
            <a:srgbClr val="FFFFFF"/>
          </a:solidFill>
          <a:ln w="9525">
            <a:solidFill>
              <a:srgbClr val="DDE3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80575" y="5852160"/>
            <a:ext cx="2615184" cy="749808"/>
          </a:xfrm>
          <a:prstGeom prst="rect">
            <a:avLst/>
          </a:prstGeom>
          <a:noFill/>
        </p:spPr>
        <p:txBody>
          <a:bodyPr wrap="square">
            <a:spAutoFit/>
          </a:bodyPr>
          <a:lstStyle/>
          <a:p>
            <a:pPr algn="l">
              <a:spcAft>
                <a:spcPts val="0"/>
              </a:spcAft>
            </a:pPr>
            <a:r>
              <a:rPr sz="1100" b="0">
                <a:solidFill>
                  <a:srgbClr val="1F2A44"/>
                </a:solidFill>
                <a:latin typeface="Calibri"/>
              </a:rPr>
              <a:t>Complete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IN DEPENDENCY ORDER, NOT BY APPEAL</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What would be done next</a:t>
            </a:r>
          </a:p>
        </p:txBody>
      </p:sp>
      <p:sp>
        <p:nvSpPr>
          <p:cNvPr id="4" name="TextBox 3"/>
          <p:cNvSpPr txBox="1"/>
          <p:nvPr/>
        </p:nvSpPr>
        <p:spPr>
          <a:xfrm>
            <a:off x="640080" y="1234440"/>
            <a:ext cx="10972800" cy="365760"/>
          </a:xfrm>
          <a:prstGeom prst="rect">
            <a:avLst/>
          </a:prstGeom>
          <a:noFill/>
        </p:spPr>
        <p:txBody>
          <a:bodyPr wrap="square">
            <a:spAutoFit/>
          </a:bodyPr>
          <a:lstStyle/>
          <a:p>
            <a:pPr algn="l">
              <a:spcAft>
                <a:spcPts val="800"/>
              </a:spcAft>
            </a:pPr>
            <a:r>
              <a:rPr sz="1550" b="0">
                <a:solidFill>
                  <a:srgbClr val="5B6472"/>
                </a:solidFill>
                <a:latin typeface="Calibri"/>
              </a:rPr>
              <a:t>Nothing below is needed for the brief. It is the order the work would continue in, and each item unblocks the next.</a:t>
            </a:r>
          </a:p>
        </p:txBody>
      </p:sp>
      <p:sp>
        <p:nvSpPr>
          <p:cNvPr id="5" name="Rounded Rectangle 4"/>
          <p:cNvSpPr/>
          <p:nvPr/>
        </p:nvSpPr>
        <p:spPr>
          <a:xfrm>
            <a:off x="548640" y="1783080"/>
            <a:ext cx="475488" cy="841248"/>
          </a:xfrm>
          <a:prstGeom prst="roundRect">
            <a:avLst>
              <a:gd name="adj" fmla="val 4000"/>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02536"/>
            <a:ext cx="475488" cy="411480"/>
          </a:xfrm>
          <a:prstGeom prst="rect">
            <a:avLst/>
          </a:prstGeom>
          <a:noFill/>
        </p:spPr>
        <p:txBody>
          <a:bodyPr wrap="square">
            <a:spAutoFit/>
          </a:bodyPr>
          <a:lstStyle/>
          <a:p>
            <a:pPr algn="ctr">
              <a:spcAft>
                <a:spcPts val="0"/>
              </a:spcAft>
            </a:pPr>
            <a:r>
              <a:rPr sz="1900" b="1">
                <a:solidFill>
                  <a:srgbClr val="FFFFFF"/>
                </a:solidFill>
                <a:latin typeface="Calibri"/>
              </a:rPr>
              <a:t>1</a:t>
            </a:r>
          </a:p>
        </p:txBody>
      </p:sp>
      <p:sp>
        <p:nvSpPr>
          <p:cNvPr id="7" name="Rounded Rectangle 6"/>
          <p:cNvSpPr/>
          <p:nvPr/>
        </p:nvSpPr>
        <p:spPr>
          <a:xfrm>
            <a:off x="1024128" y="1783080"/>
            <a:ext cx="10652760" cy="8412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865376"/>
            <a:ext cx="10241280" cy="292608"/>
          </a:xfrm>
          <a:prstGeom prst="rect">
            <a:avLst/>
          </a:prstGeom>
          <a:noFill/>
        </p:spPr>
        <p:txBody>
          <a:bodyPr wrap="square">
            <a:spAutoFit/>
          </a:bodyPr>
          <a:lstStyle/>
          <a:p>
            <a:pPr algn="l">
              <a:spcAft>
                <a:spcPts val="0"/>
              </a:spcAft>
            </a:pPr>
            <a:r>
              <a:rPr sz="1450" b="1">
                <a:solidFill>
                  <a:srgbClr val="1F2A44"/>
                </a:solidFill>
                <a:latin typeface="Calibri"/>
              </a:rPr>
              <a:t>Write the six Bronze tests</a:t>
            </a:r>
          </a:p>
        </p:txBody>
      </p:sp>
      <p:sp>
        <p:nvSpPr>
          <p:cNvPr id="9" name="TextBox 8"/>
          <p:cNvSpPr txBox="1"/>
          <p:nvPr/>
        </p:nvSpPr>
        <p:spPr>
          <a:xfrm>
            <a:off x="1234440" y="2167128"/>
            <a:ext cx="10241280" cy="411480"/>
          </a:xfrm>
          <a:prstGeom prst="rect">
            <a:avLst/>
          </a:prstGeom>
          <a:noFill/>
        </p:spPr>
        <p:txBody>
          <a:bodyPr wrap="square">
            <a:spAutoFit/>
          </a:bodyPr>
          <a:lstStyle/>
          <a:p>
            <a:pPr algn="l">
              <a:spcAft>
                <a:spcPts val="0"/>
              </a:spcAft>
            </a:pPr>
            <a:r>
              <a:rPr sz="1200" b="0">
                <a:solidFill>
                  <a:srgbClr val="5B6472"/>
                </a:solidFill>
                <a:latin typeface="Calibri"/>
              </a:rPr>
              <a:t>Nothing else in the layered plan can be verified until they exist.</a:t>
            </a:r>
          </a:p>
        </p:txBody>
      </p:sp>
      <p:sp>
        <p:nvSpPr>
          <p:cNvPr id="10" name="Rounded Rectangle 9"/>
          <p:cNvSpPr/>
          <p:nvPr/>
        </p:nvSpPr>
        <p:spPr>
          <a:xfrm>
            <a:off x="548640" y="2715768"/>
            <a:ext cx="475488" cy="841248"/>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35224"/>
            <a:ext cx="475488" cy="411480"/>
          </a:xfrm>
          <a:prstGeom prst="rect">
            <a:avLst/>
          </a:prstGeom>
          <a:noFill/>
        </p:spPr>
        <p:txBody>
          <a:bodyPr wrap="square">
            <a:spAutoFit/>
          </a:bodyPr>
          <a:lstStyle/>
          <a:p>
            <a:pPr algn="ctr">
              <a:spcAft>
                <a:spcPts val="0"/>
              </a:spcAft>
            </a:pPr>
            <a:r>
              <a:rPr sz="1900" b="1">
                <a:solidFill>
                  <a:srgbClr val="FFFFFF"/>
                </a:solidFill>
                <a:latin typeface="Calibri"/>
              </a:rPr>
              <a:t>2</a:t>
            </a:r>
          </a:p>
        </p:txBody>
      </p:sp>
      <p:sp>
        <p:nvSpPr>
          <p:cNvPr id="12" name="Rounded Rectangle 11"/>
          <p:cNvSpPr/>
          <p:nvPr/>
        </p:nvSpPr>
        <p:spPr>
          <a:xfrm>
            <a:off x="1024128" y="2715768"/>
            <a:ext cx="10652760" cy="8412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2798064"/>
            <a:ext cx="10241280" cy="292608"/>
          </a:xfrm>
          <a:prstGeom prst="rect">
            <a:avLst/>
          </a:prstGeom>
          <a:noFill/>
        </p:spPr>
        <p:txBody>
          <a:bodyPr wrap="square">
            <a:spAutoFit/>
          </a:bodyPr>
          <a:lstStyle/>
          <a:p>
            <a:pPr algn="l">
              <a:spcAft>
                <a:spcPts val="0"/>
              </a:spcAft>
            </a:pPr>
            <a:r>
              <a:rPr sz="1450" b="1">
                <a:solidFill>
                  <a:srgbClr val="1F2A44"/>
                </a:solidFill>
                <a:latin typeface="Calibri"/>
              </a:rPr>
              <a:t>Split the test suite by layer</a:t>
            </a:r>
          </a:p>
        </p:txBody>
      </p:sp>
      <p:sp>
        <p:nvSpPr>
          <p:cNvPr id="14" name="TextBox 13"/>
          <p:cNvSpPr txBox="1"/>
          <p:nvPr/>
        </p:nvSpPr>
        <p:spPr>
          <a:xfrm>
            <a:off x="1234440" y="3099816"/>
            <a:ext cx="10241280" cy="411480"/>
          </a:xfrm>
          <a:prstGeom prst="rect">
            <a:avLst/>
          </a:prstGeom>
          <a:noFill/>
        </p:spPr>
        <p:txBody>
          <a:bodyPr wrap="square">
            <a:spAutoFit/>
          </a:bodyPr>
          <a:lstStyle/>
          <a:p>
            <a:pPr algn="l">
              <a:spcAft>
                <a:spcPts val="0"/>
              </a:spcAft>
            </a:pPr>
            <a:r>
              <a:rPr sz="1200" b="0">
                <a:solidFill>
                  <a:srgbClr val="5B6472"/>
                </a:solidFill>
                <a:latin typeface="Calibri"/>
              </a:rPr>
              <a:t>tests/bronze | silver | gold, and make bronze | silver | gold. An hour, no production code moves, and the agents' acceptance criteria become runnable.</a:t>
            </a:r>
          </a:p>
        </p:txBody>
      </p:sp>
      <p:sp>
        <p:nvSpPr>
          <p:cNvPr id="15" name="Rounded Rectangle 14"/>
          <p:cNvSpPr/>
          <p:nvPr/>
        </p:nvSpPr>
        <p:spPr>
          <a:xfrm>
            <a:off x="548640" y="3648456"/>
            <a:ext cx="475488" cy="841248"/>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867912"/>
            <a:ext cx="475488" cy="411480"/>
          </a:xfrm>
          <a:prstGeom prst="rect">
            <a:avLst/>
          </a:prstGeom>
          <a:noFill/>
        </p:spPr>
        <p:txBody>
          <a:bodyPr wrap="square">
            <a:spAutoFit/>
          </a:bodyPr>
          <a:lstStyle/>
          <a:p>
            <a:pPr algn="ctr">
              <a:spcAft>
                <a:spcPts val="0"/>
              </a:spcAft>
            </a:pPr>
            <a:r>
              <a:rPr sz="1900" b="1">
                <a:solidFill>
                  <a:srgbClr val="FFFFFF"/>
                </a:solidFill>
                <a:latin typeface="Calibri"/>
              </a:rPr>
              <a:t>3</a:t>
            </a:r>
          </a:p>
        </p:txBody>
      </p:sp>
      <p:sp>
        <p:nvSpPr>
          <p:cNvPr id="17" name="Rounded Rectangle 16"/>
          <p:cNvSpPr/>
          <p:nvPr/>
        </p:nvSpPr>
        <p:spPr>
          <a:xfrm>
            <a:off x="1024128" y="3648456"/>
            <a:ext cx="10652760" cy="8412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3730752"/>
            <a:ext cx="10241280" cy="292608"/>
          </a:xfrm>
          <a:prstGeom prst="rect">
            <a:avLst/>
          </a:prstGeom>
          <a:noFill/>
        </p:spPr>
        <p:txBody>
          <a:bodyPr wrap="square">
            <a:spAutoFit/>
          </a:bodyPr>
          <a:lstStyle/>
          <a:p>
            <a:pPr algn="l">
              <a:spcAft>
                <a:spcPts val="0"/>
              </a:spcAft>
            </a:pPr>
            <a:r>
              <a:rPr sz="1450" b="1">
                <a:solidFill>
                  <a:srgbClr val="1F2A44"/>
                </a:solidFill>
                <a:latin typeface="Calibri"/>
              </a:rPr>
              <a:t>Add a session-start hook so the database comes up by itself</a:t>
            </a:r>
          </a:p>
        </p:txBody>
      </p:sp>
      <p:sp>
        <p:nvSpPr>
          <p:cNvPr id="19" name="TextBox 18"/>
          <p:cNvSpPr txBox="1"/>
          <p:nvPr/>
        </p:nvSpPr>
        <p:spPr>
          <a:xfrm>
            <a:off x="1234440" y="4032504"/>
            <a:ext cx="10241280" cy="411480"/>
          </a:xfrm>
          <a:prstGeom prst="rect">
            <a:avLst/>
          </a:prstGeom>
          <a:noFill/>
        </p:spPr>
        <p:txBody>
          <a:bodyPr wrap="square">
            <a:spAutoFit/>
          </a:bodyPr>
          <a:lstStyle/>
          <a:p>
            <a:pPr algn="l">
              <a:spcAft>
                <a:spcPts val="0"/>
              </a:spcAft>
            </a:pPr>
            <a:r>
              <a:rPr sz="1200" b="0">
                <a:solidFill>
                  <a:srgbClr val="5B6472"/>
                </a:solidFill>
                <a:latin typeface="Calibri"/>
              </a:rPr>
              <a:t>The cluster stopped three times during the build and needed a manual restart. Fifteen minutes.</a:t>
            </a:r>
          </a:p>
        </p:txBody>
      </p:sp>
      <p:sp>
        <p:nvSpPr>
          <p:cNvPr id="20" name="Rounded Rectangle 19"/>
          <p:cNvSpPr/>
          <p:nvPr/>
        </p:nvSpPr>
        <p:spPr>
          <a:xfrm>
            <a:off x="548640" y="4581144"/>
            <a:ext cx="475488" cy="8412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800600"/>
            <a:ext cx="475488" cy="411480"/>
          </a:xfrm>
          <a:prstGeom prst="rect">
            <a:avLst/>
          </a:prstGeom>
          <a:noFill/>
        </p:spPr>
        <p:txBody>
          <a:bodyPr wrap="square">
            <a:spAutoFit/>
          </a:bodyPr>
          <a:lstStyle/>
          <a:p>
            <a:pPr algn="ctr">
              <a:spcAft>
                <a:spcPts val="0"/>
              </a:spcAft>
            </a:pPr>
            <a:r>
              <a:rPr sz="1900" b="1">
                <a:solidFill>
                  <a:srgbClr val="FFFFFF"/>
                </a:solidFill>
                <a:latin typeface="Calibri"/>
              </a:rPr>
              <a:t>4</a:t>
            </a:r>
          </a:p>
        </p:txBody>
      </p:sp>
      <p:sp>
        <p:nvSpPr>
          <p:cNvPr id="22" name="Rounded Rectangle 21"/>
          <p:cNvSpPr/>
          <p:nvPr/>
        </p:nvSpPr>
        <p:spPr>
          <a:xfrm>
            <a:off x="1024128" y="4581144"/>
            <a:ext cx="10652760" cy="8412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4663440"/>
            <a:ext cx="10241280" cy="292608"/>
          </a:xfrm>
          <a:prstGeom prst="rect">
            <a:avLst/>
          </a:prstGeom>
          <a:noFill/>
        </p:spPr>
        <p:txBody>
          <a:bodyPr wrap="square">
            <a:spAutoFit/>
          </a:bodyPr>
          <a:lstStyle/>
          <a:p>
            <a:pPr algn="l">
              <a:spcAft>
                <a:spcPts val="0"/>
              </a:spcAft>
            </a:pPr>
            <a:r>
              <a:rPr sz="1450" b="1">
                <a:solidFill>
                  <a:srgbClr val="1F2A44"/>
                </a:solidFill>
                <a:latin typeface="Calibri"/>
              </a:rPr>
              <a:t>Then move the layers into isolated Python packages</a:t>
            </a:r>
          </a:p>
        </p:txBody>
      </p:sp>
      <p:sp>
        <p:nvSpPr>
          <p:cNvPr id="24" name="TextBox 23"/>
          <p:cNvSpPr txBox="1"/>
          <p:nvPr/>
        </p:nvSpPr>
        <p:spPr>
          <a:xfrm>
            <a:off x="1234440" y="4965192"/>
            <a:ext cx="10241280" cy="411480"/>
          </a:xfrm>
          <a:prstGeom prst="rect">
            <a:avLst/>
          </a:prstGeom>
          <a:noFill/>
        </p:spPr>
        <p:txBody>
          <a:bodyPr wrap="square">
            <a:spAutoFit/>
          </a:bodyPr>
          <a:lstStyle/>
          <a:p>
            <a:pPr algn="l">
              <a:spcAft>
                <a:spcPts val="0"/>
              </a:spcAft>
            </a:pPr>
            <a:r>
              <a:rPr sz="1200" b="0">
                <a:solidFill>
                  <a:srgbClr val="5B6472"/>
                </a:solidFill>
                <a:latin typeface="Calibri"/>
              </a:rPr>
              <a:t>Bronze first - 250 lines, one consumer. Silver last, because that is where a mistake costs most. Simulated already: four packages, five gates, 21 tests, four faults injected and all four refused.</a:t>
            </a:r>
          </a:p>
        </p:txBody>
      </p:sp>
      <p:sp>
        <p:nvSpPr>
          <p:cNvPr id="25" name="Rounded Rectangle 24"/>
          <p:cNvSpPr/>
          <p:nvPr/>
        </p:nvSpPr>
        <p:spPr>
          <a:xfrm>
            <a:off x="548640" y="5513832"/>
            <a:ext cx="475488" cy="841248"/>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733288"/>
            <a:ext cx="475488" cy="411480"/>
          </a:xfrm>
          <a:prstGeom prst="rect">
            <a:avLst/>
          </a:prstGeom>
          <a:noFill/>
        </p:spPr>
        <p:txBody>
          <a:bodyPr wrap="square">
            <a:spAutoFit/>
          </a:bodyPr>
          <a:lstStyle/>
          <a:p>
            <a:pPr algn="ctr">
              <a:spcAft>
                <a:spcPts val="0"/>
              </a:spcAft>
            </a:pPr>
            <a:r>
              <a:rPr sz="1900" b="1">
                <a:solidFill>
                  <a:srgbClr val="FFFFFF"/>
                </a:solidFill>
                <a:latin typeface="Calibri"/>
              </a:rPr>
              <a:t>5</a:t>
            </a:r>
          </a:p>
        </p:txBody>
      </p:sp>
      <p:sp>
        <p:nvSpPr>
          <p:cNvPr id="27" name="Rounded Rectangle 26"/>
          <p:cNvSpPr/>
          <p:nvPr/>
        </p:nvSpPr>
        <p:spPr>
          <a:xfrm>
            <a:off x="1024128" y="5513832"/>
            <a:ext cx="10652760" cy="841248"/>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4440" y="5596128"/>
            <a:ext cx="10241280" cy="292608"/>
          </a:xfrm>
          <a:prstGeom prst="rect">
            <a:avLst/>
          </a:prstGeom>
          <a:noFill/>
        </p:spPr>
        <p:txBody>
          <a:bodyPr wrap="square">
            <a:spAutoFit/>
          </a:bodyPr>
          <a:lstStyle/>
          <a:p>
            <a:pPr algn="l">
              <a:spcAft>
                <a:spcPts val="0"/>
              </a:spcAft>
            </a:pPr>
            <a:r>
              <a:rPr sz="1450" b="1">
                <a:solidFill>
                  <a:srgbClr val="1F2A44"/>
                </a:solidFill>
                <a:latin typeface="Calibri"/>
              </a:rPr>
              <a:t>Freeze the control dataset only once the boundaries stop moving</a:t>
            </a:r>
          </a:p>
        </p:txBody>
      </p:sp>
      <p:sp>
        <p:nvSpPr>
          <p:cNvPr id="29" name="TextBox 28"/>
          <p:cNvSpPr txBox="1"/>
          <p:nvPr/>
        </p:nvSpPr>
        <p:spPr>
          <a:xfrm>
            <a:off x="1234440" y="5897880"/>
            <a:ext cx="10241280" cy="411480"/>
          </a:xfrm>
          <a:prstGeom prst="rect">
            <a:avLst/>
          </a:prstGeom>
          <a:noFill/>
        </p:spPr>
        <p:txBody>
          <a:bodyPr wrap="square">
            <a:spAutoFit/>
          </a:bodyPr>
          <a:lstStyle/>
          <a:p>
            <a:pPr algn="l">
              <a:spcAft>
                <a:spcPts val="0"/>
              </a:spcAft>
            </a:pPr>
            <a:r>
              <a:rPr sz="1200" b="0">
                <a:solidFill>
                  <a:srgbClr val="5B6472"/>
                </a:solidFill>
                <a:latin typeface="Calibri"/>
              </a:rPr>
              <a:t>Freezing a surface that is still shifting turns every change into a proposal.</a:t>
            </a:r>
          </a:p>
        </p:txBody>
      </p:sp>
      <p:sp>
        <p:nvSpPr>
          <p:cNvPr id="30" name="TextBox 29"/>
          <p:cNvSpPr txBox="1"/>
          <p:nvPr/>
        </p:nvSpPr>
        <p:spPr>
          <a:xfrm>
            <a:off x="548640" y="6382512"/>
            <a:ext cx="11155680" cy="365760"/>
          </a:xfrm>
          <a:prstGeom prst="rect">
            <a:avLst/>
          </a:prstGeom>
          <a:noFill/>
        </p:spPr>
        <p:txBody>
          <a:bodyPr wrap="square">
            <a:spAutoFit/>
          </a:bodyPr>
          <a:lstStyle/>
          <a:p>
            <a:pPr algn="l">
              <a:spcAft>
                <a:spcPts val="0"/>
              </a:spcAft>
            </a:pPr>
            <a:r>
              <a:rPr sz="1250" b="1">
                <a:solidFill>
                  <a:srgbClr val="1F3864"/>
                </a:solidFill>
                <a:latin typeface="Calibri"/>
              </a:rPr>
              <a:t>Deliberately not doing: renaming the schemas to bronze / silver / gold, and one container per layer - right for a platform, wrong for this brief.</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10241280" cy="822960"/>
          </a:xfrm>
          <a:prstGeom prst="rect">
            <a:avLst/>
          </a:prstGeom>
          <a:noFill/>
        </p:spPr>
        <p:txBody>
          <a:bodyPr wrap="square">
            <a:spAutoFit/>
          </a:bodyPr>
          <a:lstStyle/>
          <a:p>
            <a:pPr algn="l">
              <a:spcAft>
                <a:spcPts val="1000"/>
              </a:spcAft>
            </a:pPr>
            <a:r>
              <a:rPr sz="3400" b="1">
                <a:solidFill>
                  <a:srgbClr val="FFFFFF"/>
                </a:solidFill>
                <a:latin typeface="Calibri"/>
              </a:rPr>
              <a:t>Three claims, and how each one is proved</a:t>
            </a:r>
          </a:p>
        </p:txBody>
      </p:sp>
      <p:sp>
        <p:nvSpPr>
          <p:cNvPr id="4" name="Rounded Rectangle 3"/>
          <p:cNvSpPr/>
          <p:nvPr/>
        </p:nvSpPr>
        <p:spPr>
          <a:xfrm>
            <a:off x="1005840" y="2514600"/>
            <a:ext cx="10241280" cy="1051560"/>
          </a:xfrm>
          <a:prstGeom prst="roundRect">
            <a:avLst>
              <a:gd name="adj" fmla="val 4000"/>
            </a:avLst>
          </a:prstGeom>
          <a:solidFill>
            <a:srgbClr val="2C4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624328"/>
            <a:ext cx="9692640" cy="320040"/>
          </a:xfrm>
          <a:prstGeom prst="rect">
            <a:avLst/>
          </a:prstGeom>
          <a:noFill/>
        </p:spPr>
        <p:txBody>
          <a:bodyPr wrap="square">
            <a:spAutoFit/>
          </a:bodyPr>
          <a:lstStyle/>
          <a:p>
            <a:pPr algn="l">
              <a:spcAft>
                <a:spcPts val="0"/>
              </a:spcAft>
            </a:pPr>
            <a:r>
              <a:rPr sz="1700" b="1">
                <a:solidFill>
                  <a:srgbClr val="FFFFFF"/>
                </a:solidFill>
                <a:latin typeface="Calibri"/>
              </a:rPr>
              <a:t>The data is graded, not just checked</a:t>
            </a:r>
          </a:p>
        </p:txBody>
      </p:sp>
      <p:sp>
        <p:nvSpPr>
          <p:cNvPr id="6" name="TextBox 5"/>
          <p:cNvSpPr txBox="1"/>
          <p:nvPr/>
        </p:nvSpPr>
        <p:spPr>
          <a:xfrm>
            <a:off x="1280160" y="2990088"/>
            <a:ext cx="9692640" cy="457200"/>
          </a:xfrm>
          <a:prstGeom prst="rect">
            <a:avLst/>
          </a:prstGeom>
          <a:noFill/>
        </p:spPr>
        <p:txBody>
          <a:bodyPr wrap="square">
            <a:spAutoFit/>
          </a:bodyPr>
          <a:lstStyle/>
          <a:p>
            <a:pPr algn="l">
              <a:spcAft>
                <a:spcPts val="0"/>
              </a:spcAft>
            </a:pPr>
            <a:r>
              <a:rPr sz="1300" b="0">
                <a:solidFill>
                  <a:srgbClr val="C9D6EA"/>
                </a:solidFill>
                <a:latin typeface="Calibri"/>
              </a:rPr>
              <a:t>123 rules, each with a severity and a reason for it, proven by 20 planted defects.</a:t>
            </a:r>
          </a:p>
        </p:txBody>
      </p:sp>
      <p:sp>
        <p:nvSpPr>
          <p:cNvPr id="7" name="Rounded Rectangle 6"/>
          <p:cNvSpPr/>
          <p:nvPr/>
        </p:nvSpPr>
        <p:spPr>
          <a:xfrm>
            <a:off x="1005840" y="3703320"/>
            <a:ext cx="10241280" cy="1051560"/>
          </a:xfrm>
          <a:prstGeom prst="roundRect">
            <a:avLst>
              <a:gd name="adj" fmla="val 4000"/>
            </a:avLst>
          </a:prstGeom>
          <a:solidFill>
            <a:srgbClr val="2C4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3813048"/>
            <a:ext cx="9692640" cy="320040"/>
          </a:xfrm>
          <a:prstGeom prst="rect">
            <a:avLst/>
          </a:prstGeom>
          <a:noFill/>
        </p:spPr>
        <p:txBody>
          <a:bodyPr wrap="square">
            <a:spAutoFit/>
          </a:bodyPr>
          <a:lstStyle/>
          <a:p>
            <a:pPr algn="l">
              <a:spcAft>
                <a:spcPts val="0"/>
              </a:spcAft>
            </a:pPr>
            <a:r>
              <a:rPr sz="1700" b="1">
                <a:solidFill>
                  <a:srgbClr val="FFFFFF"/>
                </a:solidFill>
                <a:latin typeface="Calibri"/>
              </a:rPr>
              <a:t>The model can be asked questions in English</a:t>
            </a:r>
          </a:p>
        </p:txBody>
      </p:sp>
      <p:sp>
        <p:nvSpPr>
          <p:cNvPr id="9" name="TextBox 8"/>
          <p:cNvSpPr txBox="1"/>
          <p:nvPr/>
        </p:nvSpPr>
        <p:spPr>
          <a:xfrm>
            <a:off x="1280160" y="4178808"/>
            <a:ext cx="9692640" cy="457200"/>
          </a:xfrm>
          <a:prstGeom prst="rect">
            <a:avLst/>
          </a:prstGeom>
          <a:noFill/>
        </p:spPr>
        <p:txBody>
          <a:bodyPr wrap="square">
            <a:spAutoFit/>
          </a:bodyPr>
          <a:lstStyle/>
          <a:p>
            <a:pPr algn="l">
              <a:spcAft>
                <a:spcPts val="0"/>
              </a:spcAft>
            </a:pPr>
            <a:r>
              <a:rPr sz="1300" b="0">
                <a:solidFill>
                  <a:srgbClr val="C9D6EA"/>
                </a:solidFill>
                <a:latin typeface="Calibri"/>
              </a:rPr>
              <a:t>A semantic layer validated against the live database; 10 of 10 answers correct, first attempt, every call logged.</a:t>
            </a:r>
          </a:p>
        </p:txBody>
      </p:sp>
      <p:sp>
        <p:nvSpPr>
          <p:cNvPr id="10" name="Rounded Rectangle 9"/>
          <p:cNvSpPr/>
          <p:nvPr/>
        </p:nvSpPr>
        <p:spPr>
          <a:xfrm>
            <a:off x="1005840" y="4892040"/>
            <a:ext cx="10241280" cy="1051560"/>
          </a:xfrm>
          <a:prstGeom prst="roundRect">
            <a:avLst>
              <a:gd name="adj" fmla="val 4000"/>
            </a:avLst>
          </a:prstGeom>
          <a:solidFill>
            <a:srgbClr val="2C4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5001768"/>
            <a:ext cx="9692640" cy="320040"/>
          </a:xfrm>
          <a:prstGeom prst="rect">
            <a:avLst/>
          </a:prstGeom>
          <a:noFill/>
        </p:spPr>
        <p:txBody>
          <a:bodyPr wrap="square">
            <a:spAutoFit/>
          </a:bodyPr>
          <a:lstStyle/>
          <a:p>
            <a:pPr algn="l">
              <a:spcAft>
                <a:spcPts val="0"/>
              </a:spcAft>
            </a:pPr>
            <a:r>
              <a:rPr sz="1700" b="1">
                <a:solidFill>
                  <a:srgbClr val="FFFFFF"/>
                </a:solidFill>
                <a:latin typeface="Calibri"/>
              </a:rPr>
              <a:t>The lock is in the engine, not in the question</a:t>
            </a:r>
          </a:p>
        </p:txBody>
      </p:sp>
      <p:sp>
        <p:nvSpPr>
          <p:cNvPr id="12" name="TextBox 11"/>
          <p:cNvSpPr txBox="1"/>
          <p:nvPr/>
        </p:nvSpPr>
        <p:spPr>
          <a:xfrm>
            <a:off x="1280160" y="5367528"/>
            <a:ext cx="9692640" cy="457200"/>
          </a:xfrm>
          <a:prstGeom prst="rect">
            <a:avLst/>
          </a:prstGeom>
          <a:noFill/>
        </p:spPr>
        <p:txBody>
          <a:bodyPr wrap="square">
            <a:spAutoFit/>
          </a:bodyPr>
          <a:lstStyle/>
          <a:p>
            <a:pPr algn="l">
              <a:spcAft>
                <a:spcPts val="0"/>
              </a:spcAft>
            </a:pPr>
            <a:r>
              <a:rPr sz="1300" b="0">
                <a:solidFill>
                  <a:srgbClr val="C9D6EA"/>
                </a:solidFill>
                <a:latin typeface="Calibri"/>
              </a:rPr>
              <a:t>Row level security on the base tables; four roles counted; nine bypass attempts refused. Onboarding a portfolio is two inserts.</a:t>
            </a:r>
          </a:p>
        </p:txBody>
      </p:sp>
      <p:sp>
        <p:nvSpPr>
          <p:cNvPr id="13" name="TextBox 12"/>
          <p:cNvSpPr txBox="1"/>
          <p:nvPr/>
        </p:nvSpPr>
        <p:spPr>
          <a:xfrm>
            <a:off x="1005840" y="6217920"/>
            <a:ext cx="10241280" cy="365760"/>
          </a:xfrm>
          <a:prstGeom prst="rect">
            <a:avLst/>
          </a:prstGeom>
          <a:noFill/>
        </p:spPr>
        <p:txBody>
          <a:bodyPr wrap="square">
            <a:spAutoFit/>
          </a:bodyPr>
          <a:lstStyle/>
          <a:p>
            <a:pPr algn="l">
              <a:spcAft>
                <a:spcPts val="0"/>
              </a:spcAft>
            </a:pPr>
            <a:r>
              <a:rPr sz="1400" b="1">
                <a:solidFill>
                  <a:srgbClr val="9AB2D8"/>
                </a:solidFill>
                <a:latin typeface="Calibri"/>
              </a:rPr>
              <a:t>make clean all - four and a half minutes, 12 of 12 steps, 137 tests. Every number on these slides came out of that run.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058400" cy="457200"/>
          </a:xfrm>
          <a:prstGeom prst="rect">
            <a:avLst/>
          </a:prstGeom>
          <a:noFill/>
        </p:spPr>
        <p:txBody>
          <a:bodyPr wrap="square">
            <a:spAutoFit/>
          </a:bodyPr>
          <a:lstStyle/>
          <a:p>
            <a:pPr algn="l">
              <a:spcAft>
                <a:spcPts val="600"/>
              </a:spcAft>
            </a:pPr>
            <a:r>
              <a:rPr sz="1400" b="1">
                <a:solidFill>
                  <a:srgbClr val="9AB2D8"/>
                </a:solidFill>
                <a:latin typeface="Calibri"/>
              </a:rPr>
              <a:t>PART 5</a:t>
            </a:r>
          </a:p>
        </p:txBody>
      </p:sp>
      <p:sp>
        <p:nvSpPr>
          <p:cNvPr id="4" name="TextBox 3"/>
          <p:cNvSpPr txBox="1"/>
          <p:nvPr/>
        </p:nvSpPr>
        <p:spPr>
          <a:xfrm>
            <a:off x="1005840" y="2743200"/>
            <a:ext cx="10058400" cy="1097280"/>
          </a:xfrm>
          <a:prstGeom prst="rect">
            <a:avLst/>
          </a:prstGeom>
          <a:noFill/>
        </p:spPr>
        <p:txBody>
          <a:bodyPr wrap="square">
            <a:spAutoFit/>
          </a:bodyPr>
          <a:lstStyle/>
          <a:p>
            <a:pPr algn="l">
              <a:spcAft>
                <a:spcPts val="800"/>
              </a:spcAft>
            </a:pPr>
            <a:r>
              <a:rPr sz="4000" b="1">
                <a:solidFill>
                  <a:srgbClr val="FFFFFF"/>
                </a:solidFill>
                <a:latin typeface="Calibri"/>
              </a:rPr>
              <a:t>What this data can still become</a:t>
            </a:r>
          </a:p>
        </p:txBody>
      </p:sp>
      <p:sp>
        <p:nvSpPr>
          <p:cNvPr id="5" name="TextBox 4"/>
          <p:cNvSpPr txBox="1"/>
          <p:nvPr/>
        </p:nvSpPr>
        <p:spPr>
          <a:xfrm>
            <a:off x="1005840" y="3931920"/>
            <a:ext cx="9144000" cy="731520"/>
          </a:xfrm>
          <a:prstGeom prst="rect">
            <a:avLst/>
          </a:prstGeom>
          <a:noFill/>
        </p:spPr>
        <p:txBody>
          <a:bodyPr wrap="square">
            <a:spAutoFit/>
          </a:bodyPr>
          <a:lstStyle/>
          <a:p>
            <a:pPr algn="l">
              <a:spcAft>
                <a:spcPts val="0"/>
              </a:spcAft>
            </a:pPr>
            <a:r>
              <a:rPr sz="1700" b="0">
                <a:solidFill>
                  <a:srgbClr val="C9D6EA"/>
                </a:solidFill>
                <a:latin typeface="Calibri"/>
              </a:rPr>
              <a:t>The gold layer that is built, and the one the cleaned data will carry without a single new source file.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THE GAP BETWEEN THE TWO</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What is built, and what is sitting there cleaned</a:t>
            </a:r>
          </a:p>
        </p:txBody>
      </p:sp>
      <p:sp>
        <p:nvSpPr>
          <p:cNvPr id="4" name="Rounded Rectangle 3"/>
          <p:cNvSpPr/>
          <p:nvPr/>
        </p:nvSpPr>
        <p:spPr>
          <a:xfrm>
            <a:off x="548640" y="1280160"/>
            <a:ext cx="5440680" cy="457200"/>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44168"/>
            <a:ext cx="5120640" cy="320040"/>
          </a:xfrm>
          <a:prstGeom prst="rect">
            <a:avLst/>
          </a:prstGeom>
          <a:noFill/>
        </p:spPr>
        <p:txBody>
          <a:bodyPr wrap="square">
            <a:spAutoFit/>
          </a:bodyPr>
          <a:lstStyle/>
          <a:p>
            <a:pPr algn="l">
              <a:spcAft>
                <a:spcPts val="0"/>
              </a:spcAft>
            </a:pPr>
            <a:r>
              <a:rPr sz="1250" b="1">
                <a:solidFill>
                  <a:srgbClr val="FFFFFF"/>
                </a:solidFill>
                <a:latin typeface="Calibri"/>
              </a:rPr>
              <a:t>BUILT — because the ten questions needed it</a:t>
            </a:r>
          </a:p>
        </p:txBody>
      </p:sp>
      <p:sp>
        <p:nvSpPr>
          <p:cNvPr id="6" name="TextBox 5"/>
          <p:cNvSpPr txBox="1"/>
          <p:nvPr/>
        </p:nvSpPr>
        <p:spPr>
          <a:xfrm>
            <a:off x="731520" y="1828800"/>
            <a:ext cx="5120640" cy="3108960"/>
          </a:xfrm>
          <a:prstGeom prst="rect">
            <a:avLst/>
          </a:prstGeom>
          <a:noFill/>
        </p:spPr>
        <p:txBody>
          <a:bodyPr wrap="square">
            <a:spAutoFit/>
          </a:bodyPr>
          <a:lstStyle/>
          <a:p>
            <a:pPr algn="l">
              <a:spcAft>
                <a:spcPts val="900"/>
              </a:spcAft>
            </a:pPr>
            <a:r>
              <a:rPr sz="1300" b="0">
                <a:solidFill>
                  <a:srgbClr val="1F2A44"/>
                </a:solidFill>
                <a:latin typeface="Calibri"/>
              </a:rPr>
              <a:t>4 dimensions — client, account, district, card</a:t>
            </a:r>
          </a:p>
          <a:p>
            <a:pPr algn="l">
              <a:spcAft>
                <a:spcPts val="900"/>
              </a:spcAft>
            </a:pPr>
            <a:r>
              <a:rPr sz="1300" b="0">
                <a:solidFill>
                  <a:srgbClr val="1F2A44"/>
                </a:solidFill>
                <a:latin typeface="Calibri"/>
              </a:rPr>
              <a:t>1 bridge — who may operate which account</a:t>
            </a:r>
          </a:p>
          <a:p>
            <a:pPr algn="l">
              <a:spcAft>
                <a:spcPts val="900"/>
              </a:spcAft>
            </a:pPr>
            <a:r>
              <a:rPr sz="1300" b="0">
                <a:solidFill>
                  <a:srgbClr val="1F2A44"/>
                </a:solidFill>
                <a:latin typeface="Calibri"/>
              </a:rPr>
              <a:t>2 base facts — 682 loans, 1,056,319 postings</a:t>
            </a:r>
          </a:p>
          <a:p>
            <a:pPr algn="l">
              <a:spcAft>
                <a:spcPts val="900"/>
              </a:spcAft>
            </a:pPr>
            <a:r>
              <a:rPr sz="1300" b="0">
                <a:solidFill>
                  <a:srgbClr val="1F2A44"/>
                </a:solidFill>
                <a:latin typeface="Calibri"/>
              </a:rPr>
              <a:t>1 derived fact — 185,615 month-end balances</a:t>
            </a:r>
          </a:p>
          <a:p>
            <a:pPr algn="l">
              <a:spcAft>
                <a:spcPts val="900"/>
              </a:spcAft>
            </a:pPr>
            <a:r>
              <a:rPr sz="1300" b="0">
                <a:solidFill>
                  <a:srgbClr val="1F2A44"/>
                </a:solidFill>
                <a:latin typeface="Calibri"/>
              </a:rPr>
              <a:t>1 calendar, 1 code catalogue</a:t>
            </a:r>
          </a:p>
          <a:p>
            <a:pPr algn="l">
              <a:spcAft>
                <a:spcPts val="900"/>
              </a:spcAft>
            </a:pPr>
            <a:r>
              <a:rPr sz="1300" b="0">
                <a:solidFill>
                  <a:srgbClr val="1F2A44"/>
                </a:solidFill>
                <a:latin typeface="Calibri"/>
              </a:rPr>
              <a:t>11 consumer views, every one entitlement-filtered</a:t>
            </a:r>
          </a:p>
          <a:p>
            <a:pPr algn="l">
              <a:spcAft>
                <a:spcPts val="900"/>
              </a:spcAft>
            </a:pPr>
            <a:r>
              <a:rPr sz="1250" b="1">
                <a:solidFill>
                  <a:srgbClr val="15803D"/>
                </a:solidFill>
                <a:latin typeface="Calibri"/>
              </a:rPr>
              <a:t>A complete star for the questions asked. Not a complete product for the data held.</a:t>
            </a:r>
          </a:p>
        </p:txBody>
      </p:sp>
      <p:sp>
        <p:nvSpPr>
          <p:cNvPr id="7" name="Rounded Rectangle 6"/>
          <p:cNvSpPr/>
          <p:nvPr/>
        </p:nvSpPr>
        <p:spPr>
          <a:xfrm>
            <a:off x="6263640" y="1280160"/>
            <a:ext cx="5394960" cy="457200"/>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344168"/>
            <a:ext cx="5120640" cy="320040"/>
          </a:xfrm>
          <a:prstGeom prst="rect">
            <a:avLst/>
          </a:prstGeom>
          <a:noFill/>
        </p:spPr>
        <p:txBody>
          <a:bodyPr wrap="square">
            <a:spAutoFit/>
          </a:bodyPr>
          <a:lstStyle/>
          <a:p>
            <a:pPr algn="l">
              <a:spcAft>
                <a:spcPts val="0"/>
              </a:spcAft>
            </a:pPr>
            <a:r>
              <a:rPr sz="1250" b="1">
                <a:solidFill>
                  <a:srgbClr val="FFFFFF"/>
                </a:solidFill>
                <a:latin typeface="Calibri"/>
              </a:rPr>
              <a:t>CLEANED, AND CONSUMED BY NOTHING</a:t>
            </a:r>
          </a:p>
        </p:txBody>
      </p:sp>
      <p:sp>
        <p:nvSpPr>
          <p:cNvPr id="9" name="TextBox 8"/>
          <p:cNvSpPr txBox="1"/>
          <p:nvPr/>
        </p:nvSpPr>
        <p:spPr>
          <a:xfrm>
            <a:off x="6446520" y="1828800"/>
            <a:ext cx="5120640" cy="3108960"/>
          </a:xfrm>
          <a:prstGeom prst="rect">
            <a:avLst/>
          </a:prstGeom>
          <a:noFill/>
        </p:spPr>
        <p:txBody>
          <a:bodyPr wrap="square">
            <a:spAutoFit/>
          </a:bodyPr>
          <a:lstStyle/>
          <a:p>
            <a:pPr algn="l">
              <a:spcAft>
                <a:spcPts val="900"/>
              </a:spcAft>
            </a:pPr>
            <a:r>
              <a:rPr sz="1300" b="1">
                <a:solidFill>
                  <a:srgbClr val="1F2A44"/>
                </a:solidFill>
                <a:latin typeface="Calibri"/>
              </a:rPr>
              <a:t>6,471 standing orders — a whole table, typed, decoded and rule-checked, reaching no product at all</a:t>
            </a:r>
          </a:p>
          <a:p>
            <a:pPr algn="l">
              <a:spcAft>
                <a:spcPts val="900"/>
              </a:spcAft>
            </a:pPr>
            <a:r>
              <a:rPr sz="1250" b="0">
                <a:solidFill>
                  <a:srgbClr val="5B6472"/>
                </a:solidFill>
                <a:latin typeface="Calibri"/>
              </a:rPr>
              <a:t>21,228,994 CZK of committed monthly payments, across 3,758 of 4,500 accounts (83%)</a:t>
            </a:r>
          </a:p>
          <a:p>
            <a:pPr algn="l">
              <a:spcAft>
                <a:spcPts val="900"/>
              </a:spcAft>
            </a:pPr>
            <a:r>
              <a:rPr sz="1250" b="0">
                <a:solidFill>
                  <a:srgbClr val="5B6472"/>
                </a:solidFill>
                <a:latin typeface="Calibri"/>
              </a:rPr>
              <a:t>273,508 postings carrying a counterparty bank — 13 banks, never grouped by</a:t>
            </a:r>
          </a:p>
          <a:p>
            <a:pPr algn="l">
              <a:spcAft>
                <a:spcPts val="900"/>
              </a:spcAft>
            </a:pPr>
            <a:r>
              <a:rPr sz="1250" b="0">
                <a:solidFill>
                  <a:srgbClr val="5B6472"/>
                </a:solidFill>
                <a:latin typeface="Calibri"/>
              </a:rPr>
              <a:t>The district unemployment and crime figures, which are a two-year history flattened into one row</a:t>
            </a:r>
          </a:p>
          <a:p>
            <a:pPr algn="l">
              <a:spcAft>
                <a:spcPts val="900"/>
              </a:spcAft>
            </a:pPr>
            <a:r>
              <a:rPr sz="1250" b="0">
                <a:solidFill>
                  <a:srgbClr val="5B6472"/>
                </a:solidFill>
                <a:latin typeface="Calibri"/>
              </a:rPr>
              <a:t>892 card issue dates, so card tenure is available and unused</a:t>
            </a:r>
          </a:p>
        </p:txBody>
      </p:sp>
      <p:sp>
        <p:nvSpPr>
          <p:cNvPr id="10" name="TextBox 9"/>
          <p:cNvSpPr txBox="1"/>
          <p:nvPr/>
        </p:nvSpPr>
        <p:spPr>
          <a:xfrm>
            <a:off x="548640" y="5166360"/>
            <a:ext cx="11109960" cy="914400"/>
          </a:xfrm>
          <a:prstGeom prst="rect">
            <a:avLst/>
          </a:prstGeom>
          <a:noFill/>
        </p:spPr>
        <p:txBody>
          <a:bodyPr wrap="square">
            <a:spAutoFit/>
          </a:bodyPr>
          <a:lstStyle/>
          <a:p>
            <a:pPr algn="l">
              <a:spcAft>
                <a:spcPts val="0"/>
              </a:spcAft>
            </a:pPr>
            <a:r>
              <a:rPr sz="1400" b="0">
                <a:solidFill>
                  <a:srgbClr val="1F2A44"/>
                </a:solidFill>
                <a:latin typeface="Calibri"/>
              </a:rPr>
              <a:t>The standing orders are the one worth dwelling on. They are the bank's record of what customers have COMMITTED to pay — as opposed to what they happened to pay. For affordability, for disposable income, for why a balance behaves as it does, it is the most informative table in the dataset. It is also the table where the LEASING gap was found, which is not a coincidence.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GOLD CANDIDATES</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Eight tables buildable with no new data</a:t>
            </a:r>
          </a:p>
        </p:txBody>
      </p:sp>
      <p:sp>
        <p:nvSpPr>
          <p:cNvPr id="4" name="TextBox 3"/>
          <p:cNvSpPr txBox="1"/>
          <p:nvPr/>
        </p:nvSpPr>
        <p:spPr>
          <a:xfrm>
            <a:off x="640080" y="1188720"/>
            <a:ext cx="10972800" cy="320040"/>
          </a:xfrm>
          <a:prstGeom prst="rect">
            <a:avLst/>
          </a:prstGeom>
          <a:noFill/>
        </p:spPr>
        <p:txBody>
          <a:bodyPr wrap="square">
            <a:spAutoFit/>
          </a:bodyPr>
          <a:lstStyle/>
          <a:p>
            <a:pPr algn="l">
              <a:spcAft>
                <a:spcPts val="600"/>
              </a:spcAft>
            </a:pPr>
            <a:r>
              <a:rPr sz="1500" b="0">
                <a:solidFill>
                  <a:srgbClr val="5B6472"/>
                </a:solidFill>
                <a:latin typeface="Calibri"/>
              </a:rPr>
              <a:t>Every input below is already typed, decoded and rule-checked. None of this is more cleaning — it is modelling on clean data.</a:t>
            </a:r>
          </a:p>
        </p:txBody>
      </p:sp>
      <p:sp>
        <p:nvSpPr>
          <p:cNvPr id="5" name="Rounded Rectangle 4"/>
          <p:cNvSpPr/>
          <p:nvPr/>
        </p:nvSpPr>
        <p:spPr>
          <a:xfrm>
            <a:off x="548640" y="1572768"/>
            <a:ext cx="475488" cy="530352"/>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475488" cy="320040"/>
          </a:xfrm>
          <a:prstGeom prst="rect">
            <a:avLst/>
          </a:prstGeom>
          <a:noFill/>
        </p:spPr>
        <p:txBody>
          <a:bodyPr wrap="square">
            <a:spAutoFit/>
          </a:bodyPr>
          <a:lstStyle/>
          <a:p>
            <a:pPr algn="ctr">
              <a:spcAft>
                <a:spcPts val="0"/>
              </a:spcAft>
            </a:pPr>
            <a:r>
              <a:rPr sz="1300" b="1">
                <a:solidFill>
                  <a:srgbClr val="FFFFFF"/>
                </a:solidFill>
                <a:latin typeface="Calibri"/>
              </a:rPr>
              <a:t>G1</a:t>
            </a:r>
          </a:p>
        </p:txBody>
      </p:sp>
      <p:sp>
        <p:nvSpPr>
          <p:cNvPr id="7" name="Rounded Rectangle 6"/>
          <p:cNvSpPr/>
          <p:nvPr/>
        </p:nvSpPr>
        <p:spPr>
          <a:xfrm>
            <a:off x="1024128" y="1572768"/>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008" y="1691640"/>
            <a:ext cx="2651760" cy="292608"/>
          </a:xfrm>
          <a:prstGeom prst="rect">
            <a:avLst/>
          </a:prstGeom>
          <a:noFill/>
        </p:spPr>
        <p:txBody>
          <a:bodyPr wrap="square">
            <a:spAutoFit/>
          </a:bodyPr>
          <a:lstStyle/>
          <a:p>
            <a:pPr algn="l">
              <a:spcAft>
                <a:spcPts val="0"/>
              </a:spcAft>
            </a:pPr>
            <a:r>
              <a:rPr sz="1250" b="1">
                <a:solidFill>
                  <a:srgbClr val="1F2A44"/>
                </a:solidFill>
                <a:latin typeface="Calibri"/>
              </a:rPr>
              <a:t>fact_standing_order</a:t>
            </a:r>
          </a:p>
        </p:txBody>
      </p:sp>
      <p:sp>
        <p:nvSpPr>
          <p:cNvPr id="9" name="TextBox 8"/>
          <p:cNvSpPr txBox="1"/>
          <p:nvPr/>
        </p:nvSpPr>
        <p:spPr>
          <a:xfrm>
            <a:off x="3931920" y="1709928"/>
            <a:ext cx="2468880" cy="274320"/>
          </a:xfrm>
          <a:prstGeom prst="rect">
            <a:avLst/>
          </a:prstGeom>
          <a:noFill/>
        </p:spPr>
        <p:txBody>
          <a:bodyPr wrap="square">
            <a:spAutoFit/>
          </a:bodyPr>
          <a:lstStyle/>
          <a:p>
            <a:pPr algn="l">
              <a:spcAft>
                <a:spcPts val="0"/>
              </a:spcAft>
            </a:pPr>
            <a:r>
              <a:rPr sz="1100" b="0">
                <a:solidFill>
                  <a:srgbClr val="5B6472"/>
                </a:solidFill>
                <a:latin typeface="Calibri"/>
              </a:rPr>
              <a:t>one standing order · 6,471</a:t>
            </a:r>
          </a:p>
        </p:txBody>
      </p:sp>
      <p:sp>
        <p:nvSpPr>
          <p:cNvPr id="10" name="TextBox 9"/>
          <p:cNvSpPr txBox="1"/>
          <p:nvPr/>
        </p:nvSpPr>
        <p:spPr>
          <a:xfrm>
            <a:off x="6492240" y="1700784"/>
            <a:ext cx="5029200" cy="320040"/>
          </a:xfrm>
          <a:prstGeom prst="rect">
            <a:avLst/>
          </a:prstGeom>
          <a:noFill/>
        </p:spPr>
        <p:txBody>
          <a:bodyPr wrap="square">
            <a:spAutoFit/>
          </a:bodyPr>
          <a:lstStyle/>
          <a:p>
            <a:pPr algn="l">
              <a:spcAft>
                <a:spcPts val="0"/>
              </a:spcAft>
            </a:pPr>
            <a:r>
              <a:rPr sz="1150" b="0">
                <a:solidFill>
                  <a:srgbClr val="5B6472"/>
                </a:solidFill>
                <a:latin typeface="Calibri"/>
              </a:rPr>
              <a:t>Committed outgoings and affordability. The largest gap, the smallest effort.</a:t>
            </a:r>
          </a:p>
        </p:txBody>
      </p:sp>
      <p:sp>
        <p:nvSpPr>
          <p:cNvPr id="11" name="Rounded Rectangle 10"/>
          <p:cNvSpPr/>
          <p:nvPr/>
        </p:nvSpPr>
        <p:spPr>
          <a:xfrm>
            <a:off x="548640" y="2162556"/>
            <a:ext cx="475488" cy="530352"/>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281428"/>
            <a:ext cx="475488" cy="320040"/>
          </a:xfrm>
          <a:prstGeom prst="rect">
            <a:avLst/>
          </a:prstGeom>
          <a:noFill/>
        </p:spPr>
        <p:txBody>
          <a:bodyPr wrap="square">
            <a:spAutoFit/>
          </a:bodyPr>
          <a:lstStyle/>
          <a:p>
            <a:pPr algn="ctr">
              <a:spcAft>
                <a:spcPts val="0"/>
              </a:spcAft>
            </a:pPr>
            <a:r>
              <a:rPr sz="1300" b="1">
                <a:solidFill>
                  <a:srgbClr val="FFFFFF"/>
                </a:solidFill>
                <a:latin typeface="Calibri"/>
              </a:rPr>
              <a:t>G2</a:t>
            </a:r>
          </a:p>
        </p:txBody>
      </p:sp>
      <p:sp>
        <p:nvSpPr>
          <p:cNvPr id="13" name="Rounded Rectangle 12"/>
          <p:cNvSpPr/>
          <p:nvPr/>
        </p:nvSpPr>
        <p:spPr>
          <a:xfrm>
            <a:off x="1024128" y="2162556"/>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7008" y="2281428"/>
            <a:ext cx="2651760" cy="292608"/>
          </a:xfrm>
          <a:prstGeom prst="rect">
            <a:avLst/>
          </a:prstGeom>
          <a:noFill/>
        </p:spPr>
        <p:txBody>
          <a:bodyPr wrap="square">
            <a:spAutoFit/>
          </a:bodyPr>
          <a:lstStyle/>
          <a:p>
            <a:pPr algn="l">
              <a:spcAft>
                <a:spcPts val="0"/>
              </a:spcAft>
            </a:pPr>
            <a:r>
              <a:rPr sz="1250" b="1">
                <a:solidFill>
                  <a:srgbClr val="1F2A44"/>
                </a:solidFill>
                <a:latin typeface="Calibri"/>
              </a:rPr>
              <a:t>fact_account_month</a:t>
            </a:r>
          </a:p>
        </p:txBody>
      </p:sp>
      <p:sp>
        <p:nvSpPr>
          <p:cNvPr id="15" name="TextBox 14"/>
          <p:cNvSpPr txBox="1"/>
          <p:nvPr/>
        </p:nvSpPr>
        <p:spPr>
          <a:xfrm>
            <a:off x="3931920" y="2299716"/>
            <a:ext cx="2468880" cy="274320"/>
          </a:xfrm>
          <a:prstGeom prst="rect">
            <a:avLst/>
          </a:prstGeom>
          <a:noFill/>
        </p:spPr>
        <p:txBody>
          <a:bodyPr wrap="square">
            <a:spAutoFit/>
          </a:bodyPr>
          <a:lstStyle/>
          <a:p>
            <a:pPr algn="l">
              <a:spcAft>
                <a:spcPts val="0"/>
              </a:spcAft>
            </a:pPr>
            <a:r>
              <a:rPr sz="1100" b="0">
                <a:solidFill>
                  <a:srgbClr val="5B6472"/>
                </a:solidFill>
                <a:latin typeface="Calibri"/>
              </a:rPr>
              <a:t>account × month · ~185,057</a:t>
            </a:r>
          </a:p>
        </p:txBody>
      </p:sp>
      <p:sp>
        <p:nvSpPr>
          <p:cNvPr id="16" name="TextBox 15"/>
          <p:cNvSpPr txBox="1"/>
          <p:nvPr/>
        </p:nvSpPr>
        <p:spPr>
          <a:xfrm>
            <a:off x="6492240" y="2290572"/>
            <a:ext cx="5029200" cy="320040"/>
          </a:xfrm>
          <a:prstGeom prst="rect">
            <a:avLst/>
          </a:prstGeom>
          <a:noFill/>
        </p:spPr>
        <p:txBody>
          <a:bodyPr wrap="square">
            <a:spAutoFit/>
          </a:bodyPr>
          <a:lstStyle/>
          <a:p>
            <a:pPr algn="l">
              <a:spcAft>
                <a:spcPts val="0"/>
              </a:spcAft>
            </a:pPr>
            <a:r>
              <a:rPr sz="1150" b="0">
                <a:solidFill>
                  <a:srgbClr val="5B6472"/>
                </a:solidFill>
                <a:latin typeface="Calibri"/>
              </a:rPr>
              <a:t>Flow beside the stock we already have. Every trend question in one scan.</a:t>
            </a:r>
          </a:p>
        </p:txBody>
      </p:sp>
      <p:sp>
        <p:nvSpPr>
          <p:cNvPr id="17" name="Rounded Rectangle 16"/>
          <p:cNvSpPr/>
          <p:nvPr/>
        </p:nvSpPr>
        <p:spPr>
          <a:xfrm>
            <a:off x="548640" y="2752344"/>
            <a:ext cx="475488" cy="530352"/>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871216"/>
            <a:ext cx="475488" cy="320040"/>
          </a:xfrm>
          <a:prstGeom prst="rect">
            <a:avLst/>
          </a:prstGeom>
          <a:noFill/>
        </p:spPr>
        <p:txBody>
          <a:bodyPr wrap="square">
            <a:spAutoFit/>
          </a:bodyPr>
          <a:lstStyle/>
          <a:p>
            <a:pPr algn="ctr">
              <a:spcAft>
                <a:spcPts val="0"/>
              </a:spcAft>
            </a:pPr>
            <a:r>
              <a:rPr sz="1300" b="1">
                <a:solidFill>
                  <a:srgbClr val="FFFFFF"/>
                </a:solidFill>
                <a:latin typeface="Calibri"/>
              </a:rPr>
              <a:t>G3</a:t>
            </a:r>
          </a:p>
        </p:txBody>
      </p:sp>
      <p:sp>
        <p:nvSpPr>
          <p:cNvPr id="19" name="Rounded Rectangle 18"/>
          <p:cNvSpPr/>
          <p:nvPr/>
        </p:nvSpPr>
        <p:spPr>
          <a:xfrm>
            <a:off x="1024128" y="2752344"/>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07008" y="2871216"/>
            <a:ext cx="2651760" cy="292608"/>
          </a:xfrm>
          <a:prstGeom prst="rect">
            <a:avLst/>
          </a:prstGeom>
          <a:noFill/>
        </p:spPr>
        <p:txBody>
          <a:bodyPr wrap="square">
            <a:spAutoFit/>
          </a:bodyPr>
          <a:lstStyle/>
          <a:p>
            <a:pPr algn="l">
              <a:spcAft>
                <a:spcPts val="0"/>
              </a:spcAft>
            </a:pPr>
            <a:r>
              <a:rPr sz="1250" b="1">
                <a:solidFill>
                  <a:srgbClr val="1F2A44"/>
                </a:solidFill>
                <a:latin typeface="Calibri"/>
              </a:rPr>
              <a:t>dim_client_profile</a:t>
            </a:r>
          </a:p>
        </p:txBody>
      </p:sp>
      <p:sp>
        <p:nvSpPr>
          <p:cNvPr id="21" name="TextBox 20"/>
          <p:cNvSpPr txBox="1"/>
          <p:nvPr/>
        </p:nvSpPr>
        <p:spPr>
          <a:xfrm>
            <a:off x="3931920" y="2889504"/>
            <a:ext cx="2468880" cy="274320"/>
          </a:xfrm>
          <a:prstGeom prst="rect">
            <a:avLst/>
          </a:prstGeom>
          <a:noFill/>
        </p:spPr>
        <p:txBody>
          <a:bodyPr wrap="square">
            <a:spAutoFit/>
          </a:bodyPr>
          <a:lstStyle/>
          <a:p>
            <a:pPr algn="l">
              <a:spcAft>
                <a:spcPts val="0"/>
              </a:spcAft>
            </a:pPr>
            <a:r>
              <a:rPr sz="1100" b="0">
                <a:solidFill>
                  <a:srgbClr val="5B6472"/>
                </a:solidFill>
                <a:latin typeface="Calibri"/>
              </a:rPr>
              <a:t>one client · 5,369</a:t>
            </a:r>
          </a:p>
        </p:txBody>
      </p:sp>
      <p:sp>
        <p:nvSpPr>
          <p:cNvPr id="22" name="TextBox 21"/>
          <p:cNvSpPr txBox="1"/>
          <p:nvPr/>
        </p:nvSpPr>
        <p:spPr>
          <a:xfrm>
            <a:off x="6492240" y="2880360"/>
            <a:ext cx="5029200" cy="320040"/>
          </a:xfrm>
          <a:prstGeom prst="rect">
            <a:avLst/>
          </a:prstGeom>
          <a:noFill/>
        </p:spPr>
        <p:txBody>
          <a:bodyPr wrap="square">
            <a:spAutoFit/>
          </a:bodyPr>
          <a:lstStyle/>
          <a:p>
            <a:pPr algn="l">
              <a:spcAft>
                <a:spcPts val="0"/>
              </a:spcAft>
            </a:pPr>
            <a:r>
              <a:rPr sz="1150" b="0">
                <a:solidFill>
                  <a:srgbClr val="5B6472"/>
                </a:solidFill>
                <a:latin typeface="Calibri"/>
              </a:rPr>
              <a:t>Collapses the four-table join every "clients who..." question needs today.</a:t>
            </a:r>
          </a:p>
        </p:txBody>
      </p:sp>
      <p:sp>
        <p:nvSpPr>
          <p:cNvPr id="23" name="Rounded Rectangle 22"/>
          <p:cNvSpPr/>
          <p:nvPr/>
        </p:nvSpPr>
        <p:spPr>
          <a:xfrm>
            <a:off x="548640" y="3342132"/>
            <a:ext cx="475488" cy="530352"/>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461004"/>
            <a:ext cx="475488" cy="320040"/>
          </a:xfrm>
          <a:prstGeom prst="rect">
            <a:avLst/>
          </a:prstGeom>
          <a:noFill/>
        </p:spPr>
        <p:txBody>
          <a:bodyPr wrap="square">
            <a:spAutoFit/>
          </a:bodyPr>
          <a:lstStyle/>
          <a:p>
            <a:pPr algn="ctr">
              <a:spcAft>
                <a:spcPts val="0"/>
              </a:spcAft>
            </a:pPr>
            <a:r>
              <a:rPr sz="1300" b="1">
                <a:solidFill>
                  <a:srgbClr val="FFFFFF"/>
                </a:solidFill>
                <a:latin typeface="Calibri"/>
              </a:rPr>
              <a:t>G4</a:t>
            </a:r>
          </a:p>
        </p:txBody>
      </p:sp>
      <p:sp>
        <p:nvSpPr>
          <p:cNvPr id="25" name="Rounded Rectangle 24"/>
          <p:cNvSpPr/>
          <p:nvPr/>
        </p:nvSpPr>
        <p:spPr>
          <a:xfrm>
            <a:off x="1024128" y="3342132"/>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7008" y="3461004"/>
            <a:ext cx="2651760" cy="292608"/>
          </a:xfrm>
          <a:prstGeom prst="rect">
            <a:avLst/>
          </a:prstGeom>
          <a:noFill/>
        </p:spPr>
        <p:txBody>
          <a:bodyPr wrap="square">
            <a:spAutoFit/>
          </a:bodyPr>
          <a:lstStyle/>
          <a:p>
            <a:pPr algn="l">
              <a:spcAft>
                <a:spcPts val="0"/>
              </a:spcAft>
            </a:pPr>
            <a:r>
              <a:rPr sz="1250" b="1">
                <a:solidFill>
                  <a:srgbClr val="1F2A44"/>
                </a:solidFill>
                <a:latin typeface="Calibri"/>
              </a:rPr>
              <a:t>fact_loan_performance</a:t>
            </a:r>
          </a:p>
        </p:txBody>
      </p:sp>
      <p:sp>
        <p:nvSpPr>
          <p:cNvPr id="27" name="TextBox 26"/>
          <p:cNvSpPr txBox="1"/>
          <p:nvPr/>
        </p:nvSpPr>
        <p:spPr>
          <a:xfrm>
            <a:off x="3931920" y="3479292"/>
            <a:ext cx="2468880" cy="274320"/>
          </a:xfrm>
          <a:prstGeom prst="rect">
            <a:avLst/>
          </a:prstGeom>
          <a:noFill/>
        </p:spPr>
        <p:txBody>
          <a:bodyPr wrap="square">
            <a:spAutoFit/>
          </a:bodyPr>
          <a:lstStyle/>
          <a:p>
            <a:pPr algn="l">
              <a:spcAft>
                <a:spcPts val="0"/>
              </a:spcAft>
            </a:pPr>
            <a:r>
              <a:rPr sz="1100" b="0">
                <a:solidFill>
                  <a:srgbClr val="5B6472"/>
                </a:solidFill>
                <a:latin typeface="Calibri"/>
              </a:rPr>
              <a:t>one loan · 682</a:t>
            </a:r>
          </a:p>
        </p:txBody>
      </p:sp>
      <p:sp>
        <p:nvSpPr>
          <p:cNvPr id="28" name="TextBox 27"/>
          <p:cNvSpPr txBox="1"/>
          <p:nvPr/>
        </p:nvSpPr>
        <p:spPr>
          <a:xfrm>
            <a:off x="6492240" y="3470148"/>
            <a:ext cx="5029200" cy="320040"/>
          </a:xfrm>
          <a:prstGeom prst="rect">
            <a:avLst/>
          </a:prstGeom>
          <a:noFill/>
        </p:spPr>
        <p:txBody>
          <a:bodyPr wrap="square">
            <a:spAutoFit/>
          </a:bodyPr>
          <a:lstStyle/>
          <a:p>
            <a:pPr algn="l">
              <a:spcAft>
                <a:spcPts val="0"/>
              </a:spcAft>
            </a:pPr>
            <a:r>
              <a:rPr sz="1150" b="0">
                <a:solidFill>
                  <a:srgbClr val="5B6472"/>
                </a:solidFill>
                <a:latin typeface="Calibri"/>
              </a:rPr>
              <a:t>From 13,580 repayment postings: how a loan went wrong, not just that it did.</a:t>
            </a:r>
          </a:p>
        </p:txBody>
      </p:sp>
      <p:sp>
        <p:nvSpPr>
          <p:cNvPr id="29" name="Rounded Rectangle 28"/>
          <p:cNvSpPr/>
          <p:nvPr/>
        </p:nvSpPr>
        <p:spPr>
          <a:xfrm>
            <a:off x="548640" y="3931920"/>
            <a:ext cx="475488" cy="530352"/>
          </a:xfrm>
          <a:prstGeom prst="roundRect">
            <a:avLst>
              <a:gd name="adj" fmla="val 4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050792"/>
            <a:ext cx="475488" cy="320040"/>
          </a:xfrm>
          <a:prstGeom prst="rect">
            <a:avLst/>
          </a:prstGeom>
          <a:noFill/>
        </p:spPr>
        <p:txBody>
          <a:bodyPr wrap="square">
            <a:spAutoFit/>
          </a:bodyPr>
          <a:lstStyle/>
          <a:p>
            <a:pPr algn="ctr">
              <a:spcAft>
                <a:spcPts val="0"/>
              </a:spcAft>
            </a:pPr>
            <a:r>
              <a:rPr sz="1300" b="1">
                <a:solidFill>
                  <a:srgbClr val="FFFFFF"/>
                </a:solidFill>
                <a:latin typeface="Calibri"/>
              </a:rPr>
              <a:t>G5</a:t>
            </a:r>
          </a:p>
        </p:txBody>
      </p:sp>
      <p:sp>
        <p:nvSpPr>
          <p:cNvPr id="31" name="Rounded Rectangle 30"/>
          <p:cNvSpPr/>
          <p:nvPr/>
        </p:nvSpPr>
        <p:spPr>
          <a:xfrm>
            <a:off x="1024128" y="3931920"/>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7008" y="4050792"/>
            <a:ext cx="2651760" cy="292608"/>
          </a:xfrm>
          <a:prstGeom prst="rect">
            <a:avLst/>
          </a:prstGeom>
          <a:noFill/>
        </p:spPr>
        <p:txBody>
          <a:bodyPr wrap="square">
            <a:spAutoFit/>
          </a:bodyPr>
          <a:lstStyle/>
          <a:p>
            <a:pPr algn="l">
              <a:spcAft>
                <a:spcPts val="0"/>
              </a:spcAft>
            </a:pPr>
            <a:r>
              <a:rPr sz="1250" b="1">
                <a:solidFill>
                  <a:srgbClr val="1F2A44"/>
                </a:solidFill>
                <a:latin typeface="Calibri"/>
              </a:rPr>
              <a:t>fact_district_year</a:t>
            </a:r>
          </a:p>
        </p:txBody>
      </p:sp>
      <p:sp>
        <p:nvSpPr>
          <p:cNvPr id="33" name="TextBox 32"/>
          <p:cNvSpPr txBox="1"/>
          <p:nvPr/>
        </p:nvSpPr>
        <p:spPr>
          <a:xfrm>
            <a:off x="3931920" y="4069080"/>
            <a:ext cx="2468880" cy="274320"/>
          </a:xfrm>
          <a:prstGeom prst="rect">
            <a:avLst/>
          </a:prstGeom>
          <a:noFill/>
        </p:spPr>
        <p:txBody>
          <a:bodyPr wrap="square">
            <a:spAutoFit/>
          </a:bodyPr>
          <a:lstStyle/>
          <a:p>
            <a:pPr algn="l">
              <a:spcAft>
                <a:spcPts val="0"/>
              </a:spcAft>
            </a:pPr>
            <a:r>
              <a:rPr sz="1100" b="0">
                <a:solidFill>
                  <a:srgbClr val="5B6472"/>
                </a:solidFill>
                <a:latin typeface="Calibri"/>
              </a:rPr>
              <a:t>district × year · 154</a:t>
            </a:r>
          </a:p>
        </p:txBody>
      </p:sp>
      <p:sp>
        <p:nvSpPr>
          <p:cNvPr id="34" name="TextBox 33"/>
          <p:cNvSpPr txBox="1"/>
          <p:nvPr/>
        </p:nvSpPr>
        <p:spPr>
          <a:xfrm>
            <a:off x="6492240" y="4059936"/>
            <a:ext cx="5029200" cy="320040"/>
          </a:xfrm>
          <a:prstGeom prst="rect">
            <a:avLst/>
          </a:prstGeom>
          <a:noFill/>
        </p:spPr>
        <p:txBody>
          <a:bodyPr wrap="square">
            <a:spAutoFit/>
          </a:bodyPr>
          <a:lstStyle/>
          <a:p>
            <a:pPr algn="l">
              <a:spcAft>
                <a:spcPts val="0"/>
              </a:spcAft>
            </a:pPr>
            <a:r>
              <a:rPr sz="1150" b="0">
                <a:solidFill>
                  <a:srgbClr val="5B6472"/>
                </a:solidFill>
                <a:latin typeface="Calibri"/>
              </a:rPr>
              <a:t>Unpivots 1995/1996 pairs, so a year stops being part of a column name.</a:t>
            </a:r>
          </a:p>
        </p:txBody>
      </p:sp>
      <p:sp>
        <p:nvSpPr>
          <p:cNvPr id="35" name="Rounded Rectangle 34"/>
          <p:cNvSpPr/>
          <p:nvPr/>
        </p:nvSpPr>
        <p:spPr>
          <a:xfrm>
            <a:off x="548640" y="4521708"/>
            <a:ext cx="475488" cy="530352"/>
          </a:xfrm>
          <a:prstGeom prst="roundRect">
            <a:avLst>
              <a:gd name="adj" fmla="val 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640580"/>
            <a:ext cx="475488" cy="320040"/>
          </a:xfrm>
          <a:prstGeom prst="rect">
            <a:avLst/>
          </a:prstGeom>
          <a:noFill/>
        </p:spPr>
        <p:txBody>
          <a:bodyPr wrap="square">
            <a:spAutoFit/>
          </a:bodyPr>
          <a:lstStyle/>
          <a:p>
            <a:pPr algn="ctr">
              <a:spcAft>
                <a:spcPts val="0"/>
              </a:spcAft>
            </a:pPr>
            <a:r>
              <a:rPr sz="1300" b="1">
                <a:solidFill>
                  <a:srgbClr val="FFFFFF"/>
                </a:solidFill>
                <a:latin typeface="Calibri"/>
              </a:rPr>
              <a:t>G6</a:t>
            </a:r>
          </a:p>
        </p:txBody>
      </p:sp>
      <p:sp>
        <p:nvSpPr>
          <p:cNvPr id="37" name="Rounded Rectangle 36"/>
          <p:cNvSpPr/>
          <p:nvPr/>
        </p:nvSpPr>
        <p:spPr>
          <a:xfrm>
            <a:off x="1024128" y="4521708"/>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7008" y="4640580"/>
            <a:ext cx="2651760" cy="292608"/>
          </a:xfrm>
          <a:prstGeom prst="rect">
            <a:avLst/>
          </a:prstGeom>
          <a:noFill/>
        </p:spPr>
        <p:txBody>
          <a:bodyPr wrap="square">
            <a:spAutoFit/>
          </a:bodyPr>
          <a:lstStyle/>
          <a:p>
            <a:pPr algn="l">
              <a:spcAft>
                <a:spcPts val="0"/>
              </a:spcAft>
            </a:pPr>
            <a:r>
              <a:rPr sz="1250" b="1">
                <a:solidFill>
                  <a:srgbClr val="1F2A44"/>
                </a:solidFill>
                <a:latin typeface="Calibri"/>
              </a:rPr>
              <a:t>fact_card_activity</a:t>
            </a:r>
          </a:p>
        </p:txBody>
      </p:sp>
      <p:sp>
        <p:nvSpPr>
          <p:cNvPr id="39" name="TextBox 38"/>
          <p:cNvSpPr txBox="1"/>
          <p:nvPr/>
        </p:nvSpPr>
        <p:spPr>
          <a:xfrm>
            <a:off x="3931920" y="4658868"/>
            <a:ext cx="2468880" cy="274320"/>
          </a:xfrm>
          <a:prstGeom prst="rect">
            <a:avLst/>
          </a:prstGeom>
          <a:noFill/>
        </p:spPr>
        <p:txBody>
          <a:bodyPr wrap="square">
            <a:spAutoFit/>
          </a:bodyPr>
          <a:lstStyle/>
          <a:p>
            <a:pPr algn="l">
              <a:spcAft>
                <a:spcPts val="0"/>
              </a:spcAft>
            </a:pPr>
            <a:r>
              <a:rPr sz="1100" b="0">
                <a:solidFill>
                  <a:srgbClr val="5B6472"/>
                </a:solidFill>
                <a:latin typeface="Calibri"/>
              </a:rPr>
              <a:t>account × month · 8,036 postings</a:t>
            </a:r>
          </a:p>
        </p:txBody>
      </p:sp>
      <p:sp>
        <p:nvSpPr>
          <p:cNvPr id="40" name="TextBox 39"/>
          <p:cNvSpPr txBox="1"/>
          <p:nvPr/>
        </p:nvSpPr>
        <p:spPr>
          <a:xfrm>
            <a:off x="6492240" y="4649724"/>
            <a:ext cx="5029200" cy="320040"/>
          </a:xfrm>
          <a:prstGeom prst="rect">
            <a:avLst/>
          </a:prstGeom>
          <a:noFill/>
        </p:spPr>
        <p:txBody>
          <a:bodyPr wrap="square">
            <a:spAutoFit/>
          </a:bodyPr>
          <a:lstStyle/>
          <a:p>
            <a:pPr algn="l">
              <a:spcAft>
                <a:spcPts val="0"/>
              </a:spcAft>
            </a:pPr>
            <a:r>
              <a:rPr sz="1150" b="0">
                <a:solidFill>
                  <a:srgbClr val="5B6472"/>
                </a:solidFill>
                <a:latin typeface="Calibri"/>
              </a:rPr>
              <a:t>Card usage and dormancy. Limited: postings carry no card id.</a:t>
            </a:r>
          </a:p>
        </p:txBody>
      </p:sp>
      <p:sp>
        <p:nvSpPr>
          <p:cNvPr id="41" name="Rounded Rectangle 40"/>
          <p:cNvSpPr/>
          <p:nvPr/>
        </p:nvSpPr>
        <p:spPr>
          <a:xfrm>
            <a:off x="548640" y="5111496"/>
            <a:ext cx="475488" cy="530352"/>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230368"/>
            <a:ext cx="475488" cy="320040"/>
          </a:xfrm>
          <a:prstGeom prst="rect">
            <a:avLst/>
          </a:prstGeom>
          <a:noFill/>
        </p:spPr>
        <p:txBody>
          <a:bodyPr wrap="square">
            <a:spAutoFit/>
          </a:bodyPr>
          <a:lstStyle/>
          <a:p>
            <a:pPr algn="ctr">
              <a:spcAft>
                <a:spcPts val="0"/>
              </a:spcAft>
            </a:pPr>
            <a:r>
              <a:rPr sz="1300" b="1">
                <a:solidFill>
                  <a:srgbClr val="FFFFFF"/>
                </a:solidFill>
                <a:latin typeface="Calibri"/>
              </a:rPr>
              <a:t>G7</a:t>
            </a:r>
          </a:p>
        </p:txBody>
      </p:sp>
      <p:sp>
        <p:nvSpPr>
          <p:cNvPr id="43" name="Rounded Rectangle 42"/>
          <p:cNvSpPr/>
          <p:nvPr/>
        </p:nvSpPr>
        <p:spPr>
          <a:xfrm>
            <a:off x="1024128" y="5111496"/>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07008" y="5230368"/>
            <a:ext cx="2651760" cy="292608"/>
          </a:xfrm>
          <a:prstGeom prst="rect">
            <a:avLst/>
          </a:prstGeom>
          <a:noFill/>
        </p:spPr>
        <p:txBody>
          <a:bodyPr wrap="square">
            <a:spAutoFit/>
          </a:bodyPr>
          <a:lstStyle/>
          <a:p>
            <a:pPr algn="l">
              <a:spcAft>
                <a:spcPts val="0"/>
              </a:spcAft>
            </a:pPr>
            <a:r>
              <a:rPr sz="1250" b="1">
                <a:solidFill>
                  <a:srgbClr val="1F2A44"/>
                </a:solidFill>
                <a:latin typeface="Calibri"/>
              </a:rPr>
              <a:t>fact_interbank_flow</a:t>
            </a:r>
          </a:p>
        </p:txBody>
      </p:sp>
      <p:sp>
        <p:nvSpPr>
          <p:cNvPr id="45" name="TextBox 44"/>
          <p:cNvSpPr txBox="1"/>
          <p:nvPr/>
        </p:nvSpPr>
        <p:spPr>
          <a:xfrm>
            <a:off x="3931920" y="5248656"/>
            <a:ext cx="2468880" cy="274320"/>
          </a:xfrm>
          <a:prstGeom prst="rect">
            <a:avLst/>
          </a:prstGeom>
          <a:noFill/>
        </p:spPr>
        <p:txBody>
          <a:bodyPr wrap="square">
            <a:spAutoFit/>
          </a:bodyPr>
          <a:lstStyle/>
          <a:p>
            <a:pPr algn="l">
              <a:spcAft>
                <a:spcPts val="0"/>
              </a:spcAft>
            </a:pPr>
            <a:r>
              <a:rPr sz="1100" b="0">
                <a:solidFill>
                  <a:srgbClr val="5B6472"/>
                </a:solidFill>
                <a:latin typeface="Calibri"/>
              </a:rPr>
              <a:t>bank × month · 273,508 postings</a:t>
            </a:r>
          </a:p>
        </p:txBody>
      </p:sp>
      <p:sp>
        <p:nvSpPr>
          <p:cNvPr id="46" name="TextBox 45"/>
          <p:cNvSpPr txBox="1"/>
          <p:nvPr/>
        </p:nvSpPr>
        <p:spPr>
          <a:xfrm>
            <a:off x="6492240" y="5239512"/>
            <a:ext cx="5029200" cy="320040"/>
          </a:xfrm>
          <a:prstGeom prst="rect">
            <a:avLst/>
          </a:prstGeom>
          <a:noFill/>
        </p:spPr>
        <p:txBody>
          <a:bodyPr wrap="square">
            <a:spAutoFit/>
          </a:bodyPr>
          <a:lstStyle/>
          <a:p>
            <a:pPr algn="l">
              <a:spcAft>
                <a:spcPts val="0"/>
              </a:spcAft>
            </a:pPr>
            <a:r>
              <a:rPr sz="1150" b="0">
                <a:solidFill>
                  <a:srgbClr val="5B6472"/>
                </a:solidFill>
                <a:latin typeface="Calibri"/>
              </a:rPr>
              <a:t>Counterparty concentration — a question the product cannot answer at all today.</a:t>
            </a:r>
          </a:p>
        </p:txBody>
      </p:sp>
      <p:sp>
        <p:nvSpPr>
          <p:cNvPr id="47" name="Rounded Rectangle 46"/>
          <p:cNvSpPr/>
          <p:nvPr/>
        </p:nvSpPr>
        <p:spPr>
          <a:xfrm>
            <a:off x="548640" y="5701284"/>
            <a:ext cx="475488" cy="530352"/>
          </a:xfrm>
          <a:prstGeom prst="roundRect">
            <a:avLst>
              <a:gd name="adj" fmla="val 4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820156"/>
            <a:ext cx="475488" cy="320040"/>
          </a:xfrm>
          <a:prstGeom prst="rect">
            <a:avLst/>
          </a:prstGeom>
          <a:noFill/>
        </p:spPr>
        <p:txBody>
          <a:bodyPr wrap="square">
            <a:spAutoFit/>
          </a:bodyPr>
          <a:lstStyle/>
          <a:p>
            <a:pPr algn="ctr">
              <a:spcAft>
                <a:spcPts val="0"/>
              </a:spcAft>
            </a:pPr>
            <a:r>
              <a:rPr sz="1300" b="1">
                <a:solidFill>
                  <a:srgbClr val="FFFFFF"/>
                </a:solidFill>
                <a:latin typeface="Calibri"/>
              </a:rPr>
              <a:t>G8</a:t>
            </a:r>
          </a:p>
        </p:txBody>
      </p:sp>
      <p:sp>
        <p:nvSpPr>
          <p:cNvPr id="49" name="Rounded Rectangle 48"/>
          <p:cNvSpPr/>
          <p:nvPr/>
        </p:nvSpPr>
        <p:spPr>
          <a:xfrm>
            <a:off x="1024128" y="5701284"/>
            <a:ext cx="10634472" cy="530352"/>
          </a:xfrm>
          <a:prstGeom prst="roundRect">
            <a:avLst>
              <a:gd name="adj" fmla="val 4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07008" y="5820156"/>
            <a:ext cx="2651760" cy="292608"/>
          </a:xfrm>
          <a:prstGeom prst="rect">
            <a:avLst/>
          </a:prstGeom>
          <a:noFill/>
        </p:spPr>
        <p:txBody>
          <a:bodyPr wrap="square">
            <a:spAutoFit/>
          </a:bodyPr>
          <a:lstStyle/>
          <a:p>
            <a:pPr algn="l">
              <a:spcAft>
                <a:spcPts val="0"/>
              </a:spcAft>
            </a:pPr>
            <a:r>
              <a:rPr sz="1250" b="1">
                <a:solidFill>
                  <a:srgbClr val="1F2A44"/>
                </a:solidFill>
                <a:latin typeface="Calibri"/>
              </a:rPr>
              <a:t>the metric layer</a:t>
            </a:r>
          </a:p>
        </p:txBody>
      </p:sp>
      <p:sp>
        <p:nvSpPr>
          <p:cNvPr id="51" name="TextBox 50"/>
          <p:cNvSpPr txBox="1"/>
          <p:nvPr/>
        </p:nvSpPr>
        <p:spPr>
          <a:xfrm>
            <a:off x="3931920" y="5838444"/>
            <a:ext cx="2468880" cy="274320"/>
          </a:xfrm>
          <a:prstGeom prst="rect">
            <a:avLst/>
          </a:prstGeom>
          <a:noFill/>
        </p:spPr>
        <p:txBody>
          <a:bodyPr wrap="square">
            <a:spAutoFit/>
          </a:bodyPr>
          <a:lstStyle/>
          <a:p>
            <a:pPr algn="l">
              <a:spcAft>
                <a:spcPts val="0"/>
              </a:spcAft>
            </a:pPr>
            <a:r>
              <a:rPr sz="1100" b="0">
                <a:solidFill>
                  <a:srgbClr val="5B6472"/>
                </a:solidFill>
                <a:latin typeface="Calibri"/>
              </a:rPr>
              <a:t>definitions, not rows</a:t>
            </a:r>
          </a:p>
        </p:txBody>
      </p:sp>
      <p:sp>
        <p:nvSpPr>
          <p:cNvPr id="52" name="TextBox 51"/>
          <p:cNvSpPr txBox="1"/>
          <p:nvPr/>
        </p:nvSpPr>
        <p:spPr>
          <a:xfrm>
            <a:off x="6492240" y="5829300"/>
            <a:ext cx="5029200" cy="320040"/>
          </a:xfrm>
          <a:prstGeom prst="rect">
            <a:avLst/>
          </a:prstGeom>
          <a:noFill/>
        </p:spPr>
        <p:txBody>
          <a:bodyPr wrap="square">
            <a:spAutoFit/>
          </a:bodyPr>
          <a:lstStyle/>
          <a:p>
            <a:pPr algn="l">
              <a:spcAft>
                <a:spcPts val="0"/>
              </a:spcAft>
            </a:pPr>
            <a:r>
              <a:rPr sz="1150" b="0">
                <a:solidFill>
                  <a:srgbClr val="5B6472"/>
                </a:solidFill>
                <a:latin typeface="Calibri"/>
              </a:rPr>
              <a:t>Certified metrics promoted out of YAML into objects with an owner and a test.</a:t>
            </a:r>
          </a:p>
        </p:txBody>
      </p:sp>
      <p:sp>
        <p:nvSpPr>
          <p:cNvPr id="53" name="TextBox 52"/>
          <p:cNvSpPr txBox="1"/>
          <p:nvPr/>
        </p:nvSpPr>
        <p:spPr>
          <a:xfrm>
            <a:off x="548640" y="6382512"/>
            <a:ext cx="11155680" cy="320040"/>
          </a:xfrm>
          <a:prstGeom prst="rect">
            <a:avLst/>
          </a:prstGeom>
          <a:noFill/>
        </p:spPr>
        <p:txBody>
          <a:bodyPr wrap="square">
            <a:spAutoFit/>
          </a:bodyPr>
          <a:lstStyle/>
          <a:p>
            <a:pPr algn="l">
              <a:spcAft>
                <a:spcPts val="0"/>
              </a:spcAft>
            </a:pPr>
            <a:r>
              <a:rPr sz="1200" b="1">
                <a:solidFill>
                  <a:srgbClr val="1F3864"/>
                </a:solidFill>
                <a:latin typeface="Calibri"/>
              </a:rPr>
              <a:t>Build order: G1, G5, G2, G3. G4, G6 and G7 each need a business owner to agree an attribution rule first — building them before that conversation is how a product acquires a number nobody trusts.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spcAft>
                <a:spcPts val="200"/>
              </a:spcAft>
            </a:pPr>
            <a:r>
              <a:rPr sz="1100" b="1">
                <a:solidFill>
                  <a:srgbClr val="5B6472"/>
                </a:solidFill>
                <a:latin typeface="Calibri"/>
              </a:rPr>
              <a:t>STATED SO THE LIST ABOVE IS BELIEVABLE</a:t>
            </a:r>
          </a:p>
        </p:txBody>
      </p:sp>
      <p:sp>
        <p:nvSpPr>
          <p:cNvPr id="3" name="TextBox 2"/>
          <p:cNvSpPr txBox="1"/>
          <p:nvPr/>
        </p:nvSpPr>
        <p:spPr>
          <a:xfrm>
            <a:off x="548640" y="566928"/>
            <a:ext cx="11155680" cy="822960"/>
          </a:xfrm>
          <a:prstGeom prst="rect">
            <a:avLst/>
          </a:prstGeom>
          <a:noFill/>
        </p:spPr>
        <p:txBody>
          <a:bodyPr wrap="square">
            <a:spAutoFit/>
          </a:bodyPr>
          <a:lstStyle/>
          <a:p>
            <a:pPr algn="l">
              <a:spcAft>
                <a:spcPts val="200"/>
              </a:spcAft>
            </a:pPr>
            <a:r>
              <a:rPr sz="3000" b="1">
                <a:solidFill>
                  <a:srgbClr val="1F3864"/>
                </a:solidFill>
                <a:latin typeface="Calibri"/>
              </a:rPr>
              <a:t>And what this data cannot become</a:t>
            </a:r>
          </a:p>
        </p:txBody>
      </p:sp>
      <p:sp>
        <p:nvSpPr>
          <p:cNvPr id="4" name="TextBox 3"/>
          <p:cNvSpPr txBox="1"/>
          <p:nvPr/>
        </p:nvSpPr>
        <p:spPr>
          <a:xfrm>
            <a:off x="640080" y="1234440"/>
            <a:ext cx="10972800" cy="365760"/>
          </a:xfrm>
          <a:prstGeom prst="rect">
            <a:avLst/>
          </a:prstGeom>
          <a:noFill/>
        </p:spPr>
        <p:txBody>
          <a:bodyPr wrap="square">
            <a:spAutoFit/>
          </a:bodyPr>
          <a:lstStyle/>
          <a:p>
            <a:pPr algn="l">
              <a:spcAft>
                <a:spcPts val="800"/>
              </a:spcAft>
            </a:pPr>
            <a:r>
              <a:rPr sz="1550" b="0">
                <a:solidFill>
                  <a:srgbClr val="5B6472"/>
                </a:solidFill>
                <a:latin typeface="Calibri"/>
              </a:rPr>
              <a:t>Five things no amount of modelling will produce from this source. Each one is a place where a plausible-looking table would be an invention.</a:t>
            </a:r>
          </a:p>
        </p:txBody>
      </p:sp>
      <p:sp>
        <p:nvSpPr>
          <p:cNvPr id="5" name="Rounded Rectangle 4"/>
          <p:cNvSpPr/>
          <p:nvPr/>
        </p:nvSpPr>
        <p:spPr>
          <a:xfrm>
            <a:off x="548640" y="1874519"/>
            <a:ext cx="11109960" cy="841248"/>
          </a:xfrm>
          <a:prstGeom prst="roundRect">
            <a:avLst>
              <a:gd name="adj" fmla="val 4000"/>
            </a:avLst>
          </a:prstGeom>
          <a:solidFill>
            <a:srgbClr val="F7F9FC"/>
          </a:solidFill>
          <a:ln w="9525">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65959"/>
            <a:ext cx="3657600" cy="320040"/>
          </a:xfrm>
          <a:prstGeom prst="rect">
            <a:avLst/>
          </a:prstGeom>
          <a:noFill/>
        </p:spPr>
        <p:txBody>
          <a:bodyPr wrap="square">
            <a:spAutoFit/>
          </a:bodyPr>
          <a:lstStyle/>
          <a:p>
            <a:pPr algn="l">
              <a:spcAft>
                <a:spcPts val="0"/>
              </a:spcAft>
            </a:pPr>
            <a:r>
              <a:rPr sz="1400" b="1">
                <a:solidFill>
                  <a:srgbClr val="1F2A44"/>
                </a:solidFill>
                <a:latin typeface="Calibri"/>
              </a:rPr>
              <a:t>No product or channel dimension</a:t>
            </a:r>
          </a:p>
        </p:txBody>
      </p:sp>
      <p:sp>
        <p:nvSpPr>
          <p:cNvPr id="7" name="TextBox 6"/>
          <p:cNvSpPr txBox="1"/>
          <p:nvPr/>
        </p:nvSpPr>
        <p:spPr>
          <a:xfrm>
            <a:off x="4663440" y="1984247"/>
            <a:ext cx="6766560" cy="640080"/>
          </a:xfrm>
          <a:prstGeom prst="rect">
            <a:avLst/>
          </a:prstGeom>
          <a:noFill/>
        </p:spPr>
        <p:txBody>
          <a:bodyPr wrap="square">
            <a:spAutoFit/>
          </a:bodyPr>
          <a:lstStyle/>
          <a:p>
            <a:pPr algn="l">
              <a:spcAft>
                <a:spcPts val="0"/>
              </a:spcAft>
            </a:pPr>
            <a:r>
              <a:rPr sz="1150" b="0">
                <a:solidFill>
                  <a:srgbClr val="5B6472"/>
                </a:solidFill>
                <a:latin typeface="Calibri"/>
              </a:rPr>
              <a:t>There is no product catalogue anywhere in the extract. Card type is the only product-like attribute that exists.</a:t>
            </a:r>
          </a:p>
        </p:txBody>
      </p:sp>
      <p:sp>
        <p:nvSpPr>
          <p:cNvPr id="8" name="Rounded Rectangle 7"/>
          <p:cNvSpPr/>
          <p:nvPr/>
        </p:nvSpPr>
        <p:spPr>
          <a:xfrm>
            <a:off x="548640" y="2807207"/>
            <a:ext cx="11109960" cy="841248"/>
          </a:xfrm>
          <a:prstGeom prst="roundRect">
            <a:avLst>
              <a:gd name="adj" fmla="val 4000"/>
            </a:avLst>
          </a:prstGeom>
          <a:solidFill>
            <a:srgbClr val="F7F9FC"/>
          </a:solidFill>
          <a:ln w="9525">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98647"/>
            <a:ext cx="3657600" cy="320040"/>
          </a:xfrm>
          <a:prstGeom prst="rect">
            <a:avLst/>
          </a:prstGeom>
          <a:noFill/>
        </p:spPr>
        <p:txBody>
          <a:bodyPr wrap="square">
            <a:spAutoFit/>
          </a:bodyPr>
          <a:lstStyle/>
          <a:p>
            <a:pPr algn="l">
              <a:spcAft>
                <a:spcPts val="0"/>
              </a:spcAft>
            </a:pPr>
            <a:r>
              <a:rPr sz="1400" b="1">
                <a:solidFill>
                  <a:srgbClr val="1F2A44"/>
                </a:solidFill>
                <a:latin typeface="Calibri"/>
              </a:rPr>
              <a:t>No customer segment or demographics</a:t>
            </a:r>
          </a:p>
        </p:txBody>
      </p:sp>
      <p:sp>
        <p:nvSpPr>
          <p:cNvPr id="10" name="TextBox 9"/>
          <p:cNvSpPr txBox="1"/>
          <p:nvPr/>
        </p:nvSpPr>
        <p:spPr>
          <a:xfrm>
            <a:off x="4663440" y="2916935"/>
            <a:ext cx="6766560" cy="640080"/>
          </a:xfrm>
          <a:prstGeom prst="rect">
            <a:avLst/>
          </a:prstGeom>
          <a:noFill/>
        </p:spPr>
        <p:txBody>
          <a:bodyPr wrap="square">
            <a:spAutoFit/>
          </a:bodyPr>
          <a:lstStyle/>
          <a:p>
            <a:pPr algn="l">
              <a:spcAft>
                <a:spcPts val="0"/>
              </a:spcAft>
            </a:pPr>
            <a:r>
              <a:rPr sz="1150" b="0">
                <a:solidFill>
                  <a:srgbClr val="5B6472"/>
                </a:solidFill>
                <a:latin typeface="Calibri"/>
              </a:rPr>
              <a:t>Beyond derived age and gender, there is nothing. Any "segment" would be this pipeline's invention wearing a business name.</a:t>
            </a:r>
          </a:p>
        </p:txBody>
      </p:sp>
      <p:sp>
        <p:nvSpPr>
          <p:cNvPr id="11" name="Rounded Rectangle 10"/>
          <p:cNvSpPr/>
          <p:nvPr/>
        </p:nvSpPr>
        <p:spPr>
          <a:xfrm>
            <a:off x="548640" y="3739895"/>
            <a:ext cx="11109960" cy="841248"/>
          </a:xfrm>
          <a:prstGeom prst="roundRect">
            <a:avLst>
              <a:gd name="adj" fmla="val 4000"/>
            </a:avLst>
          </a:prstGeom>
          <a:solidFill>
            <a:srgbClr val="F7F9FC"/>
          </a:solidFill>
          <a:ln w="9525">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831335"/>
            <a:ext cx="3657600" cy="320040"/>
          </a:xfrm>
          <a:prstGeom prst="rect">
            <a:avLst/>
          </a:prstGeom>
          <a:noFill/>
        </p:spPr>
        <p:txBody>
          <a:bodyPr wrap="square">
            <a:spAutoFit/>
          </a:bodyPr>
          <a:lstStyle/>
          <a:p>
            <a:pPr algn="l">
              <a:spcAft>
                <a:spcPts val="0"/>
              </a:spcAft>
            </a:pPr>
            <a:r>
              <a:rPr sz="1400" b="1">
                <a:solidFill>
                  <a:srgbClr val="1F2A44"/>
                </a:solidFill>
                <a:latin typeface="Calibri"/>
              </a:rPr>
              <a:t>No history on any dimension</a:t>
            </a:r>
          </a:p>
        </p:txBody>
      </p:sp>
      <p:sp>
        <p:nvSpPr>
          <p:cNvPr id="13" name="TextBox 12"/>
          <p:cNvSpPr txBox="1"/>
          <p:nvPr/>
        </p:nvSpPr>
        <p:spPr>
          <a:xfrm>
            <a:off x="4663440" y="3849623"/>
            <a:ext cx="6766560" cy="640080"/>
          </a:xfrm>
          <a:prstGeom prst="rect">
            <a:avLst/>
          </a:prstGeom>
          <a:noFill/>
        </p:spPr>
        <p:txBody>
          <a:bodyPr wrap="square">
            <a:spAutoFit/>
          </a:bodyPr>
          <a:lstStyle/>
          <a:p>
            <a:pPr algn="l">
              <a:spcAft>
                <a:spcPts val="0"/>
              </a:spcAft>
            </a:pPr>
            <a:r>
              <a:rPr sz="1150" b="0">
                <a:solidFill>
                  <a:srgbClr val="5B6472"/>
                </a:solidFill>
                <a:latin typeface="Calibri"/>
              </a:rPr>
              <a:t>Clients, accounts and districts each appear exactly once. A slowly changing dimension cannot be built from a snapshot — it can only be started from today.</a:t>
            </a:r>
          </a:p>
        </p:txBody>
      </p:sp>
      <p:sp>
        <p:nvSpPr>
          <p:cNvPr id="14" name="Rounded Rectangle 13"/>
          <p:cNvSpPr/>
          <p:nvPr/>
        </p:nvSpPr>
        <p:spPr>
          <a:xfrm>
            <a:off x="548640" y="4672583"/>
            <a:ext cx="11109960" cy="841248"/>
          </a:xfrm>
          <a:prstGeom prst="roundRect">
            <a:avLst>
              <a:gd name="adj" fmla="val 4000"/>
            </a:avLst>
          </a:prstGeom>
          <a:solidFill>
            <a:srgbClr val="F7F9FC"/>
          </a:solidFill>
          <a:ln w="9525">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764023"/>
            <a:ext cx="3657600" cy="320040"/>
          </a:xfrm>
          <a:prstGeom prst="rect">
            <a:avLst/>
          </a:prstGeom>
          <a:noFill/>
        </p:spPr>
        <p:txBody>
          <a:bodyPr wrap="square">
            <a:spAutoFit/>
          </a:bodyPr>
          <a:lstStyle/>
          <a:p>
            <a:pPr algn="l">
              <a:spcAft>
                <a:spcPts val="0"/>
              </a:spcAft>
            </a:pPr>
            <a:r>
              <a:rPr sz="1400" b="1">
                <a:solidFill>
                  <a:srgbClr val="1F2A44"/>
                </a:solidFill>
                <a:latin typeface="Calibri"/>
              </a:rPr>
              <a:t>No intra-day ordering</a:t>
            </a:r>
          </a:p>
        </p:txBody>
      </p:sp>
      <p:sp>
        <p:nvSpPr>
          <p:cNvPr id="16" name="TextBox 15"/>
          <p:cNvSpPr txBox="1"/>
          <p:nvPr/>
        </p:nvSpPr>
        <p:spPr>
          <a:xfrm>
            <a:off x="4663440" y="4782311"/>
            <a:ext cx="6766560" cy="640080"/>
          </a:xfrm>
          <a:prstGeom prst="rect">
            <a:avLst/>
          </a:prstGeom>
          <a:noFill/>
        </p:spPr>
        <p:txBody>
          <a:bodyPr wrap="square">
            <a:spAutoFit/>
          </a:bodyPr>
          <a:lstStyle/>
          <a:p>
            <a:pPr algn="l">
              <a:spcAft>
                <a:spcPts val="0"/>
              </a:spcAft>
            </a:pPr>
            <a:r>
              <a:rPr sz="1150" b="0">
                <a:solidFill>
                  <a:srgbClr val="5B6472"/>
                </a:solidFill>
                <a:latin typeface="Calibri"/>
              </a:rPr>
              <a:t>183 accounts have an ambiguous last posting of the day. No derived table can resolve what the source did not record; it can only state the tie-break.</a:t>
            </a:r>
          </a:p>
        </p:txBody>
      </p:sp>
      <p:sp>
        <p:nvSpPr>
          <p:cNvPr id="17" name="Rounded Rectangle 16"/>
          <p:cNvSpPr/>
          <p:nvPr/>
        </p:nvSpPr>
        <p:spPr>
          <a:xfrm>
            <a:off x="548640" y="5605271"/>
            <a:ext cx="11109960" cy="841248"/>
          </a:xfrm>
          <a:prstGeom prst="roundRect">
            <a:avLst>
              <a:gd name="adj" fmla="val 4000"/>
            </a:avLst>
          </a:prstGeom>
          <a:solidFill>
            <a:srgbClr val="F7F9FC"/>
          </a:solidFill>
          <a:ln w="9525">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696711"/>
            <a:ext cx="3657600" cy="320040"/>
          </a:xfrm>
          <a:prstGeom prst="rect">
            <a:avLst/>
          </a:prstGeom>
          <a:noFill/>
        </p:spPr>
        <p:txBody>
          <a:bodyPr wrap="square">
            <a:spAutoFit/>
          </a:bodyPr>
          <a:lstStyle/>
          <a:p>
            <a:pPr algn="l">
              <a:spcAft>
                <a:spcPts val="0"/>
              </a:spcAft>
            </a:pPr>
            <a:r>
              <a:rPr sz="1400" b="1">
                <a:solidFill>
                  <a:srgbClr val="1F2A44"/>
                </a:solidFill>
                <a:latin typeface="Calibri"/>
              </a:rPr>
              <a:t>No opening balance</a:t>
            </a:r>
          </a:p>
        </p:txBody>
      </p:sp>
      <p:sp>
        <p:nvSpPr>
          <p:cNvPr id="19" name="TextBox 18"/>
          <p:cNvSpPr txBox="1"/>
          <p:nvPr/>
        </p:nvSpPr>
        <p:spPr>
          <a:xfrm>
            <a:off x="4663440" y="5714999"/>
            <a:ext cx="6766560" cy="640080"/>
          </a:xfrm>
          <a:prstGeom prst="rect">
            <a:avLst/>
          </a:prstGeom>
          <a:noFill/>
        </p:spPr>
        <p:txBody>
          <a:bodyPr wrap="square">
            <a:spAutoFit/>
          </a:bodyPr>
          <a:lstStyle/>
          <a:p>
            <a:pPr algn="l">
              <a:spcAft>
                <a:spcPts val="0"/>
              </a:spcAft>
            </a:pPr>
            <a:r>
              <a:rPr sz="1150" b="0">
                <a:solidFill>
                  <a:srgbClr val="5B6472"/>
                </a:solidFill>
                <a:latin typeface="Calibri"/>
              </a:rPr>
              <a:t>The balance before an account's first posting is unknown, which is why the month-end table starts at the first active month, not at the account open date.</a:t>
            </a:r>
          </a:p>
        </p:txBody>
      </p:sp>
      <p:sp>
        <p:nvSpPr>
          <p:cNvPr id="20" name="TextBox 19"/>
          <p:cNvSpPr txBox="1"/>
          <p:nvPr/>
        </p:nvSpPr>
        <p:spPr>
          <a:xfrm>
            <a:off x="548640" y="6473952"/>
            <a:ext cx="11155680" cy="320040"/>
          </a:xfrm>
          <a:prstGeom prst="rect">
            <a:avLst/>
          </a:prstGeom>
          <a:noFill/>
        </p:spPr>
        <p:txBody>
          <a:bodyPr wrap="square">
            <a:spAutoFit/>
          </a:bodyPr>
          <a:lstStyle/>
          <a:p>
            <a:pPr algn="l">
              <a:spcAft>
                <a:spcPts val="0"/>
              </a:spcAft>
            </a:pPr>
            <a:r>
              <a:rPr sz="1300" b="1">
                <a:solidFill>
                  <a:srgbClr val="1F3864"/>
                </a:solidFill>
                <a:latin typeface="Calibri"/>
              </a:rPr>
              <a:t>A list of what you can build is only worth reading next to a list of what you cannot.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