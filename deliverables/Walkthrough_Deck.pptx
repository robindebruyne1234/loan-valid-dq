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"I'll show you three things - that the data is trustworthy, that</a:t>
            </a:r>
          </a:p>
          <a:p>
            <a:r>
              <a:t>the meaning is pinned down, and that people only see their own customers. Each</a:t>
            </a:r>
          </a:p>
          <a:p>
            <a:r>
              <a:t>one is backed by something that runs, not by a description."</a:t>
            </a:r>
          </a:p>
          <a:p/>
          <a:p>
            <a:r>
              <a:t>Set expectations: about 20 minutes of walkthrough, and I'd rather be</a:t>
            </a:r>
          </a:p>
          <a:p>
            <a:r>
              <a:t>interrupted than talk for 20 minutes straight.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sentence is the red one. A wrong-but-confident answer is worse than a</a:t>
            </a:r>
          </a:p>
          <a:p>
            <a:r>
              <a:t>refusal, because nobody checks it.</a:t>
            </a:r>
          </a:p>
          <a:p/>
          <a:p>
            <a:r>
              <a:t>If asked why not just point an AI at the database: because all three of these</a:t>
            </a:r>
          </a:p>
          <a:p>
            <a:r>
              <a:t>fail at once. That is the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whole talk. Everything else hangs off these four.</a:t>
            </a:r>
          </a:p>
          <a:p/>
          <a:p>
            <a:r>
              <a:t>The discipline point: Bronze is not allowed to clean, Silver is not allowed to</a:t>
            </a:r>
          </a:p>
          <a:p>
            <a:r>
              <a:t>delete, Gold is not allowed to reach back past Silver. Each boundary stops a</a:t>
            </a:r>
          </a:p>
          <a:p>
            <a:r>
              <a:t>specific class of mistake.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temptation at this step is to be helpful - trim a space, fix a date. Do not.</a:t>
            </a:r>
          </a:p>
          <a:p>
            <a:r>
              <a:t>Every repair here is a defect you can no longer find.</a:t>
            </a:r>
          </a:p>
          <a:p/>
          <a:p>
            <a:r>
              <a:t>The row counts matching the published reference exactly is the first piece of</a:t>
            </a:r>
          </a:p>
          <a:p>
            <a:r>
              <a:t>evidence that the pipeline is sound: we did not get a different dataset.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lanes left to right. The point is that each colour has a</a:t>
            </a:r>
          </a:p>
          <a:p>
            <a:r>
              <a:t>MECHANICAL consequence, not just a label in a report.</a:t>
            </a:r>
          </a:p>
          <a:p/>
          <a:p>
            <a:r>
              <a:t>Orange is the one people miss: the warning travels with the row all the way</a:t>
            </a:r>
          </a:p>
          <a:p>
            <a:r>
              <a:t>into the answer the AI gives, so the caveat cannot get lost in a document</a:t>
            </a:r>
          </a:p>
          <a:p>
            <a:r>
              <a:t>nobody opens.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If they remember one thing, make it this.</a:t>
            </a:r>
          </a:p>
          <a:p/>
          <a:p>
            <a:r>
              <a:t>The general principle: before setting a severity, ask what ACTING on it would</a:t>
            </a:r>
          </a:p>
          <a:p>
            <a:r>
              <a:t>cost. A defensible rule with the wrong grade does more damage than the defect.</a:t>
            </a:r>
          </a:p>
          <a:p/>
          <a:p>
            <a:r>
              <a:t>Expect the question "isn't zero always wrong?" - answer with the interest run:</a:t>
            </a:r>
          </a:p>
          <a:p>
            <a:r>
              <a:t>the bank charged interest, it worked out to nothing, the posting is real.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bridge_disposition. That is the shape that matters: a husband may be</a:t>
            </a:r>
          </a:p>
          <a:p>
            <a:r>
              <a:t>allowed to use an account he does not own, and his gold card must not make the</a:t>
            </a:r>
          </a:p>
          <a:p>
            <a:r>
              <a:t>owner look like a gold card holder.</a:t>
            </a:r>
          </a:p>
          <a:p/>
          <a:p>
            <a:r>
              <a:t>If the grain is wrong - say the customer shelf has someone twice - every count</a:t>
            </a:r>
          </a:p>
          <a:p>
            <a:r>
              <a:t>is wrong and NOTHING errors. So we check it on every build, not by eye.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lock is the one to dwell on. You could ask the AI nicely to only show</a:t>
            </a:r>
          </a:p>
          <a:p>
            <a:r>
              <a:t>someone their own customers - that is not a lock, it is a REQUEST. You are</a:t>
            </a:r>
          </a:p>
          <a:p>
            <a:r>
              <a:t>asking the thing you are limiting to limit itself.</a:t>
            </a:r>
          </a:p>
          <a:p/>
          <a:p>
            <a:r>
              <a:t>Instead the lock is on the shelf. The AI writes text; the predicate that limits</a:t>
            </a:r>
          </a:p>
          <a:p>
            <a:r>
              <a:t>the rows is never in that text, so no rewriting of the text can remove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was how it works. Part 2 is what it actually found and answered.</a:t>
            </a:r>
          </a:p>
          <a:p/>
          <a:p>
            <a:r>
              <a:t>Everything from here is a number that came out of a run, not a capability</a:t>
            </a:r>
          </a:p>
          <a:p>
            <a:r>
              <a:t>being described. If a figure on a slide cannot be traced to the database or</a:t>
            </a:r>
          </a:p>
          <a:p>
            <a:r>
              <a:t>the run log, it does not belong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list. Point at the shape: the bars get longer as the colour</a:t>
            </a:r>
          </a:p>
          <a:p>
            <a:r>
              <a:t>gets safer.</a:t>
            </a:r>
          </a:p>
          <a:p/>
          <a:p>
            <a:r>
              <a:t>Nine of fourteen need no fix, and they are reported precisely so nobody</a:t>
            </a:r>
          </a:p>
          <a:p>
            <a:r>
              <a:t>"cleans" them later. Clipping overdrafts would bias the Q9 average upwards.</a:t>
            </a:r>
          </a:p>
          <a:p>
            <a:r>
              <a:t>That is a real risk - it is the obvious thing a well-meaning person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slides that show we actually looked, rather than running the</a:t>
            </a:r>
          </a:p>
          <a:p>
            <a:r>
              <a:t>rules the dataset documentation suggests.</a:t>
            </a:r>
          </a:p>
          <a:p/>
          <a:p>
            <a:r>
              <a:t>The 1,200 one is worth naming specifically: 55 payments on that account, and a</a:t>
            </a:r>
          </a:p>
          <a:p>
            <a:r>
              <a:t>gap of exactly 1,200.00. That is not rounding, that is a posting.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orange column is the honest one. Sometimes the right permanent answer is</a:t>
            </a:r>
          </a:p>
          <a:p>
            <a:r>
              <a:t>"this is reality, and the caveat stays forever" - intra-day ordering is not</a:t>
            </a:r>
          </a:p>
          <a:p>
            <a:r>
              <a:t>recorded anywhere, so no amount of work makes that uncertainty go away.</a:t>
            </a:r>
          </a:p>
          <a:p/>
          <a:p>
            <a:r>
              <a:t>Saying so is better than pretending a cleanup will fix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scheme was written first, by hand, before the model saw anything.</a:t>
            </a:r>
          </a:p>
          <a:p>
            <a:r>
              <a:t>That is what makes 10/10 mean something.</a:t>
            </a:r>
          </a:p>
          <a:p/>
          <a:p>
            <a:r>
              <a:t>If asked about Q3 matching 11.14% exactly: that figure is published with the</a:t>
            </a:r>
          </a:p>
          <a:p>
            <a:r>
              <a:t>dataset, so it is an independent check on the whole pipeline, not just on the</a:t>
            </a:r>
          </a:p>
          <a:p>
            <a:r>
              <a:t>query.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bypass attempts: pretending to be another user, going round the back of</a:t>
            </a:r>
          </a:p>
          <a:p>
            <a:r>
              <a:t>the views straight to the base tables, reading the raw layer, setting a</a:t>
            </a:r>
          </a:p>
          <a:p>
            <a:r>
              <a:t>session variable to someone else's name, editing the permission tables,</a:t>
            </a:r>
          </a:p>
          <a:p>
            <a:r>
              <a:t>turning the lock off, dropping it, writing, and joining outwards to widen the</a:t>
            </a:r>
          </a:p>
          <a:p>
            <a:r>
              <a:t>result. All nine refused.</a:t>
            </a:r>
          </a:p>
          <a:p/>
          <a:p>
            <a:r>
              <a:t>Onboarding is four inserts and one credential. No policy, view or query</a:t>
            </a:r>
          </a:p>
          <a:p>
            <a:r>
              <a:t>changes - that was an explicit requirement in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in this part has the same four parts: the options that were real,</a:t>
            </a:r>
          </a:p>
          <a:p>
            <a:r>
              <a:t>the one chosen, why, and what it cost. The cost box is not modesty - a decision</a:t>
            </a:r>
          </a:p>
          <a:p>
            <a:r>
              <a:t>with no stated cost usually means the alternatives were never priced.</a:t>
            </a:r>
          </a:p>
          <a:p/>
          <a:p>
            <a:r>
              <a:t>All six are in the Design Decision Record, with six more that did not need a</a:t>
            </a:r>
          </a:p>
          <a:p>
            <a:r>
              <a:t>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slide in the deck. The one-liner: asking the model to</a:t>
            </a:r>
          </a:p>
          <a:p>
            <a:r>
              <a:t>filter itself is a REQUEST, not a control - you are asking the thing being</a:t>
            </a:r>
          </a:p>
          <a:p>
            <a:r>
              <a:t>limited to limit itself.</a:t>
            </a:r>
          </a:p>
          <a:p/>
          <a:p>
            <a:r>
              <a:t>Also note the identity choice: we use the logged-in database user, not a</a:t>
            </a:r>
          </a:p>
          <a:p>
            <a:r>
              <a:t>setting the connection can change. A setting can be changed by anything that</a:t>
            </a:r>
          </a:p>
          <a:p>
            <a:r>
              <a:t>can send SQL. There is a test that tries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dark lozenge moving down the three rows. Everything else is held</a:t>
            </a:r>
          </a:p>
          <a:p>
            <a:r>
              <a:t>constant, so the choice is the only thing changing.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killer detail: in one big table, a customer with 300 payments is counted</a:t>
            </a:r>
          </a:p>
          <a:p>
            <a:r>
              <a:t>300 times unless someone remembers DISTINCT. Nothing errors. That is exactly</a:t>
            </a:r>
          </a:p>
          <a:p>
            <a:r>
              <a:t>the failure mode we are trying to design out.</a:t>
            </a:r>
          </a:p>
          <a:p/>
          <a:p>
            <a:r>
              <a:t>Second reason, less obvious: the entitlement filter. On a customer table it is</a:t>
            </a:r>
          </a:p>
          <a:p>
            <a:r>
              <a:t>one check against 5,369 rows. Flattened, it is evaluated per payment -</a:t>
            </a:r>
          </a:p>
          <a:p>
            <a:r>
              <a:t>1,056,319 times.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what we built. Right is what we would have paid for removing the joins.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the zero-amount slide. The grade is where the judgement lives,</a:t>
            </a:r>
          </a:p>
          <a:p>
            <a:r>
              <a:t>and the brief says explicitly that an ungraded rule scores the same as no rule.</a:t>
            </a:r>
          </a:p>
          <a:p/>
          <a:p>
            <a:r>
              <a:t>If pushed on "why not just reject everything broken": 2.5 million rows are in</a:t>
            </a:r>
          </a:p>
          <a:p>
            <a:r>
              <a:t>the green band and change no answer. Rejecting them would be deleting most of</a:t>
            </a:r>
          </a:p>
          <a:p>
            <a:r>
              <a:t>the dataset to improve nothing.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piece that produced the 10/10. The model had no database access -</a:t>
            </a:r>
          </a:p>
          <a:p>
            <a:r>
              <a:t>only this file and the question.</a:t>
            </a:r>
          </a:p>
          <a:p/>
          <a:p>
            <a:r>
              <a:t>The verification matters more than the file: 100 columns described, and the</a:t>
            </a:r>
          </a:p>
          <a:p>
            <a:r>
              <a:t>build fails if any of them stops matching reality.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bypass attempts were put through the parser - comment-hidden second</a:t>
            </a:r>
          </a:p>
          <a:p>
            <a:r>
              <a:t>statements, writes buried in a WITH clause, reading internal schemas, file</a:t>
            </a:r>
          </a:p>
          <a:p>
            <a:r>
              <a:t>functions. All rejected.</a:t>
            </a:r>
          </a:p>
          <a:p/>
          <a:p>
            <a:r>
              <a:t>Important honesty point: the parser is NOT the security boundary. The three</a:t>
            </a:r>
          </a:p>
          <a:p>
            <a:r>
              <a:t>attempts that got past it were then refused by the database itself, because</a:t>
            </a:r>
          </a:p>
          <a:p>
            <a:r>
              <a:t>the account is unprivileged. Two independent controls, and we tested both.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DuckDB, which would have been faster: the one task that is</a:t>
            </a:r>
          </a:p>
          <a:p>
            <a:r>
              <a:t>purely about control would have had no evidence behind it.</a:t>
            </a:r>
          </a:p>
          <a:p/>
          <a:p>
            <a:r>
              <a:t>The brief warns in bold about spending the time on infrastructure. Total</a:t>
            </a:r>
          </a:p>
          <a:p>
            <a:r>
              <a:t>infrastructure cost here: one 50-line shell script that starts Postgres.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specific here is the point. "It would need more hardware" is not an</a:t>
            </a:r>
          </a:p>
          <a:p>
            <a:r>
              <a:t>answer; "the month-end balance table becomes 32 billion pre-computed rows" is.</a:t>
            </a:r>
          </a:p>
          <a:p/>
          <a:p>
            <a:r>
              <a:t>The design does not change for the entitlement one - it is still a rule on the</a:t>
            </a:r>
          </a:p>
          <a:p>
            <a:r>
              <a:t>table, and onboarding is still an insert. Only the lookup's shape changes.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answers three different questions that tend to get merged: is it</a:t>
            </a:r>
          </a:p>
          <a:p>
            <a:r>
              <a:t>complete against the brief, is it trustworthy, and what would happen next.</a:t>
            </a:r>
          </a:p>
          <a:p/>
          <a:p>
            <a:r>
              <a:t>Completeness is a checklist and it is on two slides. Trustworthiness is the two</a:t>
            </a:r>
          </a:p>
          <a:p>
            <a:r>
              <a:t>bugs the build found in itself, and the thin column. Next steps are in</a:t>
            </a:r>
          </a:p>
          <a:p>
            <a:r>
              <a:t>dependency order.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reproducibility, not the counts. The counts are only credible</a:t>
            </a:r>
          </a:p>
          <a:p>
            <a:r>
              <a:t>because of it.</a:t>
            </a:r>
          </a:p>
          <a:p/>
          <a:p>
            <a:r>
              <a:t>The "0 numbers typed by hand" claim is not free, and section 2.1 of the review</a:t>
            </a:r>
          </a:p>
          <a:p>
            <a:r>
              <a:t>is the honest footnote: one hard-coded test count had gone stale in the</a:t>
            </a:r>
          </a:p>
          <a:p>
            <a:r>
              <a:t>workbook's Overview tab. It was found by grepping the generators for literals</a:t>
            </a:r>
          </a:p>
          <a:p>
            <a:r>
              <a:t>and is now derived by collecting the suite. The lesson stated in the review is</a:t>
            </a:r>
          </a:p>
          <a:p>
            <a:r>
              <a:t>the one to say here: the honesty rule only works where it is mechanised.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leave up during questions.</a:t>
            </a:r>
          </a:p>
          <a:p/>
          <a:p>
            <a:r>
              <a:t>Seven schemas, four roles, eleven consumer views, one guard, one LLM call per</a:t>
            </a:r>
          </a:p>
          <a:p>
            <a:r>
              <a:t>question. Nothing on this map is a product that had to be bought or a service</a:t>
            </a:r>
          </a:p>
          <a:p>
            <a:r>
              <a:t>that had to be configured: it is one PostgreSQL database, a YAML file of rules,</a:t>
            </a:r>
          </a:p>
          <a:p>
            <a:r>
              <a:t>a YAML file of meaning, and about 3,900 lines of Python.</a:t>
            </a:r>
          </a:p>
          <a:p/>
          <a:p>
            <a:r>
              <a:t>Total infrastructure setup: a 50-line shell script that starts Postgres. The</a:t>
            </a:r>
          </a:p>
          <a:p>
            <a:r>
              <a:t>brief warns in bold about spending the time on tooling; this is the evidence</a:t>
            </a:r>
          </a:p>
          <a:p>
            <a:r>
              <a:t>that the warning was heeded.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orderings on this map are load-bearing and were both learned the hard way.</a:t>
            </a:r>
          </a:p>
          <a:p/>
          <a:p>
            <a:r>
              <a:t>Security is built BEFORE the consumer views, because a consumer view reads the</a:t>
            </a:r>
          </a:p>
          <a:p>
            <a:r>
              <a:t>entitlement list; building it the other way round fails. And the model is</a:t>
            </a:r>
          </a:p>
          <a:p>
            <a:r>
              <a:t>rebuilt whenever the consumer views are, because dropping them cascades.</a:t>
            </a:r>
          </a:p>
          <a:p/>
          <a:p>
            <a:r>
              <a:t>Both of those are in DECISIONS as D008 and D012. They are in the diagram so</a:t>
            </a:r>
          </a:p>
          <a:p>
            <a:r>
              <a:t>that nobody has to rediscover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these before being asked. A build with no bugs found in it either had no</a:t>
            </a:r>
          </a:p>
          <a:p>
            <a:r>
              <a:t>checks or is not being honest about them.</a:t>
            </a:r>
          </a:p>
          <a:p/>
          <a:p>
            <a:r>
              <a:t>The second one is the one to dwell on for Task 3: it is exactly the failure</a:t>
            </a:r>
          </a:p>
          <a:p>
            <a:r>
              <a:t>mode that reading the policies would have passed. The policy was correct the</a:t>
            </a:r>
          </a:p>
          <a:p>
            <a:r>
              <a:t>whole time. The view in front of it was not.</a:t>
            </a:r>
          </a:p>
          <a:p/>
          <a:p>
            <a:r>
              <a:t>Say the consequence plainly: this is why the entitlement claim is made by</a:t>
            </a:r>
          </a:p>
          <a:p>
            <a:r>
              <a:t>authenticating as four roles and counting rows, and not by quoting SQL.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right-hand column out loud. Volunteering the thin parts is cheaper</a:t>
            </a:r>
          </a:p>
          <a:p>
            <a:r>
              <a:t>than having them found, and it is the difference between a demo and an</a:t>
            </a:r>
          </a:p>
          <a:p>
            <a:r>
              <a:t>engineering review.</a:t>
            </a:r>
          </a:p>
          <a:p/>
          <a:p>
            <a:r>
              <a:t>Each one has a next step attached in REVIEW_AND_NEXT_STEPS section 4, in</a:t>
            </a:r>
          </a:p>
          <a:p>
            <a:r>
              <a:t>dependency order: the six Bronze tests come first because nothing else in the</a:t>
            </a:r>
          </a:p>
          <a:p>
            <a:r>
              <a:t>layered plan can be verified until they exist.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"completeness" is a grading criterion, not a feeling.</a:t>
            </a:r>
          </a:p>
          <a:p>
            <a:r>
              <a:t>Read it as a checklist; every row has an artefact and a piece of evidence, and</a:t>
            </a:r>
          </a:p>
          <a:p>
            <a:r>
              <a:t>nothing is marked done on the strength of prose.</a:t>
            </a:r>
          </a:p>
          <a:p/>
          <a:p>
            <a:r>
              <a:t>The row to point at is the third. The brief says a rule without a justified</a:t>
            </a:r>
          </a:p>
          <a:p>
            <a:r>
              <a:t>severity scores the same as no rule, so the justification is a required field</a:t>
            </a:r>
          </a:p>
          <a:p>
            <a:r>
              <a:t>on every rule and a test fails if one is missing.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row is the one not to skip past. The split is the point: the</a:t>
            </a:r>
          </a:p>
          <a:p>
            <a:r>
              <a:t>model wrote code and answered the ten questions; the reference answers it was</a:t>
            </a:r>
          </a:p>
          <a:p>
            <a:r>
              <a:t>graded against and all 88 quality rules were hand-written first, before the</a:t>
            </a:r>
          </a:p>
          <a:p>
            <a:r>
              <a:t>model saw them.</a:t>
            </a:r>
          </a:p>
          <a:p/>
          <a:p>
            <a:r>
              <a:t>That ordering is what makes "10 of 10 correct" mean anything. Grading against</a:t>
            </a:r>
          </a:p>
          <a:p>
            <a:r>
              <a:t>answers the same model produced would mean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deliberate omissions are as much a part of the answer as the five steps.</a:t>
            </a:r>
          </a:p>
          <a:p>
            <a:r>
              <a:t>Saying what was decided against, and why, is what separates a plan from a wish</a:t>
            </a:r>
          </a:p>
          <a:p>
            <a:r>
              <a:t>list.</a:t>
            </a:r>
          </a:p>
          <a:p/>
          <a:p>
            <a:r>
              <a:t>If asked whether the package migration is in scope: it is not, and the</a:t>
            </a:r>
          </a:p>
          <a:p>
            <a:r>
              <a:t>simulation is the deliberate answer to "what would you do next" - dummy code</a:t>
            </a:r>
          </a:p>
          <a:p>
            <a:r>
              <a:t>that proves the boundary is checkable, not production code refactored on a</a:t>
            </a:r>
          </a:p>
          <a:p>
            <a:r>
              <a:t>guess.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claims, then stop. Do not re-summarise the deck.</a:t>
            </a:r>
          </a:p>
          <a:p/>
          <a:p>
            <a:r>
              <a:t>If there is one sentence to leave behind: the hard part of this brief was never</a:t>
            </a:r>
          </a:p>
          <a:p>
            <a:r>
              <a:t>writing rules or writing SQL - it was deciding what each defect costs, and</a:t>
            </a:r>
          </a:p>
          <a:p>
            <a:r>
              <a:t>making the entitlement something the question cannot argue with.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4160520"/>
            <a:ext cx="12191695" cy="54864"/>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914400"/>
          </a:xfrm>
          <a:prstGeom prst="rect">
            <a:avLst/>
          </a:prstGeom>
          <a:noFill/>
        </p:spPr>
        <p:txBody>
          <a:bodyPr wrap="square">
            <a:spAutoFit/>
          </a:bodyPr>
          <a:lstStyle/>
          <a:p>
            <a:pPr algn="l">
              <a:spcAft>
                <a:spcPts val="400"/>
              </a:spcAft>
            </a:pPr>
            <a:r>
              <a:rPr sz="4400" b="1">
                <a:solidFill>
                  <a:srgbClr val="FFFFFF"/>
                </a:solidFill>
                <a:latin typeface="Calibri"/>
              </a:rPr>
              <a:t>The Governed Data Product for AI</a:t>
            </a:r>
          </a:p>
        </p:txBody>
      </p:sp>
      <p:sp>
        <p:nvSpPr>
          <p:cNvPr id="5" name="TextBox 4"/>
          <p:cNvSpPr txBox="1"/>
          <p:nvPr/>
        </p:nvSpPr>
        <p:spPr>
          <a:xfrm>
            <a:off x="1005840" y="3063240"/>
            <a:ext cx="10058400" cy="548640"/>
          </a:xfrm>
          <a:prstGeom prst="rect">
            <a:avLst/>
          </a:prstGeom>
          <a:noFill/>
        </p:spPr>
        <p:txBody>
          <a:bodyPr wrap="square">
            <a:spAutoFit/>
          </a:bodyPr>
          <a:lstStyle/>
          <a:p>
            <a:pPr algn="l">
              <a:spcAft>
                <a:spcPts val="0"/>
              </a:spcAft>
            </a:pPr>
            <a:r>
              <a:rPr sz="1900" b="0">
                <a:solidFill>
                  <a:srgbClr val="C9D6EA"/>
                </a:solidFill>
                <a:latin typeface="Calibri"/>
              </a:rPr>
              <a:t>Making a bank's data safe for an AI assistant to answer questions from</a:t>
            </a:r>
          </a:p>
        </p:txBody>
      </p:sp>
      <p:sp>
        <p:nvSpPr>
          <p:cNvPr id="6" name="TextBox 5"/>
          <p:cNvSpPr txBox="1"/>
          <p:nvPr/>
        </p:nvSpPr>
        <p:spPr>
          <a:xfrm>
            <a:off x="1005840" y="4480560"/>
            <a:ext cx="10058400" cy="1097280"/>
          </a:xfrm>
          <a:prstGeom prst="rect">
            <a:avLst/>
          </a:prstGeom>
          <a:noFill/>
        </p:spPr>
        <p:txBody>
          <a:bodyPr wrap="square">
            <a:spAutoFit/>
          </a:bodyPr>
          <a:lstStyle/>
          <a:p>
            <a:pPr algn="l">
              <a:spcAft>
                <a:spcPts val="500"/>
              </a:spcAft>
            </a:pPr>
            <a:r>
              <a:rPr sz="1400" b="0">
                <a:solidFill>
                  <a:srgbClr val="9AB2D8"/>
                </a:solidFill>
                <a:latin typeface="Calibri"/>
              </a:rPr>
              <a:t>Berka (PKDD'99) dataset  ·  1,079,680 rows  ·  one database, one language</a:t>
            </a:r>
          </a:p>
          <a:p>
            <a:pPr algn="l">
              <a:spcAft>
                <a:spcPts val="500"/>
              </a:spcAft>
            </a:pPr>
            <a:r>
              <a:rPr sz="1400" b="0">
                <a:solidFill>
                  <a:srgbClr val="9AB2D8"/>
                </a:solidFill>
                <a:latin typeface="Calibri"/>
              </a:rPr>
              <a:t>Built and verified end to end in 4 minutes 28 seconds, from an empty database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PROBLEM</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 bank wants to ask its data questions in plain English</a:t>
            </a:r>
          </a:p>
        </p:txBody>
      </p:sp>
      <p:sp>
        <p:nvSpPr>
          <p:cNvPr id="4" name="TextBox 3"/>
          <p:cNvSpPr txBox="1"/>
          <p:nvPr/>
        </p:nvSpPr>
        <p:spPr>
          <a:xfrm>
            <a:off x="640080" y="1463040"/>
            <a:ext cx="10972800" cy="914400"/>
          </a:xfrm>
          <a:prstGeom prst="rect">
            <a:avLst/>
          </a:prstGeom>
          <a:noFill/>
        </p:spPr>
        <p:txBody>
          <a:bodyPr wrap="square">
            <a:spAutoFit/>
          </a:bodyPr>
          <a:lstStyle/>
          <a:p>
            <a:pPr algn="l">
              <a:spcAft>
                <a:spcPts val="1000"/>
              </a:spcAft>
            </a:pPr>
            <a:r>
              <a:rPr sz="1800" b="0">
                <a:solidFill>
                  <a:srgbClr val="5B6472"/>
                </a:solidFill>
                <a:latin typeface="Calibri"/>
              </a:rPr>
              <a:t>Eight lists: people, accounts, loans, cards, who may use which account, every payment, standing orders, towns.</a:t>
            </a:r>
          </a:p>
        </p:txBody>
      </p:sp>
      <p:sp>
        <p:nvSpPr>
          <p:cNvPr id="5" name="TextBox 4"/>
          <p:cNvSpPr txBox="1"/>
          <p:nvPr/>
        </p:nvSpPr>
        <p:spPr>
          <a:xfrm>
            <a:off x="640080" y="2194560"/>
            <a:ext cx="10972800" cy="548640"/>
          </a:xfrm>
          <a:prstGeom prst="rect">
            <a:avLst/>
          </a:prstGeom>
          <a:noFill/>
        </p:spPr>
        <p:txBody>
          <a:bodyPr wrap="square">
            <a:spAutoFit/>
          </a:bodyPr>
          <a:lstStyle/>
          <a:p>
            <a:pPr algn="l">
              <a:spcAft>
                <a:spcPts val="0"/>
              </a:spcAft>
            </a:pPr>
            <a:r>
              <a:rPr sz="2000" b="1">
                <a:solidFill>
                  <a:srgbClr val="1F2A44"/>
                </a:solidFill>
                <a:latin typeface="Calibri"/>
              </a:rPr>
              <a:t>An AI assistant can only answer correctly if three things are true. All three.</a:t>
            </a:r>
          </a:p>
        </p:txBody>
      </p:sp>
      <p:sp>
        <p:nvSpPr>
          <p:cNvPr id="6" name="Rounded Rectangle 5"/>
          <p:cNvSpPr/>
          <p:nvPr/>
        </p:nvSpPr>
        <p:spPr>
          <a:xfrm>
            <a:off x="640080" y="3017520"/>
            <a:ext cx="3566160" cy="1828800"/>
          </a:xfrm>
          <a:prstGeom prst="roundRect">
            <a:avLst>
              <a:gd name="adj" fmla="val 4000"/>
            </a:avLst>
          </a:prstGeom>
          <a:solidFill>
            <a:srgbClr val="F7F9FC"/>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246120"/>
            <a:ext cx="3108960" cy="457200"/>
          </a:xfrm>
          <a:prstGeom prst="rect">
            <a:avLst/>
          </a:prstGeom>
          <a:noFill/>
        </p:spPr>
        <p:txBody>
          <a:bodyPr wrap="square">
            <a:spAutoFit/>
          </a:bodyPr>
          <a:lstStyle/>
          <a:p>
            <a:pPr algn="l">
              <a:spcAft>
                <a:spcPts val="600"/>
              </a:spcAft>
            </a:pPr>
            <a:r>
              <a:rPr sz="1700" b="1">
                <a:solidFill>
                  <a:srgbClr val="1F3864"/>
                </a:solidFill>
                <a:latin typeface="Calibri"/>
              </a:rPr>
              <a:t>1. The data is tidy</a:t>
            </a:r>
          </a:p>
        </p:txBody>
      </p:sp>
      <p:sp>
        <p:nvSpPr>
          <p:cNvPr id="8" name="TextBox 7"/>
          <p:cNvSpPr txBox="1"/>
          <p:nvPr/>
        </p:nvSpPr>
        <p:spPr>
          <a:xfrm>
            <a:off x="8686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If one payment is written down twice, every total that
includes it is too big - and nothing shows an error.</a:t>
            </a:r>
          </a:p>
        </p:txBody>
      </p:sp>
      <p:sp>
        <p:nvSpPr>
          <p:cNvPr id="9" name="Rounded Rectangle 8"/>
          <p:cNvSpPr/>
          <p:nvPr/>
        </p:nvSpPr>
        <p:spPr>
          <a:xfrm>
            <a:off x="4526280" y="3017520"/>
            <a:ext cx="3566160" cy="1828800"/>
          </a:xfrm>
          <a:prstGeom prst="roundRect">
            <a:avLst>
              <a:gd name="adj" fmla="val 4000"/>
            </a:avLst>
          </a:prstGeom>
          <a:solidFill>
            <a:srgbClr val="F7F9FC"/>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3246120"/>
            <a:ext cx="3108960" cy="457200"/>
          </a:xfrm>
          <a:prstGeom prst="rect">
            <a:avLst/>
          </a:prstGeom>
          <a:noFill/>
        </p:spPr>
        <p:txBody>
          <a:bodyPr wrap="square">
            <a:spAutoFit/>
          </a:bodyPr>
          <a:lstStyle/>
          <a:p>
            <a:pPr algn="l">
              <a:spcAft>
                <a:spcPts val="600"/>
              </a:spcAft>
            </a:pPr>
            <a:r>
              <a:rPr sz="1700" b="1">
                <a:solidFill>
                  <a:srgbClr val="B45309"/>
                </a:solidFill>
                <a:latin typeface="Calibri"/>
              </a:rPr>
              <a:t>2. The words mean one thing</a:t>
            </a:r>
          </a:p>
        </p:txBody>
      </p:sp>
      <p:sp>
        <p:nvSpPr>
          <p:cNvPr id="11" name="TextBox 10"/>
          <p:cNvSpPr txBox="1"/>
          <p:nvPr/>
        </p:nvSpPr>
        <p:spPr>
          <a:xfrm>
            <a:off x="47548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If "a bad loan" means something different to you and to me,
we will both be confident, and we will disagree.</a:t>
            </a:r>
          </a:p>
        </p:txBody>
      </p:sp>
      <p:sp>
        <p:nvSpPr>
          <p:cNvPr id="12" name="Rounded Rectangle 11"/>
          <p:cNvSpPr/>
          <p:nvPr/>
        </p:nvSpPr>
        <p:spPr>
          <a:xfrm>
            <a:off x="8412480" y="3017520"/>
            <a:ext cx="3566160" cy="1828800"/>
          </a:xfrm>
          <a:prstGeom prst="roundRect">
            <a:avLst>
              <a:gd name="adj" fmla="val 4000"/>
            </a:avLst>
          </a:prstGeom>
          <a:solidFill>
            <a:srgbClr val="F7F9FC"/>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3246120"/>
            <a:ext cx="3108960" cy="457200"/>
          </a:xfrm>
          <a:prstGeom prst="rect">
            <a:avLst/>
          </a:prstGeom>
          <a:noFill/>
        </p:spPr>
        <p:txBody>
          <a:bodyPr wrap="square">
            <a:spAutoFit/>
          </a:bodyPr>
          <a:lstStyle/>
          <a:p>
            <a:pPr algn="l">
              <a:spcAft>
                <a:spcPts val="600"/>
              </a:spcAft>
            </a:pPr>
            <a:r>
              <a:rPr sz="1700" b="1">
                <a:solidFill>
                  <a:srgbClr val="15803D"/>
                </a:solidFill>
                <a:latin typeface="Calibri"/>
              </a:rPr>
              <a:t>3. People see only their own</a:t>
            </a:r>
          </a:p>
        </p:txBody>
      </p:sp>
      <p:sp>
        <p:nvSpPr>
          <p:cNvPr id="14" name="TextBox 13"/>
          <p:cNvSpPr txBox="1"/>
          <p:nvPr/>
        </p:nvSpPr>
        <p:spPr>
          <a:xfrm>
            <a:off x="86410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A bank is not allowed to let everyone see everything.
And the AI must not be the thing deciding that.</a:t>
            </a:r>
          </a:p>
        </p:txBody>
      </p:sp>
      <p:sp>
        <p:nvSpPr>
          <p:cNvPr id="15" name="TextBox 14"/>
          <p:cNvSpPr txBox="1"/>
          <p:nvPr/>
        </p:nvSpPr>
        <p:spPr>
          <a:xfrm>
            <a:off x="640080" y="5120640"/>
            <a:ext cx="10972800" cy="548640"/>
          </a:xfrm>
          <a:prstGeom prst="rect">
            <a:avLst/>
          </a:prstGeom>
          <a:noFill/>
        </p:spPr>
        <p:txBody>
          <a:bodyPr wrap="square">
            <a:spAutoFit/>
          </a:bodyPr>
          <a:lstStyle/>
          <a:p>
            <a:pPr algn="l">
              <a:spcAft>
                <a:spcPts val="0"/>
              </a:spcAft>
            </a:pPr>
            <a:r>
              <a:rPr sz="1600" b="1">
                <a:solidFill>
                  <a:srgbClr val="991B1B"/>
                </a:solidFill>
                <a:latin typeface="Calibri"/>
              </a:rPr>
              <a:t>Miss any one of them and the assistant gives an answer that looks right and is wrong - which is worse than no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WAY OF WORKING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Four steps. Like cooking from a messy box of shopping.</a:t>
            </a:r>
          </a:p>
        </p:txBody>
      </p:sp>
      <p:sp>
        <p:nvSpPr>
          <p:cNvPr id="4" name="Rounded Rectangle 3"/>
          <p:cNvSpPr/>
          <p:nvPr/>
        </p:nvSpPr>
        <p:spPr>
          <a:xfrm>
            <a:off x="548640" y="1600200"/>
            <a:ext cx="2697480" cy="31089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600200"/>
            <a:ext cx="2697480" cy="47548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1  BRONZE</a:t>
            </a:r>
          </a:p>
        </p:txBody>
      </p:sp>
      <p:sp>
        <p:nvSpPr>
          <p:cNvPr id="7" name="TextBox 6"/>
          <p:cNvSpPr txBox="1"/>
          <p:nvPr/>
        </p:nvSpPr>
        <p:spPr>
          <a:xfrm>
            <a:off x="749808"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Photocopy everything.
Change nothing.</a:t>
            </a:r>
          </a:p>
        </p:txBody>
      </p:sp>
      <p:sp>
        <p:nvSpPr>
          <p:cNvPr id="8" name="TextBox 7"/>
          <p:cNvSpPr txBox="1"/>
          <p:nvPr/>
        </p:nvSpPr>
        <p:spPr>
          <a:xfrm>
            <a:off x="749808"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So we can always say what
actually arrived.</a:t>
            </a:r>
          </a:p>
        </p:txBody>
      </p:sp>
      <p:sp>
        <p:nvSpPr>
          <p:cNvPr id="9" name="Rounded Rectangle 8"/>
          <p:cNvSpPr/>
          <p:nvPr/>
        </p:nvSpPr>
        <p:spPr>
          <a:xfrm>
            <a:off x="3447288" y="1600200"/>
            <a:ext cx="2697480" cy="3108960"/>
          </a:xfrm>
          <a:prstGeom prst="roundRect">
            <a:avLst>
              <a:gd name="adj" fmla="val 4000"/>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1600200"/>
            <a:ext cx="2697480" cy="47548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0168"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2  SILVER</a:t>
            </a:r>
          </a:p>
        </p:txBody>
      </p:sp>
      <p:sp>
        <p:nvSpPr>
          <p:cNvPr id="12" name="TextBox 11"/>
          <p:cNvSpPr txBox="1"/>
          <p:nvPr/>
        </p:nvSpPr>
        <p:spPr>
          <a:xfrm>
            <a:off x="3648456"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Tidy up. Check everything.
Grade what is broken.</a:t>
            </a:r>
          </a:p>
        </p:txBody>
      </p:sp>
      <p:sp>
        <p:nvSpPr>
          <p:cNvPr id="13" name="TextBox 12"/>
          <p:cNvSpPr txBox="1"/>
          <p:nvPr/>
        </p:nvSpPr>
        <p:spPr>
          <a:xfrm>
            <a:off x="3648456"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123 checks. Three grades:
red, orange, green.</a:t>
            </a:r>
          </a:p>
        </p:txBody>
      </p:sp>
      <p:sp>
        <p:nvSpPr>
          <p:cNvPr id="14" name="Rounded Rectangle 13"/>
          <p:cNvSpPr/>
          <p:nvPr/>
        </p:nvSpPr>
        <p:spPr>
          <a:xfrm>
            <a:off x="6345936" y="1600200"/>
            <a:ext cx="2697480" cy="3108960"/>
          </a:xfrm>
          <a:prstGeom prst="roundRect">
            <a:avLst>
              <a:gd name="adj" fmla="val 4000"/>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45936" y="1600200"/>
            <a:ext cx="2697480" cy="47548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3  GOLD</a:t>
            </a:r>
          </a:p>
        </p:txBody>
      </p:sp>
      <p:sp>
        <p:nvSpPr>
          <p:cNvPr id="17" name="TextBox 16"/>
          <p:cNvSpPr txBox="1"/>
          <p:nvPr/>
        </p:nvSpPr>
        <p:spPr>
          <a:xfrm>
            <a:off x="6547104"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Build the shelves.
Agree what words mean.</a:t>
            </a:r>
          </a:p>
        </p:txBody>
      </p:sp>
      <p:sp>
        <p:nvSpPr>
          <p:cNvPr id="18" name="TextBox 17"/>
          <p:cNvSpPr txBox="1"/>
          <p:nvPr/>
        </p:nvSpPr>
        <p:spPr>
          <a:xfrm>
            <a:off x="6547104"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Decide once, write it down,
so nobody redefines it.</a:t>
            </a:r>
          </a:p>
        </p:txBody>
      </p:sp>
      <p:sp>
        <p:nvSpPr>
          <p:cNvPr id="19" name="Rounded Rectangle 18"/>
          <p:cNvSpPr/>
          <p:nvPr/>
        </p:nvSpPr>
        <p:spPr>
          <a:xfrm>
            <a:off x="9244584" y="1600200"/>
            <a:ext cx="2697480" cy="3108960"/>
          </a:xfrm>
          <a:prstGeom prst="roundRect">
            <a:avLst>
              <a:gd name="adj" fmla="val 4000"/>
            </a:avLst>
          </a:prstGeom>
          <a:solidFill>
            <a:srgbClr val="FFFFFF"/>
          </a:solidFill>
          <a:ln w="254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44584" y="1600200"/>
            <a:ext cx="2697480" cy="47548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27464"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4  SERVE</a:t>
            </a:r>
          </a:p>
        </p:txBody>
      </p:sp>
      <p:sp>
        <p:nvSpPr>
          <p:cNvPr id="22" name="TextBox 21"/>
          <p:cNvSpPr txBox="1"/>
          <p:nvPr/>
        </p:nvSpPr>
        <p:spPr>
          <a:xfrm>
            <a:off x="9445752"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Let the AI ask -
with three safeguards.</a:t>
            </a:r>
          </a:p>
        </p:txBody>
      </p:sp>
      <p:sp>
        <p:nvSpPr>
          <p:cNvPr id="23" name="TextBox 22"/>
          <p:cNvSpPr txBox="1"/>
          <p:nvPr/>
        </p:nvSpPr>
        <p:spPr>
          <a:xfrm>
            <a:off x="9445752"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A dictionary, a bouncer,
and a lock on the shelf.</a:t>
            </a:r>
          </a:p>
        </p:txBody>
      </p:sp>
      <p:sp>
        <p:nvSpPr>
          <p:cNvPr id="24" name="TextBox 23"/>
          <p:cNvSpPr txBox="1"/>
          <p:nvPr/>
        </p:nvSpPr>
        <p:spPr>
          <a:xfrm>
            <a:off x="548640" y="5029200"/>
            <a:ext cx="11155680" cy="731520"/>
          </a:xfrm>
          <a:prstGeom prst="rect">
            <a:avLst/>
          </a:prstGeom>
          <a:noFill/>
        </p:spPr>
        <p:txBody>
          <a:bodyPr wrap="square">
            <a:spAutoFit/>
          </a:bodyPr>
          <a:lstStyle/>
          <a:p>
            <a:pPr algn="l">
              <a:spcAft>
                <a:spcPts val="0"/>
              </a:spcAft>
            </a:pPr>
            <a:r>
              <a:rPr sz="1500" b="0">
                <a:solidFill>
                  <a:srgbClr val="5B6472"/>
                </a:solidFill>
                <a:latin typeface="Calibri"/>
              </a:rPr>
              <a:t>The names are standard: bronze, silver, gold. What matters is that each step is allowed to do one job and not the next one's.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BRONZE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1 — copy it exactly, and prove you did</a:t>
            </a:r>
          </a:p>
        </p:txBody>
      </p:sp>
      <p:sp>
        <p:nvSpPr>
          <p:cNvPr id="4" name="TextBox 3"/>
          <p:cNvSpPr txBox="1"/>
          <p:nvPr/>
        </p:nvSpPr>
        <p:spPr>
          <a:xfrm>
            <a:off x="640080" y="1554480"/>
            <a:ext cx="10972800" cy="4846320"/>
          </a:xfrm>
          <a:prstGeom prst="rect">
            <a:avLst/>
          </a:prstGeom>
          <a:noFill/>
        </p:spPr>
        <p:txBody>
          <a:bodyPr wrap="square">
            <a:spAutoFit/>
          </a:bodyPr>
          <a:lstStyle/>
          <a:p>
            <a:pPr algn="l">
              <a:spcAft>
                <a:spcPts val="1200"/>
              </a:spcAft>
            </a:pPr>
            <a:r>
              <a:rPr sz="1800" b="1">
                <a:solidFill>
                  <a:srgbClr val="1F2A44"/>
                </a:solidFill>
                <a:latin typeface="Calibri"/>
              </a:rPr>
              <a:t>     Every column arrives as plain text. Nothing is converted, nothing is fixed, nothing is dropped.</a:t>
            </a:r>
          </a:p>
          <a:p>
            <a:pPr algn="l">
              <a:spcAft>
                <a:spcPts val="1200"/>
              </a:spcAft>
            </a:pPr>
            <a:r>
              <a:rPr sz="1800" b="0">
                <a:solidFill>
                  <a:srgbClr val="5B6472"/>
                </a:solidFill>
                <a:latin typeface="Calibri"/>
              </a:rPr>
              <a:t>     A squashed tomato stays a squashed tomato. Fixing it here would hide it from the checks.</a:t>
            </a:r>
          </a:p>
          <a:p>
            <a:pPr algn="l">
              <a:spcAft>
                <a:spcPts val="1200"/>
              </a:spcAft>
            </a:pPr>
            <a:r>
              <a:rPr sz="1800" b="1">
                <a:solidFill>
                  <a:srgbClr val="1F2A44"/>
                </a:solidFill>
                <a:latin typeface="Calibri"/>
              </a:rPr>
              <a:t>     Each file gets a fingerprint - a code that changes if a single letter changes.</a:t>
            </a:r>
          </a:p>
          <a:p>
            <a:pPr algn="l">
              <a:spcAft>
                <a:spcPts val="1200"/>
              </a:spcAft>
            </a:pPr>
            <a:r>
              <a:rPr sz="1800" b="0">
                <a:solidFill>
                  <a:srgbClr val="5B6472"/>
                </a:solidFill>
                <a:latin typeface="Calibri"/>
              </a:rPr>
              <a:t>     So when somebody argues about a number six months later, we can prove the file never moved.</a:t>
            </a:r>
          </a:p>
          <a:p>
            <a:pPr algn="l">
              <a:spcAft>
                <a:spcPts val="1200"/>
              </a:spcAft>
            </a:pPr>
            <a:r>
              <a:rPr sz="1800" b="1">
                <a:solidFill>
                  <a:srgbClr val="1F2A44"/>
                </a:solidFill>
                <a:latin typeface="Calibri"/>
              </a:rPr>
              <a:t>     Running it twice gives exactly the same result.</a:t>
            </a:r>
          </a:p>
          <a:p>
            <a:pPr algn="l">
              <a:spcAft>
                <a:spcPts val="1200"/>
              </a:spcAft>
            </a:pPr>
            <a:r>
              <a:rPr sz="1800" b="0">
                <a:solidFill>
                  <a:srgbClr val="5B6472"/>
                </a:solidFill>
                <a:latin typeface="Calibri"/>
              </a:rPr>
              <a:t>     Nothing to repair if it is interrupted - just run it again.</a:t>
            </a:r>
          </a:p>
        </p:txBody>
      </p:sp>
      <p:sp>
        <p:nvSpPr>
          <p:cNvPr id="5" name="Rounded Rectangle 4"/>
          <p:cNvSpPr/>
          <p:nvPr/>
        </p:nvSpPr>
        <p:spPr>
          <a:xfrm>
            <a:off x="548640"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1,079,680</a:t>
            </a:r>
          </a:p>
        </p:txBody>
      </p:sp>
      <p:sp>
        <p:nvSpPr>
          <p:cNvPr id="7" name="TextBox 6"/>
          <p:cNvSpPr txBox="1"/>
          <p:nvPr/>
        </p:nvSpPr>
        <p:spPr>
          <a:xfrm>
            <a:off x="640080"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rows landed</a:t>
            </a:r>
          </a:p>
        </p:txBody>
      </p:sp>
      <p:sp>
        <p:nvSpPr>
          <p:cNvPr id="8" name="Rounded Rectangle 7"/>
          <p:cNvSpPr/>
          <p:nvPr/>
        </p:nvSpPr>
        <p:spPr>
          <a:xfrm>
            <a:off x="3379393"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79393"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&lt; 4 sec</a:t>
            </a:r>
          </a:p>
        </p:txBody>
      </p:sp>
      <p:sp>
        <p:nvSpPr>
          <p:cNvPr id="10" name="TextBox 9"/>
          <p:cNvSpPr txBox="1"/>
          <p:nvPr/>
        </p:nvSpPr>
        <p:spPr>
          <a:xfrm>
            <a:off x="3470833"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to load all eight files</a:t>
            </a:r>
          </a:p>
        </p:txBody>
      </p:sp>
      <p:sp>
        <p:nvSpPr>
          <p:cNvPr id="11" name="Rounded Rectangle 10"/>
          <p:cNvSpPr/>
          <p:nvPr/>
        </p:nvSpPr>
        <p:spPr>
          <a:xfrm>
            <a:off x="6210147"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0147"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8 of 8</a:t>
            </a:r>
          </a:p>
        </p:txBody>
      </p:sp>
      <p:sp>
        <p:nvSpPr>
          <p:cNvPr id="13" name="TextBox 12"/>
          <p:cNvSpPr txBox="1"/>
          <p:nvPr/>
        </p:nvSpPr>
        <p:spPr>
          <a:xfrm>
            <a:off x="6301587"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row counts match the published figures</a:t>
            </a:r>
          </a:p>
        </p:txBody>
      </p:sp>
      <p:sp>
        <p:nvSpPr>
          <p:cNvPr id="14" name="Rounded Rectangle 13"/>
          <p:cNvSpPr/>
          <p:nvPr/>
        </p:nvSpPr>
        <p:spPr>
          <a:xfrm>
            <a:off x="9040901"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40901"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SHA-256</a:t>
            </a:r>
          </a:p>
        </p:txBody>
      </p:sp>
      <p:sp>
        <p:nvSpPr>
          <p:cNvPr id="16" name="TextBox 15"/>
          <p:cNvSpPr txBox="1"/>
          <p:nvPr/>
        </p:nvSpPr>
        <p:spPr>
          <a:xfrm>
            <a:off x="9132341"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fingerprint recorded per 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SILVER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2 — tidy up, and grade everything that is broken</a:t>
            </a:r>
          </a:p>
        </p:txBody>
      </p:sp>
      <p:pic>
        <p:nvPicPr>
          <p:cNvPr id="4" name="Picture 3" descr="03_severity.png"/>
          <p:cNvPicPr>
            <a:picLocks noChangeAspect="1"/>
          </p:cNvPicPr>
          <p:nvPr/>
        </p:nvPicPr>
        <p:blipFill>
          <a:blip r:embed="rId2"/>
          <a:stretch>
            <a:fillRect/>
          </a:stretch>
        </p:blipFill>
        <p:spPr>
          <a:xfrm>
            <a:off x="548640" y="1371600"/>
            <a:ext cx="11094415" cy="4259462"/>
          </a:xfrm>
          <a:prstGeom prst="rect">
            <a:avLst/>
          </a:prstGeom>
        </p:spPr>
      </p:pic>
      <p:sp>
        <p:nvSpPr>
          <p:cNvPr id="5" name="TextBox 4"/>
          <p:cNvSpPr txBox="1"/>
          <p:nvPr/>
        </p:nvSpPr>
        <p:spPr>
          <a:xfrm>
            <a:off x="548640" y="5852160"/>
            <a:ext cx="11155680" cy="731520"/>
          </a:xfrm>
          <a:prstGeom prst="rect">
            <a:avLst/>
          </a:prstGeom>
          <a:noFill/>
        </p:spPr>
        <p:txBody>
          <a:bodyPr wrap="square">
            <a:spAutoFit/>
          </a:bodyPr>
          <a:lstStyle/>
          <a:p>
            <a:pPr algn="l">
              <a:spcAft>
                <a:spcPts val="0"/>
              </a:spcAft>
            </a:pPr>
            <a:r>
              <a:rPr sz="1500" b="0">
                <a:solidFill>
                  <a:srgbClr val="5B6472"/>
                </a:solidFill>
                <a:latin typeface="Calibri"/>
              </a:rPr>
              <a:t>We never throw a row away quietly. Red is removed and counted. Orange stays, with a warning that reaches the final answer. Green is tidied and logged.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DECISION THAT MATTERS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grading is the hard part. The check is the easy half.</a:t>
            </a:r>
          </a:p>
        </p:txBody>
      </p:sp>
      <p:sp>
        <p:nvSpPr>
          <p:cNvPr id="4" name="Rounded Rectangle 3"/>
          <p:cNvSpPr/>
          <p:nvPr/>
        </p:nvSpPr>
        <p:spPr>
          <a:xfrm>
            <a:off x="548640" y="1417320"/>
            <a:ext cx="5486400" cy="2286000"/>
          </a:xfrm>
          <a:prstGeom prst="roundRect">
            <a:avLst>
              <a:gd name="adj" fmla="val 4000"/>
            </a:avLst>
          </a:prstGeom>
          <a:solidFill>
            <a:srgbClr val="F4FAF6"/>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5029200" cy="365760"/>
          </a:xfrm>
          <a:prstGeom prst="rect">
            <a:avLst/>
          </a:prstGeom>
          <a:noFill/>
        </p:spPr>
        <p:txBody>
          <a:bodyPr wrap="square">
            <a:spAutoFit/>
          </a:bodyPr>
          <a:lstStyle/>
          <a:p>
            <a:pPr algn="l">
              <a:spcAft>
                <a:spcPts val="600"/>
              </a:spcAft>
            </a:pPr>
            <a:r>
              <a:rPr sz="1900" b="1">
                <a:solidFill>
                  <a:srgbClr val="15803D"/>
                </a:solidFill>
                <a:latin typeface="Calibri"/>
              </a:rPr>
              <a:t>14 payments of exactly zero</a:t>
            </a:r>
          </a:p>
        </p:txBody>
      </p:sp>
      <p:sp>
        <p:nvSpPr>
          <p:cNvPr id="6" name="TextBox 5"/>
          <p:cNvSpPr txBox="1"/>
          <p:nvPr/>
        </p:nvSpPr>
        <p:spPr>
          <a:xfrm>
            <a:off x="777240" y="2057400"/>
            <a:ext cx="5029200" cy="1463040"/>
          </a:xfrm>
          <a:prstGeom prst="rect">
            <a:avLst/>
          </a:prstGeom>
          <a:noFill/>
        </p:spPr>
        <p:txBody>
          <a:bodyPr wrap="square">
            <a:spAutoFit/>
          </a:bodyPr>
          <a:lstStyle/>
          <a:p>
            <a:pPr algn="l">
              <a:spcAft>
                <a:spcPts val="600"/>
              </a:spcAft>
            </a:pPr>
            <a:r>
              <a:rPr sz="1400" b="0">
                <a:solidFill>
                  <a:srgbClr val="5B6472"/>
                </a:solidFill>
                <a:latin typeface="Calibri"/>
              </a:rPr>
              <a:t>A rule saying "every payment must be more than zero" sounds obviously right.</a:t>
            </a:r>
          </a:p>
          <a:p>
            <a:pPr algn="l">
              <a:spcAft>
                <a:spcPts val="600"/>
              </a:spcAft>
            </a:pPr>
            <a:r>
              <a:rPr sz="1400" b="1">
                <a:solidFill>
                  <a:srgbClr val="1F2A44"/>
                </a:solidFill>
                <a:latin typeface="Calibri"/>
              </a:rPr>
              <a:t>At RED it would delete 14 real interest payments and break 14 customers' running balances — to fix nothing at all.</a:t>
            </a:r>
          </a:p>
          <a:p>
            <a:pPr algn="l">
              <a:spcAft>
                <a:spcPts val="600"/>
              </a:spcAft>
            </a:pPr>
            <a:r>
              <a:rPr sz="1500" b="1">
                <a:solidFill>
                  <a:srgbClr val="15803D"/>
                </a:solidFill>
                <a:latin typeface="Calibri"/>
              </a:rPr>
              <a:t>So it is GREEN.</a:t>
            </a:r>
          </a:p>
        </p:txBody>
      </p:sp>
      <p:sp>
        <p:nvSpPr>
          <p:cNvPr id="7" name="Rounded Rectangle 6"/>
          <p:cNvSpPr/>
          <p:nvPr/>
        </p:nvSpPr>
        <p:spPr>
          <a:xfrm>
            <a:off x="6355080" y="1417320"/>
            <a:ext cx="5303520" cy="2286000"/>
          </a:xfrm>
          <a:prstGeom prst="roundRect">
            <a:avLst>
              <a:gd name="adj" fmla="val 4000"/>
            </a:avLst>
          </a:prstGeom>
          <a:solidFill>
            <a:srgbClr val="FDF4F4"/>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600200"/>
            <a:ext cx="4846320" cy="365760"/>
          </a:xfrm>
          <a:prstGeom prst="rect">
            <a:avLst/>
          </a:prstGeom>
          <a:noFill/>
        </p:spPr>
        <p:txBody>
          <a:bodyPr wrap="square">
            <a:spAutoFit/>
          </a:bodyPr>
          <a:lstStyle/>
          <a:p>
            <a:pPr algn="l">
              <a:spcAft>
                <a:spcPts val="600"/>
              </a:spcAft>
            </a:pPr>
            <a:r>
              <a:rPr sz="1900" b="1">
                <a:solidFill>
                  <a:srgbClr val="991B1B"/>
                </a:solidFill>
                <a:latin typeface="Calibri"/>
              </a:rPr>
              <a:t>A payment of minus 500</a:t>
            </a:r>
          </a:p>
        </p:txBody>
      </p:sp>
      <p:sp>
        <p:nvSpPr>
          <p:cNvPr id="9" name="TextBox 8"/>
          <p:cNvSpPr txBox="1"/>
          <p:nvPr/>
        </p:nvSpPr>
        <p:spPr>
          <a:xfrm>
            <a:off x="6583680" y="2057400"/>
            <a:ext cx="4846320" cy="1463040"/>
          </a:xfrm>
          <a:prstGeom prst="rect">
            <a:avLst/>
          </a:prstGeom>
          <a:noFill/>
        </p:spPr>
        <p:txBody>
          <a:bodyPr wrap="square">
            <a:spAutoFit/>
          </a:bodyPr>
          <a:lstStyle/>
          <a:p>
            <a:pPr algn="l">
              <a:spcAft>
                <a:spcPts val="600"/>
              </a:spcAft>
            </a:pPr>
            <a:r>
              <a:rPr sz="1400" b="0">
                <a:solidFill>
                  <a:srgbClr val="5B6472"/>
                </a:solidFill>
                <a:latin typeface="Calibri"/>
              </a:rPr>
              <a:t>Same column, same kind of rule.</a:t>
            </a:r>
          </a:p>
          <a:p>
            <a:pPr algn="l">
              <a:spcAft>
                <a:spcPts val="600"/>
              </a:spcAft>
            </a:pPr>
            <a:r>
              <a:rPr sz="1400" b="1">
                <a:solidFill>
                  <a:srgbClr val="1F2A44"/>
                </a:solidFill>
                <a:latin typeface="Calibri"/>
              </a:rPr>
              <a:t>But a minus sign has been applied twice, so money would move the wrong way. There is no reading of this row that is correct.</a:t>
            </a:r>
          </a:p>
          <a:p>
            <a:pPr algn="l">
              <a:spcAft>
                <a:spcPts val="600"/>
              </a:spcAft>
            </a:pPr>
            <a:r>
              <a:rPr sz="1500" b="1">
                <a:solidFill>
                  <a:srgbClr val="991B1B"/>
                </a:solidFill>
                <a:latin typeface="Calibri"/>
              </a:rPr>
              <a:t>So it is RED.</a:t>
            </a:r>
          </a:p>
        </p:txBody>
      </p:sp>
      <p:sp>
        <p:nvSpPr>
          <p:cNvPr id="10" name="TextBox 9"/>
          <p:cNvSpPr txBox="1"/>
          <p:nvPr/>
        </p:nvSpPr>
        <p:spPr>
          <a:xfrm>
            <a:off x="548640" y="4069080"/>
            <a:ext cx="11155680" cy="1280160"/>
          </a:xfrm>
          <a:prstGeom prst="rect">
            <a:avLst/>
          </a:prstGeom>
          <a:noFill/>
        </p:spPr>
        <p:txBody>
          <a:bodyPr wrap="square">
            <a:spAutoFit/>
          </a:bodyPr>
          <a:lstStyle/>
          <a:p>
            <a:pPr algn="l">
              <a:spcAft>
                <a:spcPts val="1000"/>
              </a:spcAft>
            </a:pPr>
            <a:r>
              <a:rPr sz="2000" b="1">
                <a:solidFill>
                  <a:srgbClr val="1F3864"/>
                </a:solidFill>
                <a:latin typeface="Calibri"/>
              </a:rPr>
              <a:t>Same column. Opposite decision. And we can say why for each one.</a:t>
            </a:r>
          </a:p>
          <a:p>
            <a:pPr algn="l">
              <a:spcAft>
                <a:spcPts val="1000"/>
              </a:spcAft>
            </a:pPr>
            <a:r>
              <a:rPr sz="1500" b="0">
                <a:solidFill>
                  <a:srgbClr val="5B6472"/>
                </a:solidFill>
                <a:latin typeface="Calibri"/>
              </a:rPr>
              <a:t>That is what the brief is really testing. A rule without a justified grade scores the same as no rule — because the grade is where the judgement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GOLD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3 — build the shelves, and pin down the words</a:t>
            </a:r>
          </a:p>
        </p:txBody>
      </p:sp>
      <p:pic>
        <p:nvPicPr>
          <p:cNvPr id="4" name="Picture 3" descr="04_star_schema.png"/>
          <p:cNvPicPr>
            <a:picLocks noChangeAspect="1"/>
          </p:cNvPicPr>
          <p:nvPr/>
        </p:nvPicPr>
        <p:blipFill>
          <a:blip r:embed="rId2"/>
          <a:stretch>
            <a:fillRect/>
          </a:stretch>
        </p:blipFill>
        <p:spPr>
          <a:xfrm>
            <a:off x="3984762" y="1280160"/>
            <a:ext cx="4222171" cy="4389120"/>
          </a:xfrm>
          <a:prstGeom prst="rect">
            <a:avLst/>
          </a:prstGeom>
        </p:spPr>
      </p:pic>
      <p:sp>
        <p:nvSpPr>
          <p:cNvPr id="5" name="TextBox 4"/>
          <p:cNvSpPr txBox="1"/>
          <p:nvPr/>
        </p:nvSpPr>
        <p:spPr>
          <a:xfrm>
            <a:off x="548640" y="5806440"/>
            <a:ext cx="11155680" cy="822960"/>
          </a:xfrm>
          <a:prstGeom prst="rect">
            <a:avLst/>
          </a:prstGeom>
          <a:noFill/>
        </p:spPr>
        <p:txBody>
          <a:bodyPr wrap="square">
            <a:spAutoFit/>
          </a:bodyPr>
          <a:lstStyle/>
          <a:p>
            <a:pPr algn="l">
              <a:spcAft>
                <a:spcPts val="0"/>
              </a:spcAft>
            </a:pPr>
            <a:r>
              <a:rPr sz="1400" b="0">
                <a:solidFill>
                  <a:srgbClr val="5B6472"/>
                </a:solidFill>
                <a:latin typeface="Calibri"/>
              </a:rPr>
              <a:t>One shelf per kind of thing, and a rule about what one row means. Customers do not connect to accounts directly — they connect through a record that says in what capacity, which is what makes "the account owner" a phrase with one meaning.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SERVING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4 — let the AI in, with three safeguards</a:t>
            </a:r>
          </a:p>
        </p:txBody>
      </p:sp>
      <p:pic>
        <p:nvPicPr>
          <p:cNvPr id="4" name="Picture 3" descr="02_query_path.png"/>
          <p:cNvPicPr>
            <a:picLocks noChangeAspect="1"/>
          </p:cNvPicPr>
          <p:nvPr/>
        </p:nvPicPr>
        <p:blipFill>
          <a:blip r:embed="rId2"/>
          <a:stretch>
            <a:fillRect/>
          </a:stretch>
        </p:blipFill>
        <p:spPr>
          <a:xfrm>
            <a:off x="548640" y="1371600"/>
            <a:ext cx="11094415" cy="1995296"/>
          </a:xfrm>
          <a:prstGeom prst="rect">
            <a:avLst/>
          </a:prstGeom>
        </p:spPr>
      </p:pic>
      <p:sp>
        <p:nvSpPr>
          <p:cNvPr id="5" name="Rounded Rectangle 4"/>
          <p:cNvSpPr/>
          <p:nvPr/>
        </p:nvSpPr>
        <p:spPr>
          <a:xfrm>
            <a:off x="640080" y="5257800"/>
            <a:ext cx="3611880" cy="1051560"/>
          </a:xfrm>
          <a:prstGeom prst="roundRect">
            <a:avLst>
              <a:gd name="adj" fmla="val 4000"/>
            </a:avLst>
          </a:prstGeom>
          <a:solidFill>
            <a:srgbClr val="F7F9FC"/>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376672"/>
            <a:ext cx="3611880" cy="365760"/>
          </a:xfrm>
          <a:prstGeom prst="rect">
            <a:avLst/>
          </a:prstGeom>
          <a:noFill/>
        </p:spPr>
        <p:txBody>
          <a:bodyPr wrap="square">
            <a:spAutoFit/>
          </a:bodyPr>
          <a:lstStyle/>
          <a:p>
            <a:pPr algn="l">
              <a:spcAft>
                <a:spcPts val="200"/>
              </a:spcAft>
            </a:pPr>
            <a:r>
              <a:rPr sz="1500" b="1">
                <a:solidFill>
                  <a:srgbClr val="1F3864"/>
                </a:solidFill>
                <a:latin typeface="Calibri"/>
              </a:rPr>
              <a:t>A dictionary</a:t>
            </a:r>
          </a:p>
        </p:txBody>
      </p:sp>
      <p:sp>
        <p:nvSpPr>
          <p:cNvPr id="7" name="TextBox 6"/>
          <p:cNvSpPr txBox="1"/>
          <p:nvPr/>
        </p:nvSpPr>
        <p:spPr>
          <a:xfrm>
            <a:off x="82296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it sees the meaning of the data, never the data</a:t>
            </a:r>
          </a:p>
        </p:txBody>
      </p:sp>
      <p:sp>
        <p:nvSpPr>
          <p:cNvPr id="8" name="Rounded Rectangle 7"/>
          <p:cNvSpPr/>
          <p:nvPr/>
        </p:nvSpPr>
        <p:spPr>
          <a:xfrm>
            <a:off x="4480560" y="5257800"/>
            <a:ext cx="3611880" cy="105156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5376672"/>
            <a:ext cx="3611880" cy="365760"/>
          </a:xfrm>
          <a:prstGeom prst="rect">
            <a:avLst/>
          </a:prstGeom>
          <a:noFill/>
        </p:spPr>
        <p:txBody>
          <a:bodyPr wrap="square">
            <a:spAutoFit/>
          </a:bodyPr>
          <a:lstStyle/>
          <a:p>
            <a:pPr algn="l">
              <a:spcAft>
                <a:spcPts val="200"/>
              </a:spcAft>
            </a:pPr>
            <a:r>
              <a:rPr sz="1500" b="1">
                <a:solidFill>
                  <a:srgbClr val="B45309"/>
                </a:solidFill>
                <a:latin typeface="Calibri"/>
              </a:rPr>
              <a:t>A bouncer</a:t>
            </a:r>
          </a:p>
        </p:txBody>
      </p:sp>
      <p:sp>
        <p:nvSpPr>
          <p:cNvPr id="10" name="TextBox 9"/>
          <p:cNvSpPr txBox="1"/>
          <p:nvPr/>
        </p:nvSpPr>
        <p:spPr>
          <a:xfrm>
            <a:off x="466344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reads the AI's instruction properly before it runs</a:t>
            </a:r>
          </a:p>
        </p:txBody>
      </p:sp>
      <p:sp>
        <p:nvSpPr>
          <p:cNvPr id="11" name="Rounded Rectangle 10"/>
          <p:cNvSpPr/>
          <p:nvPr/>
        </p:nvSpPr>
        <p:spPr>
          <a:xfrm>
            <a:off x="8321040" y="5257800"/>
            <a:ext cx="3611880" cy="1051560"/>
          </a:xfrm>
          <a:prstGeom prst="roundRect">
            <a:avLst>
              <a:gd name="adj" fmla="val 4000"/>
            </a:avLst>
          </a:prstGeom>
          <a:solidFill>
            <a:srgbClr val="F7F9FC"/>
          </a:solidFill>
          <a:ln w="1778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0" y="5376672"/>
            <a:ext cx="3611880" cy="365760"/>
          </a:xfrm>
          <a:prstGeom prst="rect">
            <a:avLst/>
          </a:prstGeom>
          <a:noFill/>
        </p:spPr>
        <p:txBody>
          <a:bodyPr wrap="square">
            <a:spAutoFit/>
          </a:bodyPr>
          <a:lstStyle/>
          <a:p>
            <a:pPr algn="l">
              <a:spcAft>
                <a:spcPts val="200"/>
              </a:spcAft>
            </a:pPr>
            <a:r>
              <a:rPr sz="1500" b="1">
                <a:solidFill>
                  <a:srgbClr val="15803D"/>
                </a:solidFill>
                <a:latin typeface="Calibri"/>
              </a:rPr>
              <a:t>A lock on the shelf</a:t>
            </a:r>
          </a:p>
        </p:txBody>
      </p:sp>
      <p:sp>
        <p:nvSpPr>
          <p:cNvPr id="13" name="TextBox 12"/>
          <p:cNvSpPr txBox="1"/>
          <p:nvPr/>
        </p:nvSpPr>
        <p:spPr>
          <a:xfrm>
            <a:off x="850392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the shelf itself hands over only your rows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2</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What it found, and what it answered</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three tasks the brief sets, and the evidence behind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1 — every defect found, and how to solve it</a:t>
            </a:r>
          </a:p>
        </p:txBody>
      </p:sp>
      <p:pic>
        <p:nvPicPr>
          <p:cNvPr id="4" name="Picture 3" descr="08_defect_catalogue.png"/>
          <p:cNvPicPr>
            <a:picLocks noChangeAspect="1"/>
          </p:cNvPicPr>
          <p:nvPr/>
        </p:nvPicPr>
        <p:blipFill>
          <a:blip r:embed="rId2"/>
          <a:stretch>
            <a:fillRect/>
          </a:stretch>
        </p:blipFill>
        <p:spPr>
          <a:xfrm>
            <a:off x="2566769" y="1280160"/>
            <a:ext cx="7058156" cy="4572000"/>
          </a:xfrm>
          <a:prstGeom prst="rect">
            <a:avLst/>
          </a:prstGeom>
        </p:spPr>
      </p:pic>
      <p:sp>
        <p:nvSpPr>
          <p:cNvPr id="5" name="TextBox 4"/>
          <p:cNvSpPr txBox="1"/>
          <p:nvPr/>
        </p:nvSpPr>
        <p:spPr>
          <a:xfrm>
            <a:off x="548640" y="5943600"/>
            <a:ext cx="11155680" cy="731520"/>
          </a:xfrm>
          <a:prstGeom prst="rect">
            <a:avLst/>
          </a:prstGeom>
          <a:noFill/>
        </p:spPr>
        <p:txBody>
          <a:bodyPr wrap="square">
            <a:spAutoFit/>
          </a:bodyPr>
          <a:lstStyle/>
          <a:p>
            <a:pPr algn="l">
              <a:spcAft>
                <a:spcPts val="0"/>
              </a:spcAft>
            </a:pPr>
            <a:r>
              <a:rPr sz="1500" b="1">
                <a:solidFill>
                  <a:srgbClr val="1F3864"/>
                </a:solidFill>
                <a:latin typeface="Calibri"/>
              </a:rPr>
              <a:t>Volume is not harm. One row in the red band changes two answers; 2.5 million rows in the green band change none. Nine of the fourteen need no fix at 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Three things we found that the documentation does not mention</a:t>
            </a:r>
          </a:p>
        </p:txBody>
      </p:sp>
      <p:sp>
        <p:nvSpPr>
          <p:cNvPr id="4" name="Rounded Rectangle 3"/>
          <p:cNvSpPr/>
          <p:nvPr/>
        </p:nvSpPr>
        <p:spPr>
          <a:xfrm>
            <a:off x="548640" y="1508760"/>
            <a:ext cx="11155680" cy="146304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36776"/>
            <a:ext cx="10698480" cy="365760"/>
          </a:xfrm>
          <a:prstGeom prst="rect">
            <a:avLst/>
          </a:prstGeom>
          <a:noFill/>
        </p:spPr>
        <p:txBody>
          <a:bodyPr wrap="square">
            <a:spAutoFit/>
          </a:bodyPr>
          <a:lstStyle/>
          <a:p>
            <a:pPr algn="l">
              <a:spcAft>
                <a:spcPts val="400"/>
              </a:spcAft>
            </a:pPr>
            <a:r>
              <a:rPr sz="1700" b="1">
                <a:solidFill>
                  <a:srgbClr val="B45309"/>
                </a:solidFill>
                <a:latin typeface="Calibri"/>
              </a:rPr>
              <a:t>The balance chain does not add up</a:t>
            </a:r>
          </a:p>
        </p:txBody>
      </p:sp>
      <p:sp>
        <p:nvSpPr>
          <p:cNvPr id="6" name="TextBox 5"/>
          <p:cNvSpPr txBox="1"/>
          <p:nvPr/>
        </p:nvSpPr>
        <p:spPr>
          <a:xfrm>
            <a:off x="777240" y="2039112"/>
            <a:ext cx="10698480" cy="914400"/>
          </a:xfrm>
          <a:prstGeom prst="rect">
            <a:avLst/>
          </a:prstGeom>
          <a:noFill/>
        </p:spPr>
        <p:txBody>
          <a:bodyPr wrap="square">
            <a:spAutoFit/>
          </a:bodyPr>
          <a:lstStyle/>
          <a:p>
            <a:pPr algn="l">
              <a:spcAft>
                <a:spcPts val="0"/>
              </a:spcAft>
            </a:pPr>
            <a:r>
              <a:rPr sz="1300" b="0">
                <a:solidFill>
                  <a:srgbClr val="5B6472"/>
                </a:solidFill>
                <a:latin typeface="Calibri"/>
              </a:rPr>
              <a:t>Testing order-independently: 3,869 of 4,500 accounts differ between the sum of their payments and their last stated balance. Most is rounding — every amount carries one decimal. But 55 accounts are out by more than 100, and one by exactly 1,200 with only 55 payments. That is a missing or duplicated posting, not rounding.</a:t>
            </a:r>
          </a:p>
        </p:txBody>
      </p:sp>
      <p:sp>
        <p:nvSpPr>
          <p:cNvPr id="7" name="Rounded Rectangle 6"/>
          <p:cNvSpPr/>
          <p:nvPr/>
        </p:nvSpPr>
        <p:spPr>
          <a:xfrm>
            <a:off x="548640" y="3136392"/>
            <a:ext cx="11155680" cy="146304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264408"/>
            <a:ext cx="10698480" cy="365760"/>
          </a:xfrm>
          <a:prstGeom prst="rect">
            <a:avLst/>
          </a:prstGeom>
          <a:noFill/>
        </p:spPr>
        <p:txBody>
          <a:bodyPr wrap="square">
            <a:spAutoFit/>
          </a:bodyPr>
          <a:lstStyle/>
          <a:p>
            <a:pPr algn="l">
              <a:spcAft>
                <a:spcPts val="400"/>
              </a:spcAft>
            </a:pPr>
            <a:r>
              <a:rPr sz="1700" b="1">
                <a:solidFill>
                  <a:srgbClr val="B45309"/>
                </a:solidFill>
                <a:latin typeface="Calibri"/>
              </a:rPr>
              <a:t>Same-day order is simply not recorded</a:t>
            </a:r>
          </a:p>
        </p:txBody>
      </p:sp>
      <p:sp>
        <p:nvSpPr>
          <p:cNvPr id="9" name="TextBox 8"/>
          <p:cNvSpPr txBox="1"/>
          <p:nvPr/>
        </p:nvSpPr>
        <p:spPr>
          <a:xfrm>
            <a:off x="777240" y="3666744"/>
            <a:ext cx="10698480" cy="914400"/>
          </a:xfrm>
          <a:prstGeom prst="rect">
            <a:avLst/>
          </a:prstGeom>
          <a:noFill/>
        </p:spPr>
        <p:txBody>
          <a:bodyPr wrap="square">
            <a:spAutoFit/>
          </a:bodyPr>
          <a:lstStyle/>
          <a:p>
            <a:pPr algn="l">
              <a:spcAft>
                <a:spcPts val="0"/>
              </a:spcAft>
            </a:pPr>
            <a:r>
              <a:rPr sz="1300" b="0">
                <a:solidFill>
                  <a:srgbClr val="5B6472"/>
                </a:solidFill>
                <a:latin typeface="Calibri"/>
              </a:rPr>
              <a:t>Payment IDs are not in time order within a day. For 183 accounts that uncertainty lands on their very last active day — so "the closing balance" is a documented choice we made, not a fact the data contains. That is exactly what Q9 asks for.</a:t>
            </a:r>
          </a:p>
        </p:txBody>
      </p:sp>
      <p:sp>
        <p:nvSpPr>
          <p:cNvPr id="10" name="Rounded Rectangle 9"/>
          <p:cNvSpPr/>
          <p:nvPr/>
        </p:nvSpPr>
        <p:spPr>
          <a:xfrm>
            <a:off x="548640" y="4764024"/>
            <a:ext cx="11155680" cy="1463040"/>
          </a:xfrm>
          <a:prstGeom prst="roundRect">
            <a:avLst>
              <a:gd name="adj" fmla="val 4000"/>
            </a:avLst>
          </a:prstGeom>
          <a:solidFill>
            <a:srgbClr val="F7F9FC"/>
          </a:solidFill>
          <a:ln w="1778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92040"/>
            <a:ext cx="10698480" cy="365760"/>
          </a:xfrm>
          <a:prstGeom prst="rect">
            <a:avLst/>
          </a:prstGeom>
          <a:noFill/>
        </p:spPr>
        <p:txBody>
          <a:bodyPr wrap="square">
            <a:spAutoFit/>
          </a:bodyPr>
          <a:lstStyle/>
          <a:p>
            <a:pPr algn="l">
              <a:spcAft>
                <a:spcPts val="400"/>
              </a:spcAft>
            </a:pPr>
            <a:r>
              <a:rPr sz="1700" b="1">
                <a:solidFill>
                  <a:srgbClr val="991B1B"/>
                </a:solidFill>
                <a:latin typeface="Calibri"/>
              </a:rPr>
              <a:t>One duplicate no primary key could catch</a:t>
            </a:r>
          </a:p>
        </p:txBody>
      </p:sp>
      <p:sp>
        <p:nvSpPr>
          <p:cNvPr id="12" name="TextBox 11"/>
          <p:cNvSpPr txBox="1"/>
          <p:nvPr/>
        </p:nvSpPr>
        <p:spPr>
          <a:xfrm>
            <a:off x="777240" y="5294376"/>
            <a:ext cx="10698480" cy="914400"/>
          </a:xfrm>
          <a:prstGeom prst="rect">
            <a:avLst/>
          </a:prstGeom>
          <a:noFill/>
        </p:spPr>
        <p:txBody>
          <a:bodyPr wrap="square">
            <a:spAutoFit/>
          </a:bodyPr>
          <a:lstStyle/>
          <a:p>
            <a:pPr algn="l">
              <a:spcAft>
                <a:spcPts val="0"/>
              </a:spcAft>
            </a:pPr>
            <a:r>
              <a:rPr sz="1300" b="0">
                <a:solidFill>
                  <a:srgbClr val="5B6472"/>
                </a:solidFill>
                <a:latin typeface="Calibri"/>
              </a:rPr>
              <a:t>Same account, same date, same type, same amount, same resulting balance — different ID. A genuinely separate payment would have moved the balance. This is the single row that gets removed, and the product reports 1,056,319 where the file has 1,056,320.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what "solving" one actually means</a:t>
            </a:r>
          </a:p>
        </p:txBody>
      </p:sp>
      <p:pic>
        <p:nvPicPr>
          <p:cNvPr id="4" name="Picture 3" descr="07_defect_lifecycle.png"/>
          <p:cNvPicPr>
            <a:picLocks noChangeAspect="1"/>
          </p:cNvPicPr>
          <p:nvPr/>
        </p:nvPicPr>
        <p:blipFill>
          <a:blip r:embed="rId2"/>
          <a:stretch>
            <a:fillRect/>
          </a:stretch>
        </p:blipFill>
        <p:spPr>
          <a:xfrm>
            <a:off x="1701186" y="1280160"/>
            <a:ext cx="8789323" cy="4754880"/>
          </a:xfrm>
          <a:prstGeom prst="rect">
            <a:avLst/>
          </a:prstGeom>
        </p:spPr>
      </p:pic>
      <p:sp>
        <p:nvSpPr>
          <p:cNvPr id="5" name="TextBox 4"/>
          <p:cNvSpPr txBox="1"/>
          <p:nvPr/>
        </p:nvSpPr>
        <p:spPr>
          <a:xfrm>
            <a:off x="548640" y="6126480"/>
            <a:ext cx="11155680" cy="548640"/>
          </a:xfrm>
          <a:prstGeom prst="rect">
            <a:avLst/>
          </a:prstGeom>
          <a:noFill/>
        </p:spPr>
        <p:txBody>
          <a:bodyPr wrap="square">
            <a:spAutoFit/>
          </a:bodyPr>
          <a:lstStyle/>
          <a:p>
            <a:pPr algn="l">
              <a:spcAft>
                <a:spcPts val="0"/>
              </a:spcAft>
            </a:pPr>
            <a:r>
              <a:rPr sz="1400" b="0">
                <a:solidFill>
                  <a:srgbClr val="5B6472"/>
                </a:solidFill>
                <a:latin typeface="Calibri"/>
              </a:rPr>
              <a:t>Red: fix at source and reload — nothing was destroyed. Orange: correct it, or accept it is reality and keep the caveat. Green: usually nothing, and the rule waits.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MODEL AND SEMANTIC LAYER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2 — the AI answered all ten, first time</a:t>
            </a:r>
          </a:p>
        </p:txBody>
      </p:sp>
      <p:sp>
        <p:nvSpPr>
          <p:cNvPr id="4" name="TextBox 3"/>
          <p:cNvSpPr txBox="1"/>
          <p:nvPr/>
        </p:nvSpPr>
        <p:spPr>
          <a:xfrm>
            <a:off x="640080" y="1417320"/>
            <a:ext cx="10972800" cy="548640"/>
          </a:xfrm>
          <a:prstGeom prst="rect">
            <a:avLst/>
          </a:prstGeom>
          <a:noFill/>
        </p:spPr>
        <p:txBody>
          <a:bodyPr wrap="square">
            <a:spAutoFit/>
          </a:bodyPr>
          <a:lstStyle/>
          <a:p>
            <a:pPr algn="l">
              <a:spcAft>
                <a:spcPts val="1200"/>
              </a:spcAft>
            </a:pPr>
            <a:r>
              <a:rPr sz="1800" b="1">
                <a:solidFill>
                  <a:srgbClr val="1F2A44"/>
                </a:solidFill>
                <a:latin typeface="Calibri"/>
              </a:rPr>
              <a:t>It never saw the database. It got the dictionary and the question, and nothing else.</a:t>
            </a:r>
          </a:p>
        </p:txBody>
      </p:sp>
      <p:sp>
        <p:nvSpPr>
          <p:cNvPr id="5" name="Rounded Rectangle 4"/>
          <p:cNvSpPr/>
          <p:nvPr/>
        </p:nvSpPr>
        <p:spPr>
          <a:xfrm>
            <a:off x="548640" y="2029968"/>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57400"/>
            <a:ext cx="4023360" cy="347472"/>
          </a:xfrm>
          <a:prstGeom prst="rect">
            <a:avLst/>
          </a:prstGeom>
          <a:noFill/>
        </p:spPr>
        <p:txBody>
          <a:bodyPr wrap="square">
            <a:spAutoFit/>
          </a:bodyPr>
          <a:lstStyle/>
          <a:p>
            <a:pPr algn="l">
              <a:spcAft>
                <a:spcPts val="0"/>
              </a:spcAft>
            </a:pPr>
            <a:r>
              <a:rPr sz="1250" b="1">
                <a:solidFill>
                  <a:srgbClr val="1F2A44"/>
                </a:solidFill>
                <a:latin typeface="Calibri"/>
              </a:rPr>
              <a:t>Q1  clients per region</a:t>
            </a:r>
          </a:p>
        </p:txBody>
      </p:sp>
      <p:sp>
        <p:nvSpPr>
          <p:cNvPr id="7" name="TextBox 6"/>
          <p:cNvSpPr txBox="1"/>
          <p:nvPr/>
        </p:nvSpPr>
        <p:spPr>
          <a:xfrm>
            <a:off x="4754880" y="2057400"/>
            <a:ext cx="6949440" cy="347472"/>
          </a:xfrm>
          <a:prstGeom prst="rect">
            <a:avLst/>
          </a:prstGeom>
          <a:noFill/>
        </p:spPr>
        <p:txBody>
          <a:bodyPr wrap="square">
            <a:spAutoFit/>
          </a:bodyPr>
          <a:lstStyle/>
          <a:p>
            <a:pPr algn="l">
              <a:spcAft>
                <a:spcPts val="0"/>
              </a:spcAft>
            </a:pPr>
            <a:r>
              <a:rPr sz="1250" b="0">
                <a:solidFill>
                  <a:srgbClr val="5B6472"/>
                </a:solidFill>
                <a:latin typeface="Calibri"/>
              </a:rPr>
              <a:t>south Moravia 937, north Moravia 920, + 6 more</a:t>
            </a:r>
          </a:p>
        </p:txBody>
      </p:sp>
      <p:sp>
        <p:nvSpPr>
          <p:cNvPr id="8" name="TextBox 7"/>
          <p:cNvSpPr txBox="1"/>
          <p:nvPr/>
        </p:nvSpPr>
        <p:spPr>
          <a:xfrm>
            <a:off x="685800" y="2441448"/>
            <a:ext cx="4023360" cy="347472"/>
          </a:xfrm>
          <a:prstGeom prst="rect">
            <a:avLst/>
          </a:prstGeom>
          <a:noFill/>
        </p:spPr>
        <p:txBody>
          <a:bodyPr wrap="square">
            <a:spAutoFit/>
          </a:bodyPr>
          <a:lstStyle/>
          <a:p>
            <a:pPr algn="l">
              <a:spcAft>
                <a:spcPts val="0"/>
              </a:spcAft>
            </a:pPr>
            <a:r>
              <a:rPr sz="1250" b="1">
                <a:solidFill>
                  <a:srgbClr val="1F2A44"/>
                </a:solidFill>
                <a:latin typeface="Calibri"/>
              </a:rPr>
              <a:t>Q2  loans granted per year</a:t>
            </a:r>
          </a:p>
        </p:txBody>
      </p:sp>
      <p:sp>
        <p:nvSpPr>
          <p:cNvPr id="9" name="TextBox 8"/>
          <p:cNvSpPr txBox="1"/>
          <p:nvPr/>
        </p:nvSpPr>
        <p:spPr>
          <a:xfrm>
            <a:off x="4754880" y="2441448"/>
            <a:ext cx="6949440" cy="347472"/>
          </a:xfrm>
          <a:prstGeom prst="rect">
            <a:avLst/>
          </a:prstGeom>
          <a:noFill/>
        </p:spPr>
        <p:txBody>
          <a:bodyPr wrap="square">
            <a:spAutoFit/>
          </a:bodyPr>
          <a:lstStyle/>
          <a:p>
            <a:pPr algn="l">
              <a:spcAft>
                <a:spcPts val="0"/>
              </a:spcAft>
            </a:pPr>
            <a:r>
              <a:rPr sz="1250" b="0">
                <a:solidFill>
                  <a:srgbClr val="5B6472"/>
                </a:solidFill>
                <a:latin typeface="Calibri"/>
              </a:rPr>
              <a:t>1993: 2.6m · 1994: 13.4m · 1995: 13.3m · 1996: 18.3m · +2</a:t>
            </a:r>
          </a:p>
        </p:txBody>
      </p:sp>
      <p:sp>
        <p:nvSpPr>
          <p:cNvPr id="10" name="Rounded Rectangle 9"/>
          <p:cNvSpPr/>
          <p:nvPr/>
        </p:nvSpPr>
        <p:spPr>
          <a:xfrm>
            <a:off x="548640" y="2798064"/>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825496"/>
            <a:ext cx="4023360" cy="347472"/>
          </a:xfrm>
          <a:prstGeom prst="rect">
            <a:avLst/>
          </a:prstGeom>
          <a:noFill/>
        </p:spPr>
        <p:txBody>
          <a:bodyPr wrap="square">
            <a:spAutoFit/>
          </a:bodyPr>
          <a:lstStyle/>
          <a:p>
            <a:pPr algn="l">
              <a:spcAft>
                <a:spcPts val="0"/>
              </a:spcAft>
            </a:pPr>
            <a:r>
              <a:rPr sz="1250" b="1">
                <a:solidFill>
                  <a:srgbClr val="1F2A44"/>
                </a:solidFill>
                <a:latin typeface="Calibri"/>
              </a:rPr>
              <a:t>Q3  problematic loans</a:t>
            </a:r>
          </a:p>
        </p:txBody>
      </p:sp>
      <p:sp>
        <p:nvSpPr>
          <p:cNvPr id="12" name="TextBox 11"/>
          <p:cNvSpPr txBox="1"/>
          <p:nvPr/>
        </p:nvSpPr>
        <p:spPr>
          <a:xfrm>
            <a:off x="4754880" y="2825496"/>
            <a:ext cx="6949440" cy="347472"/>
          </a:xfrm>
          <a:prstGeom prst="rect">
            <a:avLst/>
          </a:prstGeom>
          <a:noFill/>
        </p:spPr>
        <p:txBody>
          <a:bodyPr wrap="square">
            <a:spAutoFit/>
          </a:bodyPr>
          <a:lstStyle/>
          <a:p>
            <a:pPr algn="l">
              <a:spcAft>
                <a:spcPts val="0"/>
              </a:spcAft>
            </a:pPr>
            <a:r>
              <a:rPr sz="1250" b="0">
                <a:solidFill>
                  <a:srgbClr val="5B6472"/>
                </a:solidFill>
                <a:latin typeface="Calibri"/>
              </a:rPr>
              <a:t>76 of 682 = 11.14%  (matches the published figure exactly)</a:t>
            </a:r>
          </a:p>
        </p:txBody>
      </p:sp>
      <p:sp>
        <p:nvSpPr>
          <p:cNvPr id="13" name="TextBox 12"/>
          <p:cNvSpPr txBox="1"/>
          <p:nvPr/>
        </p:nvSpPr>
        <p:spPr>
          <a:xfrm>
            <a:off x="685800" y="3209544"/>
            <a:ext cx="4023360" cy="347472"/>
          </a:xfrm>
          <a:prstGeom prst="rect">
            <a:avLst/>
          </a:prstGeom>
          <a:noFill/>
        </p:spPr>
        <p:txBody>
          <a:bodyPr wrap="square">
            <a:spAutoFit/>
          </a:bodyPr>
          <a:lstStyle/>
          <a:p>
            <a:pPr algn="l">
              <a:spcAft>
                <a:spcPts val="0"/>
              </a:spcAft>
            </a:pPr>
            <a:r>
              <a:rPr sz="1250" b="1">
                <a:solidFill>
                  <a:srgbClr val="1F2A44"/>
                </a:solidFill>
                <a:latin typeface="Calibri"/>
              </a:rPr>
              <a:t>Q4  average loan by owner's card</a:t>
            </a:r>
          </a:p>
        </p:txBody>
      </p:sp>
      <p:sp>
        <p:nvSpPr>
          <p:cNvPr id="14" name="TextBox 13"/>
          <p:cNvSpPr txBox="1"/>
          <p:nvPr/>
        </p:nvSpPr>
        <p:spPr>
          <a:xfrm>
            <a:off x="4754880" y="3209544"/>
            <a:ext cx="6949440" cy="347472"/>
          </a:xfrm>
          <a:prstGeom prst="rect">
            <a:avLst/>
          </a:prstGeom>
          <a:noFill/>
        </p:spPr>
        <p:txBody>
          <a:bodyPr wrap="square">
            <a:spAutoFit/>
          </a:bodyPr>
          <a:lstStyle/>
          <a:p>
            <a:pPr algn="l">
              <a:spcAft>
                <a:spcPts val="0"/>
              </a:spcAft>
            </a:pPr>
            <a:r>
              <a:rPr sz="1250" b="0">
                <a:solidFill>
                  <a:srgbClr val="5B6472"/>
                </a:solidFill>
                <a:latin typeface="Calibri"/>
              </a:rPr>
              <a:t>junior 221,970 · gold 161,881 · no card 148,865 · classic 148,809</a:t>
            </a:r>
          </a:p>
        </p:txBody>
      </p:sp>
      <p:sp>
        <p:nvSpPr>
          <p:cNvPr id="15" name="Rounded Rectangle 14"/>
          <p:cNvSpPr/>
          <p:nvPr/>
        </p:nvSpPr>
        <p:spPr>
          <a:xfrm>
            <a:off x="548640" y="3566160"/>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93592"/>
            <a:ext cx="4023360" cy="347472"/>
          </a:xfrm>
          <a:prstGeom prst="rect">
            <a:avLst/>
          </a:prstGeom>
          <a:noFill/>
        </p:spPr>
        <p:txBody>
          <a:bodyPr wrap="square">
            <a:spAutoFit/>
          </a:bodyPr>
          <a:lstStyle/>
          <a:p>
            <a:pPr algn="l">
              <a:spcAft>
                <a:spcPts val="0"/>
              </a:spcAft>
            </a:pPr>
            <a:r>
              <a:rPr sz="1250" b="1">
                <a:solidFill>
                  <a:srgbClr val="1F2A44"/>
                </a:solidFill>
                <a:latin typeface="Calibri"/>
              </a:rPr>
              <a:t>Q5  top districts, 1997</a:t>
            </a:r>
          </a:p>
        </p:txBody>
      </p:sp>
      <p:sp>
        <p:nvSpPr>
          <p:cNvPr id="17" name="TextBox 16"/>
          <p:cNvSpPr txBox="1"/>
          <p:nvPr/>
        </p:nvSpPr>
        <p:spPr>
          <a:xfrm>
            <a:off x="4754880" y="3593592"/>
            <a:ext cx="6949440" cy="347472"/>
          </a:xfrm>
          <a:prstGeom prst="rect">
            <a:avLst/>
          </a:prstGeom>
          <a:noFill/>
        </p:spPr>
        <p:txBody>
          <a:bodyPr wrap="square">
            <a:spAutoFit/>
          </a:bodyPr>
          <a:lstStyle/>
          <a:p>
            <a:pPr algn="l">
              <a:spcAft>
                <a:spcPts val="0"/>
              </a:spcAft>
            </a:pPr>
            <a:r>
              <a:rPr sz="1250" b="0">
                <a:solidFill>
                  <a:srgbClr val="5B6472"/>
                </a:solidFill>
                <a:latin typeface="Calibri"/>
              </a:rPr>
              <a:t>Prague 115.1m · Karvina 28.5m · Ostrava 27.7m · +7</a:t>
            </a:r>
          </a:p>
        </p:txBody>
      </p:sp>
      <p:sp>
        <p:nvSpPr>
          <p:cNvPr id="18" name="TextBox 17"/>
          <p:cNvSpPr txBox="1"/>
          <p:nvPr/>
        </p:nvSpPr>
        <p:spPr>
          <a:xfrm>
            <a:off x="685800" y="3977640"/>
            <a:ext cx="4023360" cy="347472"/>
          </a:xfrm>
          <a:prstGeom prst="rect">
            <a:avLst/>
          </a:prstGeom>
          <a:noFill/>
        </p:spPr>
        <p:txBody>
          <a:bodyPr wrap="square">
            <a:spAutoFit/>
          </a:bodyPr>
          <a:lstStyle/>
          <a:p>
            <a:pPr algn="l">
              <a:spcAft>
                <a:spcPts val="0"/>
              </a:spcAft>
            </a:pPr>
            <a:r>
              <a:rPr sz="1250" b="1">
                <a:solidFill>
                  <a:srgbClr val="1F2A44"/>
                </a:solidFill>
                <a:latin typeface="Calibri"/>
              </a:rPr>
              <a:t>Q6  new accounts per month 1996</a:t>
            </a:r>
          </a:p>
        </p:txBody>
      </p:sp>
      <p:sp>
        <p:nvSpPr>
          <p:cNvPr id="19" name="TextBox 18"/>
          <p:cNvSpPr txBox="1"/>
          <p:nvPr/>
        </p:nvSpPr>
        <p:spPr>
          <a:xfrm>
            <a:off x="4754880" y="3977640"/>
            <a:ext cx="6949440" cy="347472"/>
          </a:xfrm>
          <a:prstGeom prst="rect">
            <a:avLst/>
          </a:prstGeom>
          <a:noFill/>
        </p:spPr>
        <p:txBody>
          <a:bodyPr wrap="square">
            <a:spAutoFit/>
          </a:bodyPr>
          <a:lstStyle/>
          <a:p>
            <a:pPr algn="l">
              <a:spcAft>
                <a:spcPts val="0"/>
              </a:spcAft>
            </a:pPr>
            <a:r>
              <a:rPr sz="1250" b="0">
                <a:solidFill>
                  <a:srgbClr val="5B6472"/>
                </a:solidFill>
                <a:latin typeface="Calibri"/>
              </a:rPr>
              <a:t>all twelve months present — Jan 106, Feb 104, Mar 124 …</a:t>
            </a:r>
          </a:p>
        </p:txBody>
      </p:sp>
      <p:sp>
        <p:nvSpPr>
          <p:cNvPr id="20" name="Rounded Rectangle 19"/>
          <p:cNvSpPr/>
          <p:nvPr/>
        </p:nvSpPr>
        <p:spPr>
          <a:xfrm>
            <a:off x="548640" y="4334256"/>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361688"/>
            <a:ext cx="4023360" cy="347472"/>
          </a:xfrm>
          <a:prstGeom prst="rect">
            <a:avLst/>
          </a:prstGeom>
          <a:noFill/>
        </p:spPr>
        <p:txBody>
          <a:bodyPr wrap="square">
            <a:spAutoFit/>
          </a:bodyPr>
          <a:lstStyle/>
          <a:p>
            <a:pPr algn="l">
              <a:spcAft>
                <a:spcPts val="0"/>
              </a:spcAft>
            </a:pPr>
            <a:r>
              <a:rPr sz="1250" b="1">
                <a:solidFill>
                  <a:srgbClr val="1F2A44"/>
                </a:solidFill>
                <a:latin typeface="Calibri"/>
              </a:rPr>
              <a:t>Q7  owner age at loan start</a:t>
            </a:r>
          </a:p>
        </p:txBody>
      </p:sp>
      <p:sp>
        <p:nvSpPr>
          <p:cNvPr id="22" name="TextBox 21"/>
          <p:cNvSpPr txBox="1"/>
          <p:nvPr/>
        </p:nvSpPr>
        <p:spPr>
          <a:xfrm>
            <a:off x="4754880" y="4361688"/>
            <a:ext cx="6949440" cy="347472"/>
          </a:xfrm>
          <a:prstGeom prst="rect">
            <a:avLst/>
          </a:prstGeom>
          <a:noFill/>
        </p:spPr>
        <p:txBody>
          <a:bodyPr wrap="square">
            <a:spAutoFit/>
          </a:bodyPr>
          <a:lstStyle/>
          <a:p>
            <a:pPr algn="l">
              <a:spcAft>
                <a:spcPts val="0"/>
              </a:spcAft>
            </a:pPr>
            <a:r>
              <a:rPr sz="1250" b="0">
                <a:solidFill>
                  <a:srgbClr val="5B6472"/>
                </a:solidFill>
                <a:latin typeface="Calibri"/>
              </a:rPr>
              <a:t>paid 37.1 · unpaid 39.6 · running 38.7 · in debt 37.0</a:t>
            </a:r>
          </a:p>
        </p:txBody>
      </p:sp>
      <p:sp>
        <p:nvSpPr>
          <p:cNvPr id="23" name="TextBox 22"/>
          <p:cNvSpPr txBox="1"/>
          <p:nvPr/>
        </p:nvSpPr>
        <p:spPr>
          <a:xfrm>
            <a:off x="685800" y="4745736"/>
            <a:ext cx="4023360" cy="347472"/>
          </a:xfrm>
          <a:prstGeom prst="rect">
            <a:avLst/>
          </a:prstGeom>
          <a:noFill/>
        </p:spPr>
        <p:txBody>
          <a:bodyPr wrap="square">
            <a:spAutoFit/>
          </a:bodyPr>
          <a:lstStyle/>
          <a:p>
            <a:pPr algn="l">
              <a:spcAft>
                <a:spcPts val="0"/>
              </a:spcAft>
            </a:pPr>
            <a:r>
              <a:rPr sz="1250" b="1">
                <a:solidFill>
                  <a:srgbClr val="1F2A44"/>
                </a:solidFill>
                <a:latin typeface="Calibri"/>
              </a:rPr>
              <a:t>Q8  gender split, gold cards</a:t>
            </a:r>
          </a:p>
        </p:txBody>
      </p:sp>
      <p:sp>
        <p:nvSpPr>
          <p:cNvPr id="24" name="TextBox 23"/>
          <p:cNvSpPr txBox="1"/>
          <p:nvPr/>
        </p:nvSpPr>
        <p:spPr>
          <a:xfrm>
            <a:off x="4754880" y="4745736"/>
            <a:ext cx="6949440" cy="347472"/>
          </a:xfrm>
          <a:prstGeom prst="rect">
            <a:avLst/>
          </a:prstGeom>
          <a:noFill/>
        </p:spPr>
        <p:txBody>
          <a:bodyPr wrap="square">
            <a:spAutoFit/>
          </a:bodyPr>
          <a:lstStyle/>
          <a:p>
            <a:pPr algn="l">
              <a:spcAft>
                <a:spcPts val="0"/>
              </a:spcAft>
            </a:pPr>
            <a:r>
              <a:rPr sz="1250" b="0">
                <a:solidFill>
                  <a:srgbClr val="5B6472"/>
                </a:solidFill>
                <a:latin typeface="Calibri"/>
              </a:rPr>
              <a:t>53 men (60.2%) · 35 women (39.8%)</a:t>
            </a:r>
          </a:p>
        </p:txBody>
      </p:sp>
      <p:sp>
        <p:nvSpPr>
          <p:cNvPr id="25" name="Rounded Rectangle 24"/>
          <p:cNvSpPr/>
          <p:nvPr/>
        </p:nvSpPr>
        <p:spPr>
          <a:xfrm>
            <a:off x="548640" y="5102352"/>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129784"/>
            <a:ext cx="4023360" cy="347472"/>
          </a:xfrm>
          <a:prstGeom prst="rect">
            <a:avLst/>
          </a:prstGeom>
          <a:noFill/>
        </p:spPr>
        <p:txBody>
          <a:bodyPr wrap="square">
            <a:spAutoFit/>
          </a:bodyPr>
          <a:lstStyle/>
          <a:p>
            <a:pPr algn="l">
              <a:spcAft>
                <a:spcPts val="0"/>
              </a:spcAft>
            </a:pPr>
            <a:r>
              <a:rPr sz="1250" b="1">
                <a:solidFill>
                  <a:srgbClr val="1F2A44"/>
                </a:solidFill>
                <a:latin typeface="Calibri"/>
              </a:rPr>
              <a:t>Q9  average balance Dec 1998</a:t>
            </a:r>
          </a:p>
        </p:txBody>
      </p:sp>
      <p:sp>
        <p:nvSpPr>
          <p:cNvPr id="27" name="TextBox 26"/>
          <p:cNvSpPr txBox="1"/>
          <p:nvPr/>
        </p:nvSpPr>
        <p:spPr>
          <a:xfrm>
            <a:off x="4754880" y="5129784"/>
            <a:ext cx="6949440" cy="347472"/>
          </a:xfrm>
          <a:prstGeom prst="rect">
            <a:avLst/>
          </a:prstGeom>
          <a:noFill/>
        </p:spPr>
        <p:txBody>
          <a:bodyPr wrap="square">
            <a:spAutoFit/>
          </a:bodyPr>
          <a:lstStyle/>
          <a:p>
            <a:pPr algn="l">
              <a:spcAft>
                <a:spcPts val="0"/>
              </a:spcAft>
            </a:pPr>
            <a:r>
              <a:rPr sz="1250" b="0">
                <a:solidFill>
                  <a:srgbClr val="5B6472"/>
                </a:solidFill>
                <a:latin typeface="Calibri"/>
              </a:rPr>
              <a:t>43,808.94 over 4,500 accounts  (+ 2 caveats attached)</a:t>
            </a:r>
          </a:p>
        </p:txBody>
      </p:sp>
      <p:sp>
        <p:nvSpPr>
          <p:cNvPr id="28" name="TextBox 27"/>
          <p:cNvSpPr txBox="1"/>
          <p:nvPr/>
        </p:nvSpPr>
        <p:spPr>
          <a:xfrm>
            <a:off x="685800" y="5513832"/>
            <a:ext cx="4023360" cy="347472"/>
          </a:xfrm>
          <a:prstGeom prst="rect">
            <a:avLst/>
          </a:prstGeom>
          <a:noFill/>
        </p:spPr>
        <p:txBody>
          <a:bodyPr wrap="square">
            <a:spAutoFit/>
          </a:bodyPr>
          <a:lstStyle/>
          <a:p>
            <a:pPr algn="l">
              <a:spcAft>
                <a:spcPts val="0"/>
              </a:spcAft>
            </a:pPr>
            <a:r>
              <a:rPr sz="1250" b="1">
                <a:solidFill>
                  <a:srgbClr val="1F2A44"/>
                </a:solidFill>
                <a:latin typeface="Calibri"/>
              </a:rPr>
              <a:t>Q10 frequency with worst share</a:t>
            </a:r>
          </a:p>
        </p:txBody>
      </p:sp>
      <p:sp>
        <p:nvSpPr>
          <p:cNvPr id="29" name="TextBox 28"/>
          <p:cNvSpPr txBox="1"/>
          <p:nvPr/>
        </p:nvSpPr>
        <p:spPr>
          <a:xfrm>
            <a:off x="4754880" y="5513832"/>
            <a:ext cx="6949440" cy="347472"/>
          </a:xfrm>
          <a:prstGeom prst="rect">
            <a:avLst/>
          </a:prstGeom>
          <a:noFill/>
        </p:spPr>
        <p:txBody>
          <a:bodyPr wrap="square">
            <a:spAutoFit/>
          </a:bodyPr>
          <a:lstStyle/>
          <a:p>
            <a:pPr algn="l">
              <a:spcAft>
                <a:spcPts val="0"/>
              </a:spcAft>
            </a:pPr>
            <a:r>
              <a:rPr sz="1250" b="0">
                <a:solidFill>
                  <a:srgbClr val="5B6472"/>
                </a:solidFill>
                <a:latin typeface="Calibri"/>
              </a:rPr>
              <a:t>after each transaction 18.75% — but only 6 of 32 loans</a:t>
            </a:r>
          </a:p>
        </p:txBody>
      </p:sp>
      <p:sp>
        <p:nvSpPr>
          <p:cNvPr id="30" name="TextBox 29"/>
          <p:cNvSpPr txBox="1"/>
          <p:nvPr/>
        </p:nvSpPr>
        <p:spPr>
          <a:xfrm>
            <a:off x="548640" y="6080760"/>
            <a:ext cx="11155680" cy="457200"/>
          </a:xfrm>
          <a:prstGeom prst="rect">
            <a:avLst/>
          </a:prstGeom>
          <a:noFill/>
        </p:spPr>
        <p:txBody>
          <a:bodyPr wrap="square">
            <a:spAutoFit/>
          </a:bodyPr>
          <a:lstStyle/>
          <a:p>
            <a:pPr algn="l">
              <a:spcAft>
                <a:spcPts val="0"/>
              </a:spcAft>
            </a:pPr>
            <a:r>
              <a:rPr sz="1500" b="1">
                <a:solidFill>
                  <a:srgbClr val="15803D"/>
                </a:solidFill>
                <a:latin typeface="Calibri"/>
              </a:rPr>
              <a:t>10 of 10 matched the answers a person had worked out by hand beforehand. No retries. No SQL corrected by hand.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ENTITLEMENTS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3 — four people, four different answers to the same question</a:t>
            </a:r>
          </a:p>
        </p:txBody>
      </p:sp>
      <p:sp>
        <p:nvSpPr>
          <p:cNvPr id="4" name="TextBox 3"/>
          <p:cNvSpPr txBox="1"/>
          <p:nvPr/>
        </p:nvSpPr>
        <p:spPr>
          <a:xfrm>
            <a:off x="640080" y="1371600"/>
            <a:ext cx="10972800" cy="457200"/>
          </a:xfrm>
          <a:prstGeom prst="rect">
            <a:avLst/>
          </a:prstGeom>
          <a:noFill/>
        </p:spPr>
        <p:txBody>
          <a:bodyPr wrap="square">
            <a:spAutoFit/>
          </a:bodyPr>
          <a:lstStyle/>
          <a:p>
            <a:pPr algn="l">
              <a:spcAft>
                <a:spcPts val="1000"/>
              </a:spcAft>
            </a:pPr>
            <a:r>
              <a:rPr sz="1700" b="0">
                <a:solidFill>
                  <a:srgbClr val="5B6472"/>
                </a:solidFill>
                <a:latin typeface="Calibri"/>
              </a:rPr>
              <a:t>Measured by logging in as each one and counting — not by reading the settings.</a:t>
            </a:r>
          </a:p>
        </p:txBody>
      </p:sp>
      <p:sp>
        <p:nvSpPr>
          <p:cNvPr id="5" name="Rounded Rectangle 4"/>
          <p:cNvSpPr/>
          <p:nvPr/>
        </p:nvSpPr>
        <p:spPr>
          <a:xfrm>
            <a:off x="548640" y="2057400"/>
            <a:ext cx="2724912" cy="1737360"/>
          </a:xfrm>
          <a:prstGeom prst="roundRect">
            <a:avLst>
              <a:gd name="adj" fmla="val 4000"/>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12848"/>
            <a:ext cx="2724912" cy="365760"/>
          </a:xfrm>
          <a:prstGeom prst="rect">
            <a:avLst/>
          </a:prstGeom>
          <a:noFill/>
        </p:spPr>
        <p:txBody>
          <a:bodyPr wrap="square">
            <a:spAutoFit/>
          </a:bodyPr>
          <a:lstStyle/>
          <a:p>
            <a:pPr algn="l">
              <a:spcAft>
                <a:spcPts val="200"/>
              </a:spcAft>
            </a:pPr>
            <a:r>
              <a:rPr sz="1400" b="1">
                <a:solidFill>
                  <a:srgbClr val="15803D"/>
                </a:solidFill>
                <a:latin typeface="Calibri"/>
              </a:rPr>
              <a:t>cro_global</a:t>
            </a:r>
          </a:p>
        </p:txBody>
      </p:sp>
      <p:sp>
        <p:nvSpPr>
          <p:cNvPr id="7" name="TextBox 6"/>
          <p:cNvSpPr txBox="1"/>
          <p:nvPr/>
        </p:nvSpPr>
        <p:spPr>
          <a:xfrm>
            <a:off x="731520"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group risk</a:t>
            </a:r>
          </a:p>
        </p:txBody>
      </p:sp>
      <p:sp>
        <p:nvSpPr>
          <p:cNvPr id="8" name="TextBox 7"/>
          <p:cNvSpPr txBox="1"/>
          <p:nvPr/>
        </p:nvSpPr>
        <p:spPr>
          <a:xfrm>
            <a:off x="731520" y="2926080"/>
            <a:ext cx="2450592" cy="640080"/>
          </a:xfrm>
          <a:prstGeom prst="rect">
            <a:avLst/>
          </a:prstGeom>
          <a:noFill/>
        </p:spPr>
        <p:txBody>
          <a:bodyPr wrap="square">
            <a:spAutoFit/>
          </a:bodyPr>
          <a:lstStyle/>
          <a:p>
            <a:pPr algn="l">
              <a:spcAft>
                <a:spcPts val="0"/>
              </a:spcAft>
            </a:pPr>
            <a:r>
              <a:rPr sz="3200" b="1">
                <a:solidFill>
                  <a:srgbClr val="15803D"/>
                </a:solidFill>
                <a:latin typeface="Calibri"/>
              </a:rPr>
              <a:t>5,369</a:t>
            </a:r>
          </a:p>
        </p:txBody>
      </p:sp>
      <p:sp>
        <p:nvSpPr>
          <p:cNvPr id="9" name="TextBox 8"/>
          <p:cNvSpPr txBox="1"/>
          <p:nvPr/>
        </p:nvSpPr>
        <p:spPr>
          <a:xfrm>
            <a:off x="731520"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10" name="Rounded Rectangle 9"/>
          <p:cNvSpPr/>
          <p:nvPr/>
        </p:nvSpPr>
        <p:spPr>
          <a:xfrm>
            <a:off x="3456432" y="2057400"/>
            <a:ext cx="2724912" cy="17373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212848"/>
            <a:ext cx="2724912" cy="365760"/>
          </a:xfrm>
          <a:prstGeom prst="rect">
            <a:avLst/>
          </a:prstGeom>
          <a:noFill/>
        </p:spPr>
        <p:txBody>
          <a:bodyPr wrap="square">
            <a:spAutoFit/>
          </a:bodyPr>
          <a:lstStyle/>
          <a:p>
            <a:pPr algn="l">
              <a:spcAft>
                <a:spcPts val="200"/>
              </a:spcAft>
            </a:pPr>
            <a:r>
              <a:rPr sz="1400" b="1">
                <a:solidFill>
                  <a:srgbClr val="1F3864"/>
                </a:solidFill>
                <a:latin typeface="Calibri"/>
              </a:rPr>
              <a:t>rm_north</a:t>
            </a:r>
          </a:p>
        </p:txBody>
      </p:sp>
      <p:sp>
        <p:nvSpPr>
          <p:cNvPr id="12" name="TextBox 11"/>
          <p:cNvSpPr txBox="1"/>
          <p:nvPr/>
        </p:nvSpPr>
        <p:spPr>
          <a:xfrm>
            <a:off x="3639312"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northern book</a:t>
            </a:r>
          </a:p>
        </p:txBody>
      </p:sp>
      <p:sp>
        <p:nvSpPr>
          <p:cNvPr id="13" name="TextBox 12"/>
          <p:cNvSpPr txBox="1"/>
          <p:nvPr/>
        </p:nvSpPr>
        <p:spPr>
          <a:xfrm>
            <a:off x="3639312" y="2926080"/>
            <a:ext cx="2450592" cy="640080"/>
          </a:xfrm>
          <a:prstGeom prst="rect">
            <a:avLst/>
          </a:prstGeom>
          <a:noFill/>
        </p:spPr>
        <p:txBody>
          <a:bodyPr wrap="square">
            <a:spAutoFit/>
          </a:bodyPr>
          <a:lstStyle/>
          <a:p>
            <a:pPr algn="l">
              <a:spcAft>
                <a:spcPts val="0"/>
              </a:spcAft>
            </a:pPr>
            <a:r>
              <a:rPr sz="3200" b="1">
                <a:solidFill>
                  <a:srgbClr val="1F3864"/>
                </a:solidFill>
                <a:latin typeface="Calibri"/>
              </a:rPr>
              <a:t>1,481</a:t>
            </a:r>
          </a:p>
        </p:txBody>
      </p:sp>
      <p:sp>
        <p:nvSpPr>
          <p:cNvPr id="14" name="TextBox 13"/>
          <p:cNvSpPr txBox="1"/>
          <p:nvPr/>
        </p:nvSpPr>
        <p:spPr>
          <a:xfrm>
            <a:off x="3639312"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15" name="Rounded Rectangle 14"/>
          <p:cNvSpPr/>
          <p:nvPr/>
        </p:nvSpPr>
        <p:spPr>
          <a:xfrm>
            <a:off x="6364224" y="2057400"/>
            <a:ext cx="2724912" cy="17373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2212848"/>
            <a:ext cx="2724912" cy="365760"/>
          </a:xfrm>
          <a:prstGeom prst="rect">
            <a:avLst/>
          </a:prstGeom>
          <a:noFill/>
        </p:spPr>
        <p:txBody>
          <a:bodyPr wrap="square">
            <a:spAutoFit/>
          </a:bodyPr>
          <a:lstStyle/>
          <a:p>
            <a:pPr algn="l">
              <a:spcAft>
                <a:spcPts val="200"/>
              </a:spcAft>
            </a:pPr>
            <a:r>
              <a:rPr sz="1400" b="1">
                <a:solidFill>
                  <a:srgbClr val="1F3864"/>
                </a:solidFill>
                <a:latin typeface="Calibri"/>
              </a:rPr>
              <a:t>rm_south</a:t>
            </a:r>
          </a:p>
        </p:txBody>
      </p:sp>
      <p:sp>
        <p:nvSpPr>
          <p:cNvPr id="17" name="TextBox 16"/>
          <p:cNvSpPr txBox="1"/>
          <p:nvPr/>
        </p:nvSpPr>
        <p:spPr>
          <a:xfrm>
            <a:off x="6547104"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southern book</a:t>
            </a:r>
          </a:p>
        </p:txBody>
      </p:sp>
      <p:sp>
        <p:nvSpPr>
          <p:cNvPr id="18" name="TextBox 17"/>
          <p:cNvSpPr txBox="1"/>
          <p:nvPr/>
        </p:nvSpPr>
        <p:spPr>
          <a:xfrm>
            <a:off x="6547104" y="2926080"/>
            <a:ext cx="2450592" cy="640080"/>
          </a:xfrm>
          <a:prstGeom prst="rect">
            <a:avLst/>
          </a:prstGeom>
          <a:noFill/>
        </p:spPr>
        <p:txBody>
          <a:bodyPr wrap="square">
            <a:spAutoFit/>
          </a:bodyPr>
          <a:lstStyle/>
          <a:p>
            <a:pPr algn="l">
              <a:spcAft>
                <a:spcPts val="0"/>
              </a:spcAft>
            </a:pPr>
            <a:r>
              <a:rPr sz="3200" b="1">
                <a:solidFill>
                  <a:srgbClr val="1F3864"/>
                </a:solidFill>
                <a:latin typeface="Calibri"/>
              </a:rPr>
              <a:t>1,386</a:t>
            </a:r>
          </a:p>
        </p:txBody>
      </p:sp>
      <p:sp>
        <p:nvSpPr>
          <p:cNvPr id="19" name="TextBox 18"/>
          <p:cNvSpPr txBox="1"/>
          <p:nvPr/>
        </p:nvSpPr>
        <p:spPr>
          <a:xfrm>
            <a:off x="6547104"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20" name="Rounded Rectangle 19"/>
          <p:cNvSpPr/>
          <p:nvPr/>
        </p:nvSpPr>
        <p:spPr>
          <a:xfrm>
            <a:off x="9272016" y="2057400"/>
            <a:ext cx="2724912" cy="1737360"/>
          </a:xfrm>
          <a:prstGeom prst="roundRect">
            <a:avLst>
              <a:gd name="adj" fmla="val 4000"/>
            </a:avLst>
          </a:prstGeom>
          <a:solidFill>
            <a:srgbClr val="FFFFFF"/>
          </a:solidFill>
          <a:ln w="254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54896" y="2212848"/>
            <a:ext cx="2724912" cy="365760"/>
          </a:xfrm>
          <a:prstGeom prst="rect">
            <a:avLst/>
          </a:prstGeom>
          <a:noFill/>
        </p:spPr>
        <p:txBody>
          <a:bodyPr wrap="square">
            <a:spAutoFit/>
          </a:bodyPr>
          <a:lstStyle/>
          <a:p>
            <a:pPr algn="l">
              <a:spcAft>
                <a:spcPts val="200"/>
              </a:spcAft>
            </a:pPr>
            <a:r>
              <a:rPr sz="1400" b="1">
                <a:solidFill>
                  <a:srgbClr val="991B1B"/>
                </a:solidFill>
                <a:latin typeface="Calibri"/>
              </a:rPr>
              <a:t>rm_unassigned</a:t>
            </a:r>
          </a:p>
        </p:txBody>
      </p:sp>
      <p:sp>
        <p:nvSpPr>
          <p:cNvPr id="22" name="TextBox 21"/>
          <p:cNvSpPr txBox="1"/>
          <p:nvPr/>
        </p:nvSpPr>
        <p:spPr>
          <a:xfrm>
            <a:off x="9454896"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brand new, no book yet</a:t>
            </a:r>
          </a:p>
        </p:txBody>
      </p:sp>
      <p:sp>
        <p:nvSpPr>
          <p:cNvPr id="23" name="TextBox 22"/>
          <p:cNvSpPr txBox="1"/>
          <p:nvPr/>
        </p:nvSpPr>
        <p:spPr>
          <a:xfrm>
            <a:off x="9454896" y="2926080"/>
            <a:ext cx="2450592" cy="640080"/>
          </a:xfrm>
          <a:prstGeom prst="rect">
            <a:avLst/>
          </a:prstGeom>
          <a:noFill/>
        </p:spPr>
        <p:txBody>
          <a:bodyPr wrap="square">
            <a:spAutoFit/>
          </a:bodyPr>
          <a:lstStyle/>
          <a:p>
            <a:pPr algn="l">
              <a:spcAft>
                <a:spcPts val="0"/>
              </a:spcAft>
            </a:pPr>
            <a:r>
              <a:rPr sz="3200" b="1">
                <a:solidFill>
                  <a:srgbClr val="991B1B"/>
                </a:solidFill>
                <a:latin typeface="Calibri"/>
              </a:rPr>
              <a:t>0</a:t>
            </a:r>
          </a:p>
        </p:txBody>
      </p:sp>
      <p:sp>
        <p:nvSpPr>
          <p:cNvPr id="24" name="TextBox 23"/>
          <p:cNvSpPr txBox="1"/>
          <p:nvPr/>
        </p:nvSpPr>
        <p:spPr>
          <a:xfrm>
            <a:off x="9454896"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25" name="TextBox 24"/>
          <p:cNvSpPr txBox="1"/>
          <p:nvPr/>
        </p:nvSpPr>
        <p:spPr>
          <a:xfrm>
            <a:off x="548640" y="4069080"/>
            <a:ext cx="11155680" cy="1371600"/>
          </a:xfrm>
          <a:prstGeom prst="rect">
            <a:avLst/>
          </a:prstGeom>
          <a:noFill/>
        </p:spPr>
        <p:txBody>
          <a:bodyPr wrap="square">
            <a:spAutoFit/>
          </a:bodyPr>
          <a:lstStyle/>
          <a:p>
            <a:pPr algn="l">
              <a:spcAft>
                <a:spcPts val="1000"/>
              </a:spcAft>
            </a:pPr>
            <a:r>
              <a:rPr sz="1800" b="1">
                <a:solidFill>
                  <a:srgbClr val="991B1B"/>
                </a:solidFill>
                <a:latin typeface="Calibri"/>
              </a:rPr>
              <a:t>The zero is the important one. A badly built system defaults to showing everything.</a:t>
            </a:r>
          </a:p>
          <a:p>
            <a:pPr algn="l">
              <a:spcAft>
                <a:spcPts val="1000"/>
              </a:spcAft>
            </a:pPr>
            <a:r>
              <a:rPr sz="1500" b="0">
                <a:solidFill>
                  <a:srgbClr val="5B6472"/>
                </a:solidFill>
                <a:latin typeface="Calibri"/>
              </a:rPr>
              <a:t>And "sees everything" is not an exemption — the risk manager holds a portfolio containing every client and goes through exactly the same lock as everyone else.</a:t>
            </a:r>
          </a:p>
        </p:txBody>
      </p:sp>
      <p:sp>
        <p:nvSpPr>
          <p:cNvPr id="26" name="Rounded Rectangle 25"/>
          <p:cNvSpPr/>
          <p:nvPr/>
        </p:nvSpPr>
        <p:spPr>
          <a:xfrm>
            <a:off x="548640"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9</a:t>
            </a:r>
          </a:p>
        </p:txBody>
      </p:sp>
      <p:sp>
        <p:nvSpPr>
          <p:cNvPr id="28" name="TextBox 27"/>
          <p:cNvSpPr txBox="1"/>
          <p:nvPr/>
        </p:nvSpPr>
        <p:spPr>
          <a:xfrm>
            <a:off x="640080"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ways we tried to break in</a:t>
            </a:r>
          </a:p>
        </p:txBody>
      </p:sp>
      <p:sp>
        <p:nvSpPr>
          <p:cNvPr id="29" name="Rounded Rectangle 28"/>
          <p:cNvSpPr/>
          <p:nvPr/>
        </p:nvSpPr>
        <p:spPr>
          <a:xfrm>
            <a:off x="3379393"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79393"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9</a:t>
            </a:r>
          </a:p>
        </p:txBody>
      </p:sp>
      <p:sp>
        <p:nvSpPr>
          <p:cNvPr id="31" name="TextBox 30"/>
          <p:cNvSpPr txBox="1"/>
          <p:nvPr/>
        </p:nvSpPr>
        <p:spPr>
          <a:xfrm>
            <a:off x="3470833"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that failed</a:t>
            </a:r>
          </a:p>
        </p:txBody>
      </p:sp>
      <p:sp>
        <p:nvSpPr>
          <p:cNvPr id="32" name="Rounded Rectangle 31"/>
          <p:cNvSpPr/>
          <p:nvPr/>
        </p:nvSpPr>
        <p:spPr>
          <a:xfrm>
            <a:off x="6210147"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0147"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4 inserts</a:t>
            </a:r>
          </a:p>
        </p:txBody>
      </p:sp>
      <p:sp>
        <p:nvSpPr>
          <p:cNvPr id="34" name="TextBox 33"/>
          <p:cNvSpPr txBox="1"/>
          <p:nvPr/>
        </p:nvSpPr>
        <p:spPr>
          <a:xfrm>
            <a:off x="6301587"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to onboard a new person</a:t>
            </a:r>
          </a:p>
        </p:txBody>
      </p:sp>
      <p:sp>
        <p:nvSpPr>
          <p:cNvPr id="35" name="Rounded Rectangle 34"/>
          <p:cNvSpPr/>
          <p:nvPr/>
        </p:nvSpPr>
        <p:spPr>
          <a:xfrm>
            <a:off x="9040901"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40901"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0</a:t>
            </a:r>
          </a:p>
        </p:txBody>
      </p:sp>
      <p:sp>
        <p:nvSpPr>
          <p:cNvPr id="37" name="TextBox 36"/>
          <p:cNvSpPr txBox="1"/>
          <p:nvPr/>
        </p:nvSpPr>
        <p:spPr>
          <a:xfrm>
            <a:off x="9132341"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code changes to do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3</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Why it is built this way</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Six decisions, each with the options considered and what the choice cost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1</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Where should the entitlement filter sit?</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In the prompt</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Ask the AI to filter itself. Defeated by the model simply omitting it.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In the application</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A gateway rewrites every query. Real, but one unanticipated query shape defeats it — and the blast radius is every user.</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In the database</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A rule attached to the shelf itself, applied inside every single statement.</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The AI only ever writes text. The thing that limits the rows is not in that text, so no rewriting of the text can remove it. Nine bypass attempts, nine failures.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One login per person, which complicates connection pooling. The answer is a pool per role, or a trusted gateway that picks the role.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1</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same request, three places the lock could sit</a:t>
            </a:r>
          </a:p>
        </p:txBody>
      </p:sp>
      <p:pic>
        <p:nvPicPr>
          <p:cNvPr id="4" name="Picture 3" descr="05_where_the_filter_sits.png"/>
          <p:cNvPicPr>
            <a:picLocks noChangeAspect="1"/>
          </p:cNvPicPr>
          <p:nvPr/>
        </p:nvPicPr>
        <p:blipFill>
          <a:blip r:embed="rId2"/>
          <a:stretch>
            <a:fillRect/>
          </a:stretch>
        </p:blipFill>
        <p:spPr>
          <a:xfrm>
            <a:off x="548640" y="1280160"/>
            <a:ext cx="11094415" cy="501467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2</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One big table, or a proper model?</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One big table</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Flatten everything onto the payment. No joins — which is why many AI tools prefer it.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Data Vault</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Right for integrating many sources with history. There is one source and a single extract.</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Star schema with a bridge</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One table per kind of thing, joined through a record that says in what capacity.</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The ten questions have four different grains — customer, account, loan, payment. One table can only have one of them, so every other count becomes a DISTINCT the query author has to remember, and gets wrong with no error.</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Joins, and a month-end balance table that has to be rebuilt. The curated views give the AI a join-free surface anyway.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2</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same two tasks, priced against both shapes</a:t>
            </a:r>
          </a:p>
        </p:txBody>
      </p:sp>
      <p:pic>
        <p:nvPicPr>
          <p:cNvPr id="4" name="Picture 3" descr="06_model_shape.png"/>
          <p:cNvPicPr>
            <a:picLocks noChangeAspect="1"/>
          </p:cNvPicPr>
          <p:nvPr/>
        </p:nvPicPr>
        <p:blipFill>
          <a:blip r:embed="rId2"/>
          <a:stretch>
            <a:fillRect/>
          </a:stretch>
        </p:blipFill>
        <p:spPr>
          <a:xfrm>
            <a:off x="548640" y="1280160"/>
            <a:ext cx="11094415" cy="477059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3</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should happen to a broken row?</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Reject everything broken</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Clean data, but 2.5 million rows deleted for cosmetic reasons, and the answers change.</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Repair it quietly</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Looks tidy. Hides the incident, and nobody can audit what was changed.</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Grade it: red, orange, green</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Each grade has a mechanical consequence, and the reason is written down.</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A grade without a consequence is a comment. Red removes and counts; orange keeps and attaches a warning that reaches the answer; green standardises and logs.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Three code paths instead of one, and a quarantine table to keep. In exchange every exclusion is reversible, countable and attributable to a named rule.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4</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How does the AI learn what the data means?</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Describe it in the prompt</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Fast to write. Drifts silently the moment the schema changes.</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A BI tool's metrics layer</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Mature, but another product to buy, run and keep on-premises.</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A written file the build checks</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Meanings, grains and caveats in one file, verified against the live database.</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A dictionary that has drifted is worse than none, because it gives the model confident wrong information and the model cannot check it. A described column that does not exist, or a column nobody described, fails the build.</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The file has to be maintained alongside the model. The verification is what makes that safe rather than a liability.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5</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How much should we trust the AI?</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Trust it; give it the database</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It would answer by looking at the data, which tests the agent and not the data product.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Trust it; check the answer</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Too late. By then the query has already run against production.</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Treat it as an untrusted author</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No tools, no filesystem, no connection. Its SQL is parsed before anything runs.</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We are testing whether the semantic layer is good enough for a model to be right — not whether a model can go digging. And a query author you do not control should not be able to reach anything you have not deliberately published.</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A parser dependency, and legitimate queries are occasionally stricter than necessary.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6</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PostgreSQL, or something lighter?</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DuckDB, in-process</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Fastest to set up. Has no row-level security — so Task 3 becomes prose and untested SQL.</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A cloud warehouse</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Powerful. Contradicts the bank's own direction of travel, which is back on-premises.</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PostgreSQL 16</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One database. Row-level security that we can connect to and prove.</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Task 3 is about enforcement, and the only honest way to show a query cannot bypass a filter is to put the filter in the engine and prove it by logging in as a restricted user and counting rows.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No built-in lineage or scheduling, and a single node. Neither is on the critical path of this brief, and both are named in the scaling section.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SCALING HONESTLY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breaks at 100,000 times the data</a:t>
            </a:r>
          </a:p>
        </p:txBody>
      </p:sp>
      <p:sp>
        <p:nvSpPr>
          <p:cNvPr id="4" name="TextBox 3"/>
          <p:cNvSpPr txBox="1"/>
          <p:nvPr/>
        </p:nvSpPr>
        <p:spPr>
          <a:xfrm>
            <a:off x="640080" y="1371600"/>
            <a:ext cx="10972800" cy="457200"/>
          </a:xfrm>
          <a:prstGeom prst="rect">
            <a:avLst/>
          </a:prstGeom>
          <a:noFill/>
        </p:spPr>
        <p:txBody>
          <a:bodyPr wrap="square">
            <a:spAutoFit/>
          </a:bodyPr>
          <a:lstStyle/>
          <a:p>
            <a:pPr algn="l">
              <a:spcAft>
                <a:spcPts val="1200"/>
              </a:spcAft>
            </a:pPr>
            <a:r>
              <a:rPr sz="1700" b="0">
                <a:solidFill>
                  <a:srgbClr val="5B6472"/>
                </a:solidFill>
                <a:latin typeface="Calibri"/>
              </a:rPr>
              <a:t>100 billion payments. 450 million accounts. Around 10 terabytes. Four things break, in this order.</a:t>
            </a:r>
          </a:p>
        </p:txBody>
      </p:sp>
      <p:sp>
        <p:nvSpPr>
          <p:cNvPr id="5" name="Rounded Rectangle 4"/>
          <p:cNvSpPr/>
          <p:nvPr/>
        </p:nvSpPr>
        <p:spPr>
          <a:xfrm>
            <a:off x="548640" y="2011680"/>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212848"/>
            <a:ext cx="502920" cy="457200"/>
          </a:xfrm>
          <a:prstGeom prst="rect">
            <a:avLst/>
          </a:prstGeom>
          <a:noFill/>
        </p:spPr>
        <p:txBody>
          <a:bodyPr wrap="square">
            <a:spAutoFit/>
          </a:bodyPr>
          <a:lstStyle/>
          <a:p>
            <a:pPr algn="ctr">
              <a:spcAft>
                <a:spcPts val="0"/>
              </a:spcAft>
            </a:pPr>
            <a:r>
              <a:rPr sz="2000" b="1">
                <a:solidFill>
                  <a:srgbClr val="FFFFFF"/>
                </a:solidFill>
                <a:latin typeface="Calibri"/>
              </a:rPr>
              <a:t>1</a:t>
            </a:r>
          </a:p>
        </p:txBody>
      </p:sp>
      <p:sp>
        <p:nvSpPr>
          <p:cNvPr id="7" name="Rounded Rectangle 6"/>
          <p:cNvSpPr/>
          <p:nvPr/>
        </p:nvSpPr>
        <p:spPr>
          <a:xfrm>
            <a:off x="1051560" y="2011680"/>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2103120"/>
            <a:ext cx="2743200" cy="365760"/>
          </a:xfrm>
          <a:prstGeom prst="rect">
            <a:avLst/>
          </a:prstGeom>
          <a:noFill/>
        </p:spPr>
        <p:txBody>
          <a:bodyPr wrap="square">
            <a:spAutoFit/>
          </a:bodyPr>
          <a:lstStyle/>
          <a:p>
            <a:pPr algn="l">
              <a:spcAft>
                <a:spcPts val="0"/>
              </a:spcAft>
            </a:pPr>
            <a:r>
              <a:rPr sz="1500" b="1">
                <a:solidFill>
                  <a:srgbClr val="1F2A44"/>
                </a:solidFill>
                <a:latin typeface="Calibri"/>
              </a:rPr>
              <a:t>The full rebuild</a:t>
            </a:r>
          </a:p>
        </p:txBody>
      </p:sp>
      <p:sp>
        <p:nvSpPr>
          <p:cNvPr id="9" name="TextBox 8"/>
          <p:cNvSpPr txBox="1"/>
          <p:nvPr/>
        </p:nvSpPr>
        <p:spPr>
          <a:xfrm>
            <a:off x="4114800" y="2121408"/>
            <a:ext cx="7406640" cy="640080"/>
          </a:xfrm>
          <a:prstGeom prst="rect">
            <a:avLst/>
          </a:prstGeom>
          <a:noFill/>
        </p:spPr>
        <p:txBody>
          <a:bodyPr wrap="square">
            <a:spAutoFit/>
          </a:bodyPr>
          <a:lstStyle/>
          <a:p>
            <a:pPr algn="l">
              <a:spcAft>
                <a:spcPts val="0"/>
              </a:spcAft>
            </a:pPr>
            <a:r>
              <a:rPr sz="1250" b="0">
                <a:solidFill>
                  <a:srgbClr val="5B6472"/>
                </a:solidFill>
                <a:latin typeface="Calibri"/>
              </a:rPr>
              <a:t>Everything is rebuilt from scratch each run. At 10 TB that is hours of rewriting data that did not change. It becomes an incremental load, month by month.</a:t>
            </a:r>
          </a:p>
        </p:txBody>
      </p:sp>
      <p:sp>
        <p:nvSpPr>
          <p:cNvPr id="10" name="Rounded Rectangle 9"/>
          <p:cNvSpPr/>
          <p:nvPr/>
        </p:nvSpPr>
        <p:spPr>
          <a:xfrm>
            <a:off x="548640" y="2944368"/>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45536"/>
            <a:ext cx="502920" cy="457200"/>
          </a:xfrm>
          <a:prstGeom prst="rect">
            <a:avLst/>
          </a:prstGeom>
          <a:noFill/>
        </p:spPr>
        <p:txBody>
          <a:bodyPr wrap="square">
            <a:spAutoFit/>
          </a:bodyPr>
          <a:lstStyle/>
          <a:p>
            <a:pPr algn="ctr">
              <a:spcAft>
                <a:spcPts val="0"/>
              </a:spcAft>
            </a:pPr>
            <a:r>
              <a:rPr sz="2000" b="1">
                <a:solidFill>
                  <a:srgbClr val="FFFFFF"/>
                </a:solidFill>
                <a:latin typeface="Calibri"/>
              </a:rPr>
              <a:t>2</a:t>
            </a:r>
          </a:p>
        </p:txBody>
      </p:sp>
      <p:sp>
        <p:nvSpPr>
          <p:cNvPr id="12" name="Rounded Rectangle 11"/>
          <p:cNvSpPr/>
          <p:nvPr/>
        </p:nvSpPr>
        <p:spPr>
          <a:xfrm>
            <a:off x="1051560" y="2944368"/>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3035808"/>
            <a:ext cx="2743200" cy="365760"/>
          </a:xfrm>
          <a:prstGeom prst="rect">
            <a:avLst/>
          </a:prstGeom>
          <a:noFill/>
        </p:spPr>
        <p:txBody>
          <a:bodyPr wrap="square">
            <a:spAutoFit/>
          </a:bodyPr>
          <a:lstStyle/>
          <a:p>
            <a:pPr algn="l">
              <a:spcAft>
                <a:spcPts val="0"/>
              </a:spcAft>
            </a:pPr>
            <a:r>
              <a:rPr sz="1500" b="1">
                <a:solidFill>
                  <a:srgbClr val="1F2A44"/>
                </a:solidFill>
                <a:latin typeface="Calibri"/>
              </a:rPr>
              <a:t>The quality checks</a:t>
            </a:r>
          </a:p>
        </p:txBody>
      </p:sp>
      <p:sp>
        <p:nvSpPr>
          <p:cNvPr id="14" name="TextBox 13"/>
          <p:cNvSpPr txBox="1"/>
          <p:nvPr/>
        </p:nvSpPr>
        <p:spPr>
          <a:xfrm>
            <a:off x="4114800" y="3054096"/>
            <a:ext cx="7406640" cy="640080"/>
          </a:xfrm>
          <a:prstGeom prst="rect">
            <a:avLst/>
          </a:prstGeom>
          <a:noFill/>
        </p:spPr>
        <p:txBody>
          <a:bodyPr wrap="square">
            <a:spAutoFit/>
          </a:bodyPr>
          <a:lstStyle/>
          <a:p>
            <a:pPr algn="l">
              <a:spcAft>
                <a:spcPts val="0"/>
              </a:spcAft>
            </a:pPr>
            <a:r>
              <a:rPr sz="1250" b="0">
                <a:solidFill>
                  <a:srgbClr val="5B6472"/>
                </a:solidFill>
                <a:latin typeface="Calibri"/>
              </a:rPr>
              <a:t>123 rules, each reading everything. They have to check only what arrived, and the running-balance check needs to remember where it got to.</a:t>
            </a:r>
          </a:p>
        </p:txBody>
      </p:sp>
      <p:sp>
        <p:nvSpPr>
          <p:cNvPr id="15" name="Rounded Rectangle 14"/>
          <p:cNvSpPr/>
          <p:nvPr/>
        </p:nvSpPr>
        <p:spPr>
          <a:xfrm>
            <a:off x="548640" y="3877056"/>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78224"/>
            <a:ext cx="502920" cy="457200"/>
          </a:xfrm>
          <a:prstGeom prst="rect">
            <a:avLst/>
          </a:prstGeom>
          <a:noFill/>
        </p:spPr>
        <p:txBody>
          <a:bodyPr wrap="square">
            <a:spAutoFit/>
          </a:bodyPr>
          <a:lstStyle/>
          <a:p>
            <a:pPr algn="ctr">
              <a:spcAft>
                <a:spcPts val="0"/>
              </a:spcAft>
            </a:pPr>
            <a:r>
              <a:rPr sz="2000" b="1">
                <a:solidFill>
                  <a:srgbClr val="FFFFFF"/>
                </a:solidFill>
                <a:latin typeface="Calibri"/>
              </a:rPr>
              <a:t>3</a:t>
            </a:r>
          </a:p>
        </p:txBody>
      </p:sp>
      <p:sp>
        <p:nvSpPr>
          <p:cNvPr id="17" name="Rounded Rectangle 16"/>
          <p:cNvSpPr/>
          <p:nvPr/>
        </p:nvSpPr>
        <p:spPr>
          <a:xfrm>
            <a:off x="1051560" y="3877056"/>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968496"/>
            <a:ext cx="2743200" cy="365760"/>
          </a:xfrm>
          <a:prstGeom prst="rect">
            <a:avLst/>
          </a:prstGeom>
          <a:noFill/>
        </p:spPr>
        <p:txBody>
          <a:bodyPr wrap="square">
            <a:spAutoFit/>
          </a:bodyPr>
          <a:lstStyle/>
          <a:p>
            <a:pPr algn="l">
              <a:spcAft>
                <a:spcPts val="0"/>
              </a:spcAft>
            </a:pPr>
            <a:r>
              <a:rPr sz="1500" b="1">
                <a:solidFill>
                  <a:srgbClr val="1F2A44"/>
                </a:solidFill>
                <a:latin typeface="Calibri"/>
              </a:rPr>
              <a:t>The month-end balance table</a:t>
            </a:r>
          </a:p>
        </p:txBody>
      </p:sp>
      <p:sp>
        <p:nvSpPr>
          <p:cNvPr id="19" name="TextBox 18"/>
          <p:cNvSpPr txBox="1"/>
          <p:nvPr/>
        </p:nvSpPr>
        <p:spPr>
          <a:xfrm>
            <a:off x="4114800" y="3986784"/>
            <a:ext cx="7406640" cy="640080"/>
          </a:xfrm>
          <a:prstGeom prst="rect">
            <a:avLst/>
          </a:prstGeom>
          <a:noFill/>
        </p:spPr>
        <p:txBody>
          <a:bodyPr wrap="square">
            <a:spAutoFit/>
          </a:bodyPr>
          <a:lstStyle/>
          <a:p>
            <a:pPr algn="l">
              <a:spcAft>
                <a:spcPts val="0"/>
              </a:spcAft>
            </a:pPr>
            <a:r>
              <a:rPr sz="1250" b="0">
                <a:solidFill>
                  <a:srgbClr val="5B6472"/>
                </a:solidFill>
                <a:latin typeface="Calibri"/>
              </a:rPr>
              <a:t>450 million accounts times 72 months is 32 billion pre-computed rows. It becomes one new slice per month instead of a rebuild.</a:t>
            </a:r>
          </a:p>
        </p:txBody>
      </p:sp>
      <p:sp>
        <p:nvSpPr>
          <p:cNvPr id="20" name="Rounded Rectangle 19"/>
          <p:cNvSpPr/>
          <p:nvPr/>
        </p:nvSpPr>
        <p:spPr>
          <a:xfrm>
            <a:off x="548640" y="4809744"/>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010912"/>
            <a:ext cx="502920" cy="457200"/>
          </a:xfrm>
          <a:prstGeom prst="rect">
            <a:avLst/>
          </a:prstGeom>
          <a:noFill/>
        </p:spPr>
        <p:txBody>
          <a:bodyPr wrap="square">
            <a:spAutoFit/>
          </a:bodyPr>
          <a:lstStyle/>
          <a:p>
            <a:pPr algn="ctr">
              <a:spcAft>
                <a:spcPts val="0"/>
              </a:spcAft>
            </a:pPr>
            <a:r>
              <a:rPr sz="2000" b="1">
                <a:solidFill>
                  <a:srgbClr val="FFFFFF"/>
                </a:solidFill>
                <a:latin typeface="Calibri"/>
              </a:rPr>
              <a:t>4</a:t>
            </a:r>
          </a:p>
        </p:txBody>
      </p:sp>
      <p:sp>
        <p:nvSpPr>
          <p:cNvPr id="22" name="Rounded Rectangle 21"/>
          <p:cNvSpPr/>
          <p:nvPr/>
        </p:nvSpPr>
        <p:spPr>
          <a:xfrm>
            <a:off x="1051560" y="4809744"/>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0160" y="4901184"/>
            <a:ext cx="2743200" cy="365760"/>
          </a:xfrm>
          <a:prstGeom prst="rect">
            <a:avLst/>
          </a:prstGeom>
          <a:noFill/>
        </p:spPr>
        <p:txBody>
          <a:bodyPr wrap="square">
            <a:spAutoFit/>
          </a:bodyPr>
          <a:lstStyle/>
          <a:p>
            <a:pPr algn="l">
              <a:spcAft>
                <a:spcPts val="0"/>
              </a:spcAft>
            </a:pPr>
            <a:r>
              <a:rPr sz="1500" b="1">
                <a:solidFill>
                  <a:srgbClr val="1F2A44"/>
                </a:solidFill>
                <a:latin typeface="Calibri"/>
              </a:rPr>
              <a:t>The entitlement lookup</a:t>
            </a:r>
          </a:p>
        </p:txBody>
      </p:sp>
      <p:sp>
        <p:nvSpPr>
          <p:cNvPr id="24" name="TextBox 23"/>
          <p:cNvSpPr txBox="1"/>
          <p:nvPr/>
        </p:nvSpPr>
        <p:spPr>
          <a:xfrm>
            <a:off x="4114800" y="4919472"/>
            <a:ext cx="7406640" cy="640080"/>
          </a:xfrm>
          <a:prstGeom prst="rect">
            <a:avLst/>
          </a:prstGeom>
          <a:noFill/>
        </p:spPr>
        <p:txBody>
          <a:bodyPr wrap="square">
            <a:spAutoFit/>
          </a:bodyPr>
          <a:lstStyle/>
          <a:p>
            <a:pPr algn="l">
              <a:spcAft>
                <a:spcPts val="0"/>
              </a:spcAft>
            </a:pPr>
            <a:r>
              <a:rPr sz="1250" b="0">
                <a:solidFill>
                  <a:srgbClr val="5B6472"/>
                </a:solidFill>
                <a:latin typeface="Calibri"/>
              </a:rPr>
              <a:t>Cheap over 4,500 accounts, expensive when one portfolio holds millions. It becomes a stored, indexed list sitting next to the data.</a:t>
            </a:r>
          </a:p>
        </p:txBody>
      </p:sp>
      <p:sp>
        <p:nvSpPr>
          <p:cNvPr id="25" name="TextBox 24"/>
          <p:cNvSpPr txBox="1"/>
          <p:nvPr/>
        </p:nvSpPr>
        <p:spPr>
          <a:xfrm>
            <a:off x="548640" y="5943600"/>
            <a:ext cx="11155680" cy="640080"/>
          </a:xfrm>
          <a:prstGeom prst="rect">
            <a:avLst/>
          </a:prstGeom>
          <a:noFill/>
        </p:spPr>
        <p:txBody>
          <a:bodyPr wrap="square">
            <a:spAutoFit/>
          </a:bodyPr>
          <a:lstStyle/>
          <a:p>
            <a:pPr algn="l">
              <a:spcAft>
                <a:spcPts val="0"/>
              </a:spcAft>
            </a:pPr>
            <a:r>
              <a:rPr sz="1500" b="1">
                <a:solidFill>
                  <a:srgbClr val="15803D"/>
                </a:solidFill>
                <a:latin typeface="Calibri"/>
              </a:rPr>
              <a:t>Two things do not break, and they are the parts worth keeping: the dictionary (a few thousand words, whatever the volume) and where the lock sits.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4</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Is it ready?</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What was built, what it is worth, and what is still thin - said out loud rather than left for a reviewer to find.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WHOLE BUILD, IN ONE PICTURE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exists</a:t>
            </a:r>
          </a:p>
        </p:txBody>
      </p:sp>
      <p:sp>
        <p:nvSpPr>
          <p:cNvPr id="4" name="TextBox 3"/>
          <p:cNvSpPr txBox="1"/>
          <p:nvPr/>
        </p:nvSpPr>
        <p:spPr>
          <a:xfrm>
            <a:off x="640080" y="1280160"/>
            <a:ext cx="10972800" cy="457200"/>
          </a:xfrm>
          <a:prstGeom prst="rect">
            <a:avLst/>
          </a:prstGeom>
          <a:noFill/>
        </p:spPr>
        <p:txBody>
          <a:bodyPr wrap="square">
            <a:spAutoFit/>
          </a:bodyPr>
          <a:lstStyle/>
          <a:p>
            <a:pPr algn="l">
              <a:spcAft>
                <a:spcPts val="1000"/>
              </a:spcAft>
            </a:pPr>
            <a:r>
              <a:rPr sz="1600" b="0">
                <a:solidFill>
                  <a:srgbClr val="5B6472"/>
                </a:solidFill>
                <a:latin typeface="Calibri"/>
              </a:rPr>
              <a:t>One command - make clean all - builds every number in every deliverable from the four source files. It takes four and a half minutes.</a:t>
            </a:r>
          </a:p>
        </p:txBody>
      </p:sp>
      <p:sp>
        <p:nvSpPr>
          <p:cNvPr id="5" name="Rounded Rectangle 4"/>
          <p:cNvSpPr/>
          <p:nvPr/>
        </p:nvSpPr>
        <p:spPr>
          <a:xfrm>
            <a:off x="548640"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12 of 12</a:t>
            </a:r>
          </a:p>
        </p:txBody>
      </p:sp>
      <p:sp>
        <p:nvSpPr>
          <p:cNvPr id="7" name="TextBox 6"/>
          <p:cNvSpPr txBox="1"/>
          <p:nvPr/>
        </p:nvSpPr>
        <p:spPr>
          <a:xfrm>
            <a:off x="640080"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pipeline steps green</a:t>
            </a:r>
          </a:p>
        </p:txBody>
      </p:sp>
      <p:sp>
        <p:nvSpPr>
          <p:cNvPr id="8" name="Rounded Rectangle 7"/>
          <p:cNvSpPr/>
          <p:nvPr/>
        </p:nvSpPr>
        <p:spPr>
          <a:xfrm>
            <a:off x="2813243"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13243"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4m 28s</a:t>
            </a:r>
          </a:p>
        </p:txBody>
      </p:sp>
      <p:sp>
        <p:nvSpPr>
          <p:cNvPr id="10" name="TextBox 9"/>
          <p:cNvSpPr txBox="1"/>
          <p:nvPr/>
        </p:nvSpPr>
        <p:spPr>
          <a:xfrm>
            <a:off x="2904683"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empty database to deliverables</a:t>
            </a:r>
          </a:p>
        </p:txBody>
      </p:sp>
      <p:sp>
        <p:nvSpPr>
          <p:cNvPr id="11" name="Rounded Rectangle 10"/>
          <p:cNvSpPr/>
          <p:nvPr/>
        </p:nvSpPr>
        <p:spPr>
          <a:xfrm>
            <a:off x="5077846"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77846"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137</a:t>
            </a:r>
          </a:p>
        </p:txBody>
      </p:sp>
      <p:sp>
        <p:nvSpPr>
          <p:cNvPr id="13" name="TextBox 12"/>
          <p:cNvSpPr txBox="1"/>
          <p:nvPr/>
        </p:nvSpPr>
        <p:spPr>
          <a:xfrm>
            <a:off x="5169286"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tests passing</a:t>
            </a:r>
          </a:p>
        </p:txBody>
      </p:sp>
      <p:sp>
        <p:nvSpPr>
          <p:cNvPr id="14" name="Rounded Rectangle 13"/>
          <p:cNvSpPr/>
          <p:nvPr/>
        </p:nvSpPr>
        <p:spPr>
          <a:xfrm>
            <a:off x="7342449"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2449"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123</a:t>
            </a:r>
          </a:p>
        </p:txBody>
      </p:sp>
      <p:sp>
        <p:nvSpPr>
          <p:cNvPr id="16" name="TextBox 15"/>
          <p:cNvSpPr txBox="1"/>
          <p:nvPr/>
        </p:nvSpPr>
        <p:spPr>
          <a:xfrm>
            <a:off x="7433889"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quality rules executed</a:t>
            </a:r>
          </a:p>
        </p:txBody>
      </p:sp>
      <p:sp>
        <p:nvSpPr>
          <p:cNvPr id="17" name="Rounded Rectangle 16"/>
          <p:cNvSpPr/>
          <p:nvPr/>
        </p:nvSpPr>
        <p:spPr>
          <a:xfrm>
            <a:off x="9607052"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7052"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1.06 m</a:t>
            </a:r>
          </a:p>
        </p:txBody>
      </p:sp>
      <p:sp>
        <p:nvSpPr>
          <p:cNvPr id="19" name="TextBox 18"/>
          <p:cNvSpPr txBox="1"/>
          <p:nvPr/>
        </p:nvSpPr>
        <p:spPr>
          <a:xfrm>
            <a:off x="9698492"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rows checked</a:t>
            </a:r>
          </a:p>
        </p:txBody>
      </p:sp>
      <p:sp>
        <p:nvSpPr>
          <p:cNvPr id="20" name="Rounded Rectangle 19"/>
          <p:cNvSpPr/>
          <p:nvPr/>
        </p:nvSpPr>
        <p:spPr>
          <a:xfrm>
            <a:off x="548640"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10 of 10</a:t>
            </a:r>
          </a:p>
        </p:txBody>
      </p:sp>
      <p:sp>
        <p:nvSpPr>
          <p:cNvPr id="22" name="TextBox 21"/>
          <p:cNvSpPr txBox="1"/>
          <p:nvPr/>
        </p:nvSpPr>
        <p:spPr>
          <a:xfrm>
            <a:off x="640080"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LLM answers correct</a:t>
            </a:r>
          </a:p>
        </p:txBody>
      </p:sp>
      <p:sp>
        <p:nvSpPr>
          <p:cNvPr id="23" name="Rounded Rectangle 22"/>
          <p:cNvSpPr/>
          <p:nvPr/>
        </p:nvSpPr>
        <p:spPr>
          <a:xfrm>
            <a:off x="2813243"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13243"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9 of 9</a:t>
            </a:r>
          </a:p>
        </p:txBody>
      </p:sp>
      <p:sp>
        <p:nvSpPr>
          <p:cNvPr id="25" name="TextBox 24"/>
          <p:cNvSpPr txBox="1"/>
          <p:nvPr/>
        </p:nvSpPr>
        <p:spPr>
          <a:xfrm>
            <a:off x="2904683"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bypass attempts refused</a:t>
            </a:r>
          </a:p>
        </p:txBody>
      </p:sp>
      <p:sp>
        <p:nvSpPr>
          <p:cNvPr id="26" name="Rounded Rectangle 25"/>
          <p:cNvSpPr/>
          <p:nvPr/>
        </p:nvSpPr>
        <p:spPr>
          <a:xfrm>
            <a:off x="5077846"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7846"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20 of 20</a:t>
            </a:r>
          </a:p>
        </p:txBody>
      </p:sp>
      <p:sp>
        <p:nvSpPr>
          <p:cNvPr id="28" name="TextBox 27"/>
          <p:cNvSpPr txBox="1"/>
          <p:nvPr/>
        </p:nvSpPr>
        <p:spPr>
          <a:xfrm>
            <a:off x="5169286"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seeded defects caught</a:t>
            </a:r>
          </a:p>
        </p:txBody>
      </p:sp>
      <p:sp>
        <p:nvSpPr>
          <p:cNvPr id="29" name="Rounded Rectangle 28"/>
          <p:cNvSpPr/>
          <p:nvPr/>
        </p:nvSpPr>
        <p:spPr>
          <a:xfrm>
            <a:off x="7342449"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449"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135</a:t>
            </a:r>
          </a:p>
        </p:txBody>
      </p:sp>
      <p:sp>
        <p:nvSpPr>
          <p:cNvPr id="31" name="TextBox 30"/>
          <p:cNvSpPr txBox="1"/>
          <p:nvPr/>
        </p:nvSpPr>
        <p:spPr>
          <a:xfrm>
            <a:off x="7433889"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files in the submitted ZIP</a:t>
            </a:r>
          </a:p>
        </p:txBody>
      </p:sp>
      <p:sp>
        <p:nvSpPr>
          <p:cNvPr id="32" name="Rounded Rectangle 31"/>
          <p:cNvSpPr/>
          <p:nvPr/>
        </p:nvSpPr>
        <p:spPr>
          <a:xfrm>
            <a:off x="9607052"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7052"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0</a:t>
            </a:r>
          </a:p>
        </p:txBody>
      </p:sp>
      <p:sp>
        <p:nvSpPr>
          <p:cNvPr id="34" name="TextBox 33"/>
          <p:cNvSpPr txBox="1"/>
          <p:nvPr/>
        </p:nvSpPr>
        <p:spPr>
          <a:xfrm>
            <a:off x="9698492"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numbers typed by hand</a:t>
            </a:r>
          </a:p>
        </p:txBody>
      </p:sp>
      <p:sp>
        <p:nvSpPr>
          <p:cNvPr id="35" name="TextBox 34"/>
          <p:cNvSpPr txBox="1"/>
          <p:nvPr/>
        </p:nvSpPr>
        <p:spPr>
          <a:xfrm>
            <a:off x="548640" y="5029200"/>
            <a:ext cx="11155680" cy="1188720"/>
          </a:xfrm>
          <a:prstGeom prst="rect">
            <a:avLst/>
          </a:prstGeom>
          <a:noFill/>
        </p:spPr>
        <p:txBody>
          <a:bodyPr wrap="square">
            <a:spAutoFit/>
          </a:bodyPr>
          <a:lstStyle/>
          <a:p>
            <a:pPr algn="l">
              <a:spcAft>
                <a:spcPts val="0"/>
              </a:spcAft>
            </a:pPr>
            <a:r>
              <a:rPr sz="1500" b="0">
                <a:solidFill>
                  <a:srgbClr val="1F2A44"/>
                </a:solidFill>
                <a:latin typeface="Calibri"/>
              </a:rPr>
              <a:t>Why the last one matters most: a deck or a spreadsheet goes stale the moment a number changes. Every figure on these slides is read out of the database or the run log by a script. If the pipeline changes, the deck is wrong until it is re-run - and re-running it is one command.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ONE MAP OF THE WHOLE THING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Everything that was set up</a:t>
            </a:r>
          </a:p>
        </p:txBody>
      </p:sp>
      <p:pic>
        <p:nvPicPr>
          <p:cNvPr id="4" name="Picture 3" descr="09_system_map.png"/>
          <p:cNvPicPr>
            <a:picLocks noChangeAspect="1"/>
          </p:cNvPicPr>
          <p:nvPr/>
        </p:nvPicPr>
        <p:blipFill>
          <a:blip r:embed="rId2"/>
          <a:stretch>
            <a:fillRect/>
          </a:stretch>
        </p:blipFill>
        <p:spPr>
          <a:xfrm>
            <a:off x="2252717" y="1143000"/>
            <a:ext cx="7686260" cy="530352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AND WHY THE ORDER IS A CONTROL, NOT A HABIT</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order it runs in</a:t>
            </a:r>
          </a:p>
        </p:txBody>
      </p:sp>
      <p:pic>
        <p:nvPicPr>
          <p:cNvPr id="4" name="Picture 3" descr="10_build_sequence.png"/>
          <p:cNvPicPr>
            <a:picLocks noChangeAspect="1"/>
          </p:cNvPicPr>
          <p:nvPr/>
        </p:nvPicPr>
        <p:blipFill>
          <a:blip r:embed="rId2"/>
          <a:stretch>
            <a:fillRect/>
          </a:stretch>
        </p:blipFill>
        <p:spPr>
          <a:xfrm>
            <a:off x="1891011" y="1143000"/>
            <a:ext cx="8409673" cy="530352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PART WORTH TRUSTING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Two bugs this build found in itself</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Both would have been invisible to a reviewer. Both were caught by a check that runs every time, not by someone reading the code.</a:t>
            </a:r>
          </a:p>
        </p:txBody>
      </p:sp>
      <p:sp>
        <p:nvSpPr>
          <p:cNvPr id="5" name="Rounded Rectangle 4"/>
          <p:cNvSpPr/>
          <p:nvPr/>
        </p:nvSpPr>
        <p:spPr>
          <a:xfrm>
            <a:off x="548640" y="1874519"/>
            <a:ext cx="548640" cy="196596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560319"/>
            <a:ext cx="548640" cy="457200"/>
          </a:xfrm>
          <a:prstGeom prst="rect">
            <a:avLst/>
          </a:prstGeom>
          <a:noFill/>
        </p:spPr>
        <p:txBody>
          <a:bodyPr wrap="square">
            <a:spAutoFit/>
          </a:bodyPr>
          <a:lstStyle/>
          <a:p>
            <a:pPr algn="ctr">
              <a:spcAft>
                <a:spcPts val="0"/>
              </a:spcAft>
            </a:pPr>
            <a:r>
              <a:rPr sz="2400" b="1">
                <a:solidFill>
                  <a:srgbClr val="FFFFFF"/>
                </a:solidFill>
                <a:latin typeface="Calibri"/>
              </a:rPr>
              <a:t>1</a:t>
            </a:r>
          </a:p>
        </p:txBody>
      </p:sp>
      <p:sp>
        <p:nvSpPr>
          <p:cNvPr id="7" name="Rounded Rectangle 6"/>
          <p:cNvSpPr/>
          <p:nvPr/>
        </p:nvSpPr>
        <p:spPr>
          <a:xfrm>
            <a:off x="1097280" y="1874519"/>
            <a:ext cx="10561320" cy="1965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84247"/>
            <a:ext cx="10149840" cy="320040"/>
          </a:xfrm>
          <a:prstGeom prst="rect">
            <a:avLst/>
          </a:prstGeom>
          <a:noFill/>
        </p:spPr>
        <p:txBody>
          <a:bodyPr wrap="square">
            <a:spAutoFit/>
          </a:bodyPr>
          <a:lstStyle/>
          <a:p>
            <a:pPr algn="l">
              <a:spcAft>
                <a:spcPts val="0"/>
              </a:spcAft>
            </a:pPr>
            <a:r>
              <a:rPr sz="1600" b="1">
                <a:solidFill>
                  <a:srgbClr val="1F2A44"/>
                </a:solidFill>
                <a:latin typeface="Calibri"/>
              </a:rPr>
              <a:t>The quarantine list was not told which room to look in</a:t>
            </a:r>
          </a:p>
        </p:txBody>
      </p:sp>
      <p:sp>
        <p:nvSpPr>
          <p:cNvPr id="9" name="TextBox 8"/>
          <p:cNvSpPr txBox="1"/>
          <p:nvPr/>
        </p:nvSpPr>
        <p:spPr>
          <a:xfrm>
            <a:off x="1325880" y="2350007"/>
            <a:ext cx="10149840" cy="685800"/>
          </a:xfrm>
          <a:prstGeom prst="rect">
            <a:avLst/>
          </a:prstGeom>
          <a:noFill/>
        </p:spPr>
        <p:txBody>
          <a:bodyPr wrap="square">
            <a:spAutoFit/>
          </a:bodyPr>
          <a:lstStyle/>
          <a:p>
            <a:pPr algn="l">
              <a:spcAft>
                <a:spcPts val="0"/>
              </a:spcAft>
            </a:pPr>
            <a:r>
              <a:rPr sz="1250" b="0">
                <a:solidFill>
                  <a:srgbClr val="5B6472"/>
                </a:solidFill>
                <a:latin typeface="Calibri"/>
              </a:rPr>
              <a:t>Testing the rules means planting known defects in a copy of the data. But the list of rows to throw away did not say which copy, so a planted defect deleted a REAL row: 76 districts instead of 77, and 11,024 payments left pointing at nothing.</a:t>
            </a:r>
          </a:p>
        </p:txBody>
      </p:sp>
      <p:sp>
        <p:nvSpPr>
          <p:cNvPr id="10" name="TextBox 9"/>
          <p:cNvSpPr txBox="1"/>
          <p:nvPr/>
        </p:nvSpPr>
        <p:spPr>
          <a:xfrm>
            <a:off x="1325880" y="3172967"/>
            <a:ext cx="10149840" cy="594360"/>
          </a:xfrm>
          <a:prstGeom prst="rect">
            <a:avLst/>
          </a:prstGeom>
          <a:noFill/>
        </p:spPr>
        <p:txBody>
          <a:bodyPr wrap="square">
            <a:spAutoFit/>
          </a:bodyPr>
          <a:lstStyle/>
          <a:p>
            <a:pPr algn="l">
              <a:spcAft>
                <a:spcPts val="0"/>
              </a:spcAft>
            </a:pPr>
            <a:r>
              <a:rPr sz="1250" b="0">
                <a:solidFill>
                  <a:srgbClr val="15803D"/>
                </a:solidFill>
                <a:latin typeface="Calibri"/>
              </a:rPr>
              <a:t>Caught by the model build, which counts every parent before it accepts a child. Fixed by scoping the list to one schema. Written up as D008.</a:t>
            </a:r>
          </a:p>
        </p:txBody>
      </p:sp>
      <p:sp>
        <p:nvSpPr>
          <p:cNvPr id="11" name="Rounded Rectangle 10"/>
          <p:cNvSpPr/>
          <p:nvPr/>
        </p:nvSpPr>
        <p:spPr>
          <a:xfrm>
            <a:off x="548640" y="4023359"/>
            <a:ext cx="548640" cy="196596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709159"/>
            <a:ext cx="548640" cy="457200"/>
          </a:xfrm>
          <a:prstGeom prst="rect">
            <a:avLst/>
          </a:prstGeom>
          <a:noFill/>
        </p:spPr>
        <p:txBody>
          <a:bodyPr wrap="square">
            <a:spAutoFit/>
          </a:bodyPr>
          <a:lstStyle/>
          <a:p>
            <a:pPr algn="ctr">
              <a:spcAft>
                <a:spcPts val="0"/>
              </a:spcAft>
            </a:pPr>
            <a:r>
              <a:rPr sz="2400" b="1">
                <a:solidFill>
                  <a:srgbClr val="FFFFFF"/>
                </a:solidFill>
                <a:latin typeface="Calibri"/>
              </a:rPr>
              <a:t>2</a:t>
            </a:r>
          </a:p>
        </p:txBody>
      </p:sp>
      <p:sp>
        <p:nvSpPr>
          <p:cNvPr id="13" name="Rounded Rectangle 12"/>
          <p:cNvSpPr/>
          <p:nvPr/>
        </p:nvSpPr>
        <p:spPr>
          <a:xfrm>
            <a:off x="1097280" y="4023359"/>
            <a:ext cx="10561320" cy="1965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4133087"/>
            <a:ext cx="10149840" cy="320040"/>
          </a:xfrm>
          <a:prstGeom prst="rect">
            <a:avLst/>
          </a:prstGeom>
          <a:noFill/>
        </p:spPr>
        <p:txBody>
          <a:bodyPr wrap="square">
            <a:spAutoFit/>
          </a:bodyPr>
          <a:lstStyle/>
          <a:p>
            <a:pPr algn="l">
              <a:spcAft>
                <a:spcPts val="0"/>
              </a:spcAft>
            </a:pPr>
            <a:r>
              <a:rPr sz="1600" b="1">
                <a:solidFill>
                  <a:srgbClr val="1F2A44"/>
                </a:solidFill>
                <a:latin typeface="Calibri"/>
              </a:rPr>
              <a:t>A view politely dropped the lock</a:t>
            </a:r>
          </a:p>
        </p:txBody>
      </p:sp>
      <p:sp>
        <p:nvSpPr>
          <p:cNvPr id="15" name="TextBox 14"/>
          <p:cNvSpPr txBox="1"/>
          <p:nvPr/>
        </p:nvSpPr>
        <p:spPr>
          <a:xfrm>
            <a:off x="1325880" y="4498847"/>
            <a:ext cx="10149840" cy="685800"/>
          </a:xfrm>
          <a:prstGeom prst="rect">
            <a:avLst/>
          </a:prstGeom>
          <a:noFill/>
        </p:spPr>
        <p:txBody>
          <a:bodyPr wrap="square">
            <a:spAutoFit/>
          </a:bodyPr>
          <a:lstStyle/>
          <a:p>
            <a:pPr algn="l">
              <a:spcAft>
                <a:spcPts val="0"/>
              </a:spcAft>
            </a:pPr>
            <a:r>
              <a:rPr sz="1250" b="0">
                <a:solidFill>
                  <a:srgbClr val="5B6472"/>
                </a:solidFill>
                <a:latin typeface="Calibri"/>
              </a:rPr>
              <a:t>The rule that hides other people's clients sits on the table. A view on top of that table normally runs as its owner - so it read the table as the owner and handed back all 682 loans to a user entitled to none.</a:t>
            </a:r>
          </a:p>
        </p:txBody>
      </p:sp>
      <p:sp>
        <p:nvSpPr>
          <p:cNvPr id="16" name="TextBox 15"/>
          <p:cNvSpPr txBox="1"/>
          <p:nvPr/>
        </p:nvSpPr>
        <p:spPr>
          <a:xfrm>
            <a:off x="1325880" y="5321807"/>
            <a:ext cx="10149840" cy="594360"/>
          </a:xfrm>
          <a:prstGeom prst="rect">
            <a:avLst/>
          </a:prstGeom>
          <a:noFill/>
        </p:spPr>
        <p:txBody>
          <a:bodyPr wrap="square">
            <a:spAutoFit/>
          </a:bodyPr>
          <a:lstStyle/>
          <a:p>
            <a:pPr algn="l">
              <a:spcAft>
                <a:spcPts val="0"/>
              </a:spcAft>
            </a:pPr>
            <a:r>
              <a:rPr sz="1250" b="0">
                <a:solidFill>
                  <a:srgbClr val="15803D"/>
                </a:solidFill>
                <a:latin typeface="Calibri"/>
              </a:rPr>
              <a:t>Caught by logging in as that restricted user and counting, which is the only test that would have found it. Fixed with one setting per view, plus a test that reads the setting back. Written up as D010.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SAID BEFORE ANYONE HAS TO ASK</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Strong here, thin there</a:t>
            </a:r>
          </a:p>
        </p:txBody>
      </p:sp>
      <p:sp>
        <p:nvSpPr>
          <p:cNvPr id="4" name="Rounded Rectangle 3"/>
          <p:cNvSpPr/>
          <p:nvPr/>
        </p:nvSpPr>
        <p:spPr>
          <a:xfrm>
            <a:off x="548640" y="1325880"/>
            <a:ext cx="5285232" cy="4572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89888"/>
            <a:ext cx="4937760" cy="365760"/>
          </a:xfrm>
          <a:prstGeom prst="rect">
            <a:avLst/>
          </a:prstGeom>
          <a:noFill/>
        </p:spPr>
        <p:txBody>
          <a:bodyPr wrap="square">
            <a:spAutoFit/>
          </a:bodyPr>
          <a:lstStyle/>
          <a:p>
            <a:pPr algn="l">
              <a:spcAft>
                <a:spcPts val="0"/>
              </a:spcAft>
            </a:pPr>
            <a:r>
              <a:rPr sz="1300" b="1">
                <a:solidFill>
                  <a:srgbClr val="FFFFFF"/>
                </a:solidFill>
                <a:latin typeface="Calibri"/>
              </a:rPr>
              <a:t>STRONG</a:t>
            </a:r>
          </a:p>
        </p:txBody>
      </p:sp>
      <p:sp>
        <p:nvSpPr>
          <p:cNvPr id="6" name="Rounded Rectangle 5"/>
          <p:cNvSpPr/>
          <p:nvPr/>
        </p:nvSpPr>
        <p:spPr>
          <a:xfrm>
            <a:off x="548640" y="1920240"/>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93392"/>
            <a:ext cx="4937760" cy="274320"/>
          </a:xfrm>
          <a:prstGeom prst="rect">
            <a:avLst/>
          </a:prstGeom>
          <a:noFill/>
        </p:spPr>
        <p:txBody>
          <a:bodyPr wrap="square">
            <a:spAutoFit/>
          </a:bodyPr>
          <a:lstStyle/>
          <a:p>
            <a:pPr algn="l">
              <a:spcAft>
                <a:spcPts val="0"/>
              </a:spcAft>
            </a:pPr>
            <a:r>
              <a:rPr sz="1350" b="1">
                <a:solidFill>
                  <a:srgbClr val="1F2A44"/>
                </a:solidFill>
                <a:latin typeface="Calibri"/>
              </a:rPr>
              <a:t>Severities have consequences, not labels</a:t>
            </a:r>
          </a:p>
        </p:txBody>
      </p:sp>
      <p:sp>
        <p:nvSpPr>
          <p:cNvPr id="8" name="TextBox 7"/>
          <p:cNvSpPr txBox="1"/>
          <p:nvPr/>
        </p:nvSpPr>
        <p:spPr>
          <a:xfrm>
            <a:off x="731520" y="2267712"/>
            <a:ext cx="4937760" cy="548640"/>
          </a:xfrm>
          <a:prstGeom prst="rect">
            <a:avLst/>
          </a:prstGeom>
          <a:noFill/>
        </p:spPr>
        <p:txBody>
          <a:bodyPr wrap="square">
            <a:spAutoFit/>
          </a:bodyPr>
          <a:lstStyle/>
          <a:p>
            <a:pPr algn="l">
              <a:spcAft>
                <a:spcPts val="0"/>
              </a:spcAft>
            </a:pPr>
            <a:r>
              <a:rPr sz="1150" b="0">
                <a:solidFill>
                  <a:srgbClr val="5B6472"/>
                </a:solidFill>
                <a:latin typeface="Calibri"/>
              </a:rPr>
              <a:t>block quarantines and the exclusion is counted and reversible; warn flags the row and the flag travels into the answer; info changes no number.</a:t>
            </a:r>
          </a:p>
        </p:txBody>
      </p:sp>
      <p:sp>
        <p:nvSpPr>
          <p:cNvPr id="9" name="Rounded Rectangle 8"/>
          <p:cNvSpPr/>
          <p:nvPr/>
        </p:nvSpPr>
        <p:spPr>
          <a:xfrm>
            <a:off x="548640" y="2944368"/>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17520"/>
            <a:ext cx="4937760" cy="274320"/>
          </a:xfrm>
          <a:prstGeom prst="rect">
            <a:avLst/>
          </a:prstGeom>
          <a:noFill/>
        </p:spPr>
        <p:txBody>
          <a:bodyPr wrap="square">
            <a:spAutoFit/>
          </a:bodyPr>
          <a:lstStyle/>
          <a:p>
            <a:pPr algn="l">
              <a:spcAft>
                <a:spcPts val="0"/>
              </a:spcAft>
            </a:pPr>
            <a:r>
              <a:rPr sz="1350" b="1">
                <a:solidFill>
                  <a:srgbClr val="1F2A44"/>
                </a:solidFill>
                <a:latin typeface="Calibri"/>
              </a:rPr>
              <a:t>Three findings not in the dataset's own documentation</a:t>
            </a:r>
          </a:p>
        </p:txBody>
      </p:sp>
      <p:sp>
        <p:nvSpPr>
          <p:cNvPr id="11" name="TextBox 10"/>
          <p:cNvSpPr txBox="1"/>
          <p:nvPr/>
        </p:nvSpPr>
        <p:spPr>
          <a:xfrm>
            <a:off x="731520" y="3291840"/>
            <a:ext cx="4937760" cy="548640"/>
          </a:xfrm>
          <a:prstGeom prst="rect">
            <a:avLst/>
          </a:prstGeom>
          <a:noFill/>
        </p:spPr>
        <p:txBody>
          <a:bodyPr wrap="square">
            <a:spAutoFit/>
          </a:bodyPr>
          <a:lstStyle/>
          <a:p>
            <a:pPr algn="l">
              <a:spcAft>
                <a:spcPts val="0"/>
              </a:spcAft>
            </a:pPr>
            <a:r>
              <a:rPr sz="1150" b="0">
                <a:solidFill>
                  <a:srgbClr val="5B6472"/>
                </a:solidFill>
                <a:latin typeface="Calibri"/>
              </a:rPr>
              <a:t>55 accounts whose balance chain does not reconcile; intra-day order undefined for 183 accounts; one duplicate payment no primary key can catch.</a:t>
            </a:r>
          </a:p>
        </p:txBody>
      </p:sp>
      <p:sp>
        <p:nvSpPr>
          <p:cNvPr id="12" name="Rounded Rectangle 11"/>
          <p:cNvSpPr/>
          <p:nvPr/>
        </p:nvSpPr>
        <p:spPr>
          <a:xfrm>
            <a:off x="548640" y="3968496"/>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41648"/>
            <a:ext cx="4937760" cy="274320"/>
          </a:xfrm>
          <a:prstGeom prst="rect">
            <a:avLst/>
          </a:prstGeom>
          <a:noFill/>
        </p:spPr>
        <p:txBody>
          <a:bodyPr wrap="square">
            <a:spAutoFit/>
          </a:bodyPr>
          <a:lstStyle/>
          <a:p>
            <a:pPr algn="l">
              <a:spcAft>
                <a:spcPts val="0"/>
              </a:spcAft>
            </a:pPr>
            <a:r>
              <a:rPr sz="1350" b="1">
                <a:solidFill>
                  <a:srgbClr val="1F2A44"/>
                </a:solidFill>
                <a:latin typeface="Calibri"/>
              </a:rPr>
              <a:t>The entitlement claim is tested by logging in</a:t>
            </a:r>
          </a:p>
        </p:txBody>
      </p:sp>
      <p:sp>
        <p:nvSpPr>
          <p:cNvPr id="14" name="TextBox 13"/>
          <p:cNvSpPr txBox="1"/>
          <p:nvPr/>
        </p:nvSpPr>
        <p:spPr>
          <a:xfrm>
            <a:off x="731520" y="4315968"/>
            <a:ext cx="4937760" cy="548640"/>
          </a:xfrm>
          <a:prstGeom prst="rect">
            <a:avLst/>
          </a:prstGeom>
          <a:noFill/>
        </p:spPr>
        <p:txBody>
          <a:bodyPr wrap="square">
            <a:spAutoFit/>
          </a:bodyPr>
          <a:lstStyle/>
          <a:p>
            <a:pPr algn="l">
              <a:spcAft>
                <a:spcPts val="0"/>
              </a:spcAft>
            </a:pPr>
            <a:r>
              <a:rPr sz="1150" b="0">
                <a:solidFill>
                  <a:srgbClr val="5B6472"/>
                </a:solidFill>
                <a:latin typeface="Calibri"/>
              </a:rPr>
              <a:t>Four roles, 5,369 / 1,481 / 1,386 / 0 clients. That is what caught bug 2.</a:t>
            </a:r>
          </a:p>
        </p:txBody>
      </p:sp>
      <p:sp>
        <p:nvSpPr>
          <p:cNvPr id="15" name="Rounded Rectangle 14"/>
          <p:cNvSpPr/>
          <p:nvPr/>
        </p:nvSpPr>
        <p:spPr>
          <a:xfrm>
            <a:off x="548640" y="4992624"/>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065776"/>
            <a:ext cx="4937760" cy="274320"/>
          </a:xfrm>
          <a:prstGeom prst="rect">
            <a:avLst/>
          </a:prstGeom>
          <a:noFill/>
        </p:spPr>
        <p:txBody>
          <a:bodyPr wrap="square">
            <a:spAutoFit/>
          </a:bodyPr>
          <a:lstStyle/>
          <a:p>
            <a:pPr algn="l">
              <a:spcAft>
                <a:spcPts val="0"/>
              </a:spcAft>
            </a:pPr>
            <a:r>
              <a:rPr sz="1350" b="1">
                <a:solidFill>
                  <a:srgbClr val="1F2A44"/>
                </a:solidFill>
                <a:latin typeface="Calibri"/>
              </a:rPr>
              <a:t>Rules proven on clean data</a:t>
            </a:r>
          </a:p>
        </p:txBody>
      </p:sp>
      <p:sp>
        <p:nvSpPr>
          <p:cNvPr id="17" name="TextBox 16"/>
          <p:cNvSpPr txBox="1"/>
          <p:nvPr/>
        </p:nvSpPr>
        <p:spPr>
          <a:xfrm>
            <a:off x="731520" y="5340096"/>
            <a:ext cx="4937760" cy="548640"/>
          </a:xfrm>
          <a:prstGeom prst="rect">
            <a:avLst/>
          </a:prstGeom>
          <a:noFill/>
        </p:spPr>
        <p:txBody>
          <a:bodyPr wrap="square">
            <a:spAutoFit/>
          </a:bodyPr>
          <a:lstStyle/>
          <a:p>
            <a:pPr algn="l">
              <a:spcAft>
                <a:spcPts val="0"/>
              </a:spcAft>
            </a:pPr>
            <a:r>
              <a:rPr sz="1150" b="0">
                <a:solidFill>
                  <a:srgbClr val="5B6472"/>
                </a:solidFill>
                <a:latin typeface="Calibri"/>
              </a:rPr>
              <a:t>20 seeded defects in a separate schema, one per rule family, each caught by the rule meant to catch it.</a:t>
            </a:r>
          </a:p>
        </p:txBody>
      </p:sp>
      <p:sp>
        <p:nvSpPr>
          <p:cNvPr id="18" name="Rounded Rectangle 17"/>
          <p:cNvSpPr/>
          <p:nvPr/>
        </p:nvSpPr>
        <p:spPr>
          <a:xfrm>
            <a:off x="6355080" y="1325880"/>
            <a:ext cx="5285232" cy="45720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389888"/>
            <a:ext cx="4937760" cy="365760"/>
          </a:xfrm>
          <a:prstGeom prst="rect">
            <a:avLst/>
          </a:prstGeom>
          <a:noFill/>
        </p:spPr>
        <p:txBody>
          <a:bodyPr wrap="square">
            <a:spAutoFit/>
          </a:bodyPr>
          <a:lstStyle/>
          <a:p>
            <a:pPr algn="l">
              <a:spcAft>
                <a:spcPts val="0"/>
              </a:spcAft>
            </a:pPr>
            <a:r>
              <a:rPr sz="1300" b="1">
                <a:solidFill>
                  <a:srgbClr val="FFFFFF"/>
                </a:solidFill>
                <a:latin typeface="Calibri"/>
              </a:rPr>
              <a:t>THIN</a:t>
            </a:r>
          </a:p>
        </p:txBody>
      </p:sp>
      <p:sp>
        <p:nvSpPr>
          <p:cNvPr id="20" name="Rounded Rectangle 19"/>
          <p:cNvSpPr/>
          <p:nvPr/>
        </p:nvSpPr>
        <p:spPr>
          <a:xfrm>
            <a:off x="6355080" y="1920240"/>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1993392"/>
            <a:ext cx="4937760" cy="274320"/>
          </a:xfrm>
          <a:prstGeom prst="rect">
            <a:avLst/>
          </a:prstGeom>
          <a:noFill/>
        </p:spPr>
        <p:txBody>
          <a:bodyPr wrap="square">
            <a:spAutoFit/>
          </a:bodyPr>
          <a:lstStyle/>
          <a:p>
            <a:pPr algn="l">
              <a:spcAft>
                <a:spcPts val="0"/>
              </a:spcAft>
            </a:pPr>
            <a:r>
              <a:rPr sz="1350" b="1">
                <a:solidFill>
                  <a:srgbClr val="1F2A44"/>
                </a:solidFill>
                <a:latin typeface="Calibri"/>
              </a:rPr>
              <a:t>Bronze has no dedicated tests</a:t>
            </a:r>
          </a:p>
        </p:txBody>
      </p:sp>
      <p:sp>
        <p:nvSpPr>
          <p:cNvPr id="22" name="TextBox 21"/>
          <p:cNvSpPr txBox="1"/>
          <p:nvPr/>
        </p:nvSpPr>
        <p:spPr>
          <a:xfrm>
            <a:off x="6537960" y="2267712"/>
            <a:ext cx="4937760" cy="548640"/>
          </a:xfrm>
          <a:prstGeom prst="rect">
            <a:avLst/>
          </a:prstGeom>
          <a:noFill/>
        </p:spPr>
        <p:txBody>
          <a:bodyPr wrap="square">
            <a:spAutoFit/>
          </a:bodyPr>
          <a:lstStyle/>
          <a:p>
            <a:pPr algn="l">
              <a:spcAft>
                <a:spcPts val="0"/>
              </a:spcAft>
            </a:pPr>
            <a:r>
              <a:rPr sz="1150" b="0">
                <a:solidFill>
                  <a:srgbClr val="5B6472"/>
                </a:solidFill>
                <a:latin typeface="Calibri"/>
              </a:rPr>
              <a:t>Its guarantees are assertions inside the ingest module and are never re-checked. Largest hole in the suite, and first item of next-step work.</a:t>
            </a:r>
          </a:p>
        </p:txBody>
      </p:sp>
      <p:sp>
        <p:nvSpPr>
          <p:cNvPr id="23" name="Rounded Rectangle 22"/>
          <p:cNvSpPr/>
          <p:nvPr/>
        </p:nvSpPr>
        <p:spPr>
          <a:xfrm>
            <a:off x="6355080" y="2944368"/>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017520"/>
            <a:ext cx="4937760" cy="274320"/>
          </a:xfrm>
          <a:prstGeom prst="rect">
            <a:avLst/>
          </a:prstGeom>
          <a:noFill/>
        </p:spPr>
        <p:txBody>
          <a:bodyPr wrap="square">
            <a:spAutoFit/>
          </a:bodyPr>
          <a:lstStyle/>
          <a:p>
            <a:pPr algn="l">
              <a:spcAft>
                <a:spcPts val="0"/>
              </a:spcAft>
            </a:pPr>
            <a:r>
              <a:rPr sz="1350" b="1">
                <a:solidFill>
                  <a:srgbClr val="1F2A44"/>
                </a:solidFill>
                <a:latin typeface="Calibri"/>
              </a:rPr>
              <a:t>Four modules are over 500 lines</a:t>
            </a:r>
          </a:p>
        </p:txBody>
      </p:sp>
      <p:sp>
        <p:nvSpPr>
          <p:cNvPr id="25" name="TextBox 24"/>
          <p:cNvSpPr txBox="1"/>
          <p:nvPr/>
        </p:nvSpPr>
        <p:spPr>
          <a:xfrm>
            <a:off x="6537960" y="3291840"/>
            <a:ext cx="4937760" cy="548640"/>
          </a:xfrm>
          <a:prstGeom prst="rect">
            <a:avLst/>
          </a:prstGeom>
          <a:noFill/>
        </p:spPr>
        <p:txBody>
          <a:bodyPr wrap="square">
            <a:spAutoFit/>
          </a:bodyPr>
          <a:lstStyle/>
          <a:p>
            <a:pPr algn="l">
              <a:spcAft>
                <a:spcPts val="0"/>
              </a:spcAft>
            </a:pPr>
            <a:r>
              <a:rPr sz="1150" b="0">
                <a:solidFill>
                  <a:srgbClr val="5B6472"/>
                </a:solidFill>
                <a:latin typeface="Calibri"/>
              </a:rPr>
              <a:t>dq_runner in particular mixes execution, quarantine, flagging, reconciliation and two report writers. Coherent, but due a split.</a:t>
            </a:r>
          </a:p>
        </p:txBody>
      </p:sp>
      <p:sp>
        <p:nvSpPr>
          <p:cNvPr id="26" name="Rounded Rectangle 25"/>
          <p:cNvSpPr/>
          <p:nvPr/>
        </p:nvSpPr>
        <p:spPr>
          <a:xfrm>
            <a:off x="6355080" y="3968496"/>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37960" y="4041648"/>
            <a:ext cx="4937760" cy="274320"/>
          </a:xfrm>
          <a:prstGeom prst="rect">
            <a:avLst/>
          </a:prstGeom>
          <a:noFill/>
        </p:spPr>
        <p:txBody>
          <a:bodyPr wrap="square">
            <a:spAutoFit/>
          </a:bodyPr>
          <a:lstStyle/>
          <a:p>
            <a:pPr algn="l">
              <a:spcAft>
                <a:spcPts val="0"/>
              </a:spcAft>
            </a:pPr>
            <a:r>
              <a:rPr sz="1350" b="1">
                <a:solidFill>
                  <a:srgbClr val="1F2A44"/>
                </a:solidFill>
                <a:latin typeface="Calibri"/>
              </a:rPr>
              <a:t>The rule engine pulls violations into Python</a:t>
            </a:r>
          </a:p>
        </p:txBody>
      </p:sp>
      <p:sp>
        <p:nvSpPr>
          <p:cNvPr id="28" name="TextBox 27"/>
          <p:cNvSpPr txBox="1"/>
          <p:nvPr/>
        </p:nvSpPr>
        <p:spPr>
          <a:xfrm>
            <a:off x="6537960" y="4315968"/>
            <a:ext cx="4937760" cy="548640"/>
          </a:xfrm>
          <a:prstGeom prst="rect">
            <a:avLst/>
          </a:prstGeom>
          <a:noFill/>
        </p:spPr>
        <p:txBody>
          <a:bodyPr wrap="square">
            <a:spAutoFit/>
          </a:bodyPr>
          <a:lstStyle/>
          <a:p>
            <a:pPr algn="l">
              <a:spcAft>
                <a:spcPts val="0"/>
              </a:spcAft>
            </a:pPr>
            <a:r>
              <a:rPr sz="1150" b="0">
                <a:solidFill>
                  <a:srgbClr val="5B6472"/>
                </a:solidFill>
                <a:latin typeface="Calibri"/>
              </a:rPr>
              <a:t>Fine at 1.06 m rows; named in the Design Decision Record as one of the four things that break at 100,000 times the volume.</a:t>
            </a:r>
          </a:p>
        </p:txBody>
      </p:sp>
      <p:sp>
        <p:nvSpPr>
          <p:cNvPr id="29" name="Rounded Rectangle 28"/>
          <p:cNvSpPr/>
          <p:nvPr/>
        </p:nvSpPr>
        <p:spPr>
          <a:xfrm>
            <a:off x="6355080" y="4992624"/>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37960" y="5065776"/>
            <a:ext cx="4937760" cy="274320"/>
          </a:xfrm>
          <a:prstGeom prst="rect">
            <a:avLst/>
          </a:prstGeom>
          <a:noFill/>
        </p:spPr>
        <p:txBody>
          <a:bodyPr wrap="square">
            <a:spAutoFit/>
          </a:bodyPr>
          <a:lstStyle/>
          <a:p>
            <a:pPr algn="l">
              <a:spcAft>
                <a:spcPts val="0"/>
              </a:spcAft>
            </a:pPr>
            <a:r>
              <a:rPr sz="1350" b="1">
                <a:solidFill>
                  <a:srgbClr val="1F2A44"/>
                </a:solidFill>
                <a:latin typeface="Calibri"/>
              </a:rPr>
              <a:t>No CI, and the page count is checked by regex</a:t>
            </a:r>
          </a:p>
        </p:txBody>
      </p:sp>
      <p:sp>
        <p:nvSpPr>
          <p:cNvPr id="31" name="TextBox 30"/>
          <p:cNvSpPr txBox="1"/>
          <p:nvPr/>
        </p:nvSpPr>
        <p:spPr>
          <a:xfrm>
            <a:off x="6537960" y="5340096"/>
            <a:ext cx="4937760" cy="548640"/>
          </a:xfrm>
          <a:prstGeom prst="rect">
            <a:avLst/>
          </a:prstGeom>
          <a:noFill/>
        </p:spPr>
        <p:txBody>
          <a:bodyPr wrap="square">
            <a:spAutoFit/>
          </a:bodyPr>
          <a:lstStyle/>
          <a:p>
            <a:pPr algn="l">
              <a:spcAft>
                <a:spcPts val="0"/>
              </a:spcAft>
            </a:pPr>
            <a:r>
              <a:rPr sz="1150" b="0">
                <a:solidFill>
                  <a:srgbClr val="5B6472"/>
                </a:solidFill>
                <a:latin typeface="Calibri"/>
              </a:rPr>
              <a:t>Everything is reproducible by one command; nothing runs it automatically. The DDR two-page check reads the PDF bytes.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1 OF 2 - THE THREE TASKS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Completeness: every ask in the brief</a:t>
            </a:r>
          </a:p>
        </p:txBody>
      </p:sp>
      <p:sp>
        <p:nvSpPr>
          <p:cNvPr id="4" name="Rounded Rectangle 3"/>
          <p:cNvSpPr/>
          <p:nvPr/>
        </p:nvSpPr>
        <p:spPr>
          <a:xfrm>
            <a:off x="548640" y="1234440"/>
            <a:ext cx="39319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307592"/>
            <a:ext cx="3712464" cy="292608"/>
          </a:xfrm>
          <a:prstGeom prst="rect">
            <a:avLst/>
          </a:prstGeom>
          <a:noFill/>
        </p:spPr>
        <p:txBody>
          <a:bodyPr wrap="square">
            <a:spAutoFit/>
          </a:bodyPr>
          <a:lstStyle/>
          <a:p>
            <a:pPr algn="l">
              <a:spcAft>
                <a:spcPts val="0"/>
              </a:spcAft>
            </a:pPr>
            <a:r>
              <a:rPr sz="1150" b="1">
                <a:solidFill>
                  <a:srgbClr val="FFFFFF"/>
                </a:solidFill>
                <a:latin typeface="Calibri"/>
              </a:rPr>
              <a:t>What the brief asks for</a:t>
            </a:r>
          </a:p>
        </p:txBody>
      </p:sp>
      <p:sp>
        <p:nvSpPr>
          <p:cNvPr id="6" name="Rounded Rectangle 5"/>
          <p:cNvSpPr/>
          <p:nvPr/>
        </p:nvSpPr>
        <p:spPr>
          <a:xfrm>
            <a:off x="4480560" y="1234440"/>
            <a:ext cx="39319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307592"/>
            <a:ext cx="3712464" cy="292608"/>
          </a:xfrm>
          <a:prstGeom prst="rect">
            <a:avLst/>
          </a:prstGeom>
          <a:noFill/>
        </p:spPr>
        <p:txBody>
          <a:bodyPr wrap="square">
            <a:spAutoFit/>
          </a:bodyPr>
          <a:lstStyle/>
          <a:p>
            <a:pPr algn="l">
              <a:spcAft>
                <a:spcPts val="0"/>
              </a:spcAft>
            </a:pPr>
            <a:r>
              <a:rPr sz="1150" b="1">
                <a:solidFill>
                  <a:srgbClr val="FFFFFF"/>
                </a:solidFill>
                <a:latin typeface="Calibri"/>
              </a:rPr>
              <a:t>Where it is delivered</a:t>
            </a:r>
          </a:p>
        </p:txBody>
      </p:sp>
      <p:sp>
        <p:nvSpPr>
          <p:cNvPr id="8" name="Rounded Rectangle 7"/>
          <p:cNvSpPr/>
          <p:nvPr/>
        </p:nvSpPr>
        <p:spPr>
          <a:xfrm>
            <a:off x="8412480" y="1234440"/>
            <a:ext cx="34747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307592"/>
            <a:ext cx="3255264" cy="292608"/>
          </a:xfrm>
          <a:prstGeom prst="rect">
            <a:avLst/>
          </a:prstGeom>
          <a:noFill/>
        </p:spPr>
        <p:txBody>
          <a:bodyPr wrap="square">
            <a:spAutoFit/>
          </a:bodyPr>
          <a:lstStyle/>
          <a:p>
            <a:pPr algn="l">
              <a:spcAft>
                <a:spcPts val="0"/>
              </a:spcAft>
            </a:pPr>
            <a:r>
              <a:rPr sz="1150" b="1">
                <a:solidFill>
                  <a:srgbClr val="FFFFFF"/>
                </a:solidFill>
                <a:latin typeface="Calibri"/>
              </a:rPr>
              <a:t>Evidence it is real</a:t>
            </a:r>
          </a:p>
        </p:txBody>
      </p:sp>
      <p:sp>
        <p:nvSpPr>
          <p:cNvPr id="10" name="Rounded Rectangle 9"/>
          <p:cNvSpPr/>
          <p:nvPr/>
        </p:nvSpPr>
        <p:spPr>
          <a:xfrm>
            <a:off x="548640" y="1618488"/>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91640"/>
            <a:ext cx="3712464" cy="658368"/>
          </a:xfrm>
          <a:prstGeom prst="rect">
            <a:avLst/>
          </a:prstGeom>
          <a:noFill/>
        </p:spPr>
        <p:txBody>
          <a:bodyPr wrap="square">
            <a:spAutoFit/>
          </a:bodyPr>
          <a:lstStyle/>
          <a:p>
            <a:pPr algn="l">
              <a:spcAft>
                <a:spcPts val="0"/>
              </a:spcAft>
            </a:pPr>
            <a:r>
              <a:rPr sz="1100" b="0">
                <a:solidFill>
                  <a:srgbClr val="1F2A44"/>
                </a:solidFill>
                <a:latin typeface="Calibri"/>
              </a:rPr>
              <a:t>Rules for completeness, uniqueness,
referential integrity, validity,
cross-table consistency</a:t>
            </a:r>
          </a:p>
        </p:txBody>
      </p:sp>
      <p:sp>
        <p:nvSpPr>
          <p:cNvPr id="12" name="Rounded Rectangle 11"/>
          <p:cNvSpPr/>
          <p:nvPr/>
        </p:nvSpPr>
        <p:spPr>
          <a:xfrm>
            <a:off x="4480560" y="1618488"/>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691640"/>
            <a:ext cx="3712464" cy="658368"/>
          </a:xfrm>
          <a:prstGeom prst="rect">
            <a:avLst/>
          </a:prstGeom>
          <a:noFill/>
        </p:spPr>
        <p:txBody>
          <a:bodyPr wrap="square">
            <a:spAutoFit/>
          </a:bodyPr>
          <a:lstStyle/>
          <a:p>
            <a:pPr algn="l">
              <a:spcAft>
                <a:spcPts val="0"/>
              </a:spcAft>
            </a:pPr>
            <a:r>
              <a:rPr sz="1100" b="0">
                <a:solidFill>
                  <a:srgbClr val="1F2A44"/>
                </a:solidFill>
                <a:latin typeface="Calibri"/>
              </a:rPr>
              <a:t>dq/dq_rules.yaml - 88 written rules
plus a sweep, 123 executed over
six dimensions</a:t>
            </a:r>
          </a:p>
        </p:txBody>
      </p:sp>
      <p:sp>
        <p:nvSpPr>
          <p:cNvPr id="14" name="Rounded Rectangle 13"/>
          <p:cNvSpPr/>
          <p:nvPr/>
        </p:nvSpPr>
        <p:spPr>
          <a:xfrm>
            <a:off x="8412480" y="1618488"/>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0496" y="1691640"/>
            <a:ext cx="3255264" cy="658368"/>
          </a:xfrm>
          <a:prstGeom prst="rect">
            <a:avLst/>
          </a:prstGeom>
          <a:noFill/>
        </p:spPr>
        <p:txBody>
          <a:bodyPr wrap="square">
            <a:spAutoFit/>
          </a:bodyPr>
          <a:lstStyle/>
          <a:p>
            <a:pPr algn="l">
              <a:spcAft>
                <a:spcPts val="0"/>
              </a:spcAft>
            </a:pPr>
            <a:r>
              <a:rPr sz="1100" b="0">
                <a:solidFill>
                  <a:srgbClr val="1F2A44"/>
                </a:solidFill>
                <a:latin typeface="Calibri"/>
              </a:rPr>
              <a:t>dq.results, one row per rule
per run; DQ rules tab</a:t>
            </a:r>
          </a:p>
        </p:txBody>
      </p:sp>
      <p:sp>
        <p:nvSpPr>
          <p:cNvPr id="16" name="Rounded Rectangle 15"/>
          <p:cNvSpPr/>
          <p:nvPr/>
        </p:nvSpPr>
        <p:spPr>
          <a:xfrm>
            <a:off x="548640" y="2368296"/>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441448"/>
            <a:ext cx="3712464" cy="658368"/>
          </a:xfrm>
          <a:prstGeom prst="rect">
            <a:avLst/>
          </a:prstGeom>
          <a:noFill/>
        </p:spPr>
        <p:txBody>
          <a:bodyPr wrap="square">
            <a:spAutoFit/>
          </a:bodyPr>
          <a:lstStyle/>
          <a:p>
            <a:pPr algn="l">
              <a:spcAft>
                <a:spcPts val="0"/>
              </a:spcAft>
            </a:pPr>
            <a:r>
              <a:rPr sz="1100" b="0">
                <a:solidFill>
                  <a:srgbClr val="1F2A44"/>
                </a:solidFill>
                <a:latin typeface="Calibri"/>
              </a:rPr>
              <a:t>Each defect type with the rule it
breaks and a severity</a:t>
            </a:r>
          </a:p>
        </p:txBody>
      </p:sp>
      <p:sp>
        <p:nvSpPr>
          <p:cNvPr id="18" name="Rounded Rectangle 17"/>
          <p:cNvSpPr/>
          <p:nvPr/>
        </p:nvSpPr>
        <p:spPr>
          <a:xfrm>
            <a:off x="4480560" y="2368296"/>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576" y="2441448"/>
            <a:ext cx="3712464" cy="658368"/>
          </a:xfrm>
          <a:prstGeom prst="rect">
            <a:avLst/>
          </a:prstGeom>
          <a:noFill/>
        </p:spPr>
        <p:txBody>
          <a:bodyPr wrap="square">
            <a:spAutoFit/>
          </a:bodyPr>
          <a:lstStyle/>
          <a:p>
            <a:pPr algn="l">
              <a:spcAft>
                <a:spcPts val="0"/>
              </a:spcAft>
            </a:pPr>
            <a:r>
              <a:rPr sz="1100" b="0">
                <a:solidFill>
                  <a:srgbClr val="1F2A44"/>
                </a:solidFill>
                <a:latin typeface="Calibri"/>
              </a:rPr>
              <a:t>Defect types tab and defects.csv -
rule id, dimension, severity,
rationale, handling</a:t>
            </a:r>
          </a:p>
        </p:txBody>
      </p:sp>
      <p:sp>
        <p:nvSpPr>
          <p:cNvPr id="20" name="Rounded Rectangle 19"/>
          <p:cNvSpPr/>
          <p:nvPr/>
        </p:nvSpPr>
        <p:spPr>
          <a:xfrm>
            <a:off x="8412480" y="2368296"/>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0496" y="2441448"/>
            <a:ext cx="3255264" cy="658368"/>
          </a:xfrm>
          <a:prstGeom prst="rect">
            <a:avLst/>
          </a:prstGeom>
          <a:noFill/>
        </p:spPr>
        <p:txBody>
          <a:bodyPr wrap="square">
            <a:spAutoFit/>
          </a:bodyPr>
          <a:lstStyle/>
          <a:p>
            <a:pPr algn="l">
              <a:spcAft>
                <a:spcPts val="0"/>
              </a:spcAft>
            </a:pPr>
            <a:r>
              <a:rPr sz="1100" b="0">
                <a:solidFill>
                  <a:srgbClr val="1F2A44"/>
                </a:solidFill>
                <a:latin typeface="Calibri"/>
              </a:rPr>
              <a:t>Generated from the run, not
typed; 08_defect_catalogue</a:t>
            </a:r>
          </a:p>
        </p:txBody>
      </p:sp>
      <p:sp>
        <p:nvSpPr>
          <p:cNvPr id="22" name="Rounded Rectangle 21"/>
          <p:cNvSpPr/>
          <p:nvPr/>
        </p:nvSpPr>
        <p:spPr>
          <a:xfrm>
            <a:off x="548640" y="3118104"/>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191256"/>
            <a:ext cx="3712464" cy="658368"/>
          </a:xfrm>
          <a:prstGeom prst="rect">
            <a:avLst/>
          </a:prstGeom>
          <a:noFill/>
        </p:spPr>
        <p:txBody>
          <a:bodyPr wrap="square">
            <a:spAutoFit/>
          </a:bodyPr>
          <a:lstStyle/>
          <a:p>
            <a:pPr algn="l">
              <a:spcAft>
                <a:spcPts val="0"/>
              </a:spcAft>
            </a:pPr>
            <a:r>
              <a:rPr sz="1100" b="0">
                <a:solidFill>
                  <a:srgbClr val="1F2A44"/>
                </a:solidFill>
                <a:latin typeface="Calibri"/>
              </a:rPr>
              <a:t>A justified severity for every rule
("a rule without one scores as
no rule")</a:t>
            </a:r>
          </a:p>
        </p:txBody>
      </p:sp>
      <p:sp>
        <p:nvSpPr>
          <p:cNvPr id="24" name="Rounded Rectangle 23"/>
          <p:cNvSpPr/>
          <p:nvPr/>
        </p:nvSpPr>
        <p:spPr>
          <a:xfrm>
            <a:off x="4480560" y="3118104"/>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08576" y="3191256"/>
            <a:ext cx="3712464" cy="658368"/>
          </a:xfrm>
          <a:prstGeom prst="rect">
            <a:avLst/>
          </a:prstGeom>
          <a:noFill/>
        </p:spPr>
        <p:txBody>
          <a:bodyPr wrap="square">
            <a:spAutoFit/>
          </a:bodyPr>
          <a:lstStyle/>
          <a:p>
            <a:pPr algn="l">
              <a:spcAft>
                <a:spcPts val="0"/>
              </a:spcAft>
            </a:pPr>
            <a:r>
              <a:rPr sz="1100" b="0">
                <a:solidFill>
                  <a:srgbClr val="1F2A44"/>
                </a:solidFill>
                <a:latin typeface="Calibri"/>
              </a:rPr>
              <a:t>severity_rationale on all 88 rules,
each stated in terms of which of
the ten questions it would move</a:t>
            </a:r>
          </a:p>
        </p:txBody>
      </p:sp>
      <p:sp>
        <p:nvSpPr>
          <p:cNvPr id="26" name="Rounded Rectangle 25"/>
          <p:cNvSpPr/>
          <p:nvPr/>
        </p:nvSpPr>
        <p:spPr>
          <a:xfrm>
            <a:off x="8412480" y="3118104"/>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0496" y="3191256"/>
            <a:ext cx="3255264" cy="658368"/>
          </a:xfrm>
          <a:prstGeom prst="rect">
            <a:avLst/>
          </a:prstGeom>
          <a:noFill/>
        </p:spPr>
        <p:txBody>
          <a:bodyPr wrap="square">
            <a:spAutoFit/>
          </a:bodyPr>
          <a:lstStyle/>
          <a:p>
            <a:pPr algn="l">
              <a:spcAft>
                <a:spcPts val="0"/>
              </a:spcAft>
            </a:pPr>
            <a:r>
              <a:rPr sz="1100" b="0">
                <a:solidFill>
                  <a:srgbClr val="1F2A44"/>
                </a:solidFill>
                <a:latin typeface="Calibri"/>
              </a:rPr>
              <a:t>Rendered into the workbook;
test asserts no rule lacks one</a:t>
            </a:r>
          </a:p>
        </p:txBody>
      </p:sp>
      <p:sp>
        <p:nvSpPr>
          <p:cNvPr id="28" name="Rounded Rectangle 27"/>
          <p:cNvSpPr/>
          <p:nvPr/>
        </p:nvSpPr>
        <p:spPr>
          <a:xfrm>
            <a:off x="548640" y="3867912"/>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3941064"/>
            <a:ext cx="3712464" cy="658368"/>
          </a:xfrm>
          <a:prstGeom prst="rect">
            <a:avLst/>
          </a:prstGeom>
          <a:noFill/>
        </p:spPr>
        <p:txBody>
          <a:bodyPr wrap="square">
            <a:spAutoFit/>
          </a:bodyPr>
          <a:lstStyle/>
          <a:p>
            <a:pPr algn="l">
              <a:spcAft>
                <a:spcPts val="0"/>
              </a:spcAft>
            </a:pPr>
            <a:r>
              <a:rPr sz="1100" b="0">
                <a:solidFill>
                  <a:srgbClr val="1F2A44"/>
                </a:solidFill>
                <a:latin typeface="Calibri"/>
              </a:rPr>
              <a:t>AI-ready data product with a
semantic layer</a:t>
            </a:r>
          </a:p>
        </p:txBody>
      </p:sp>
      <p:sp>
        <p:nvSpPr>
          <p:cNvPr id="30" name="Rounded Rectangle 29"/>
          <p:cNvSpPr/>
          <p:nvPr/>
        </p:nvSpPr>
        <p:spPr>
          <a:xfrm>
            <a:off x="4480560" y="3867912"/>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3941064"/>
            <a:ext cx="3712464" cy="658368"/>
          </a:xfrm>
          <a:prstGeom prst="rect">
            <a:avLst/>
          </a:prstGeom>
          <a:noFill/>
        </p:spPr>
        <p:txBody>
          <a:bodyPr wrap="square">
            <a:spAutoFit/>
          </a:bodyPr>
          <a:lstStyle/>
          <a:p>
            <a:pPr algn="l">
              <a:spcAft>
                <a:spcPts val="0"/>
              </a:spcAft>
            </a:pPr>
            <a:r>
              <a:rPr sz="1100" b="0">
                <a:solidFill>
                  <a:srgbClr val="1F2A44"/>
                </a:solidFill>
                <a:latin typeface="Calibri"/>
              </a:rPr>
              <a:t>core star schema + ai consumer
views + semantic/semantic.yaml,
validated against the live database</a:t>
            </a:r>
          </a:p>
        </p:txBody>
      </p:sp>
      <p:sp>
        <p:nvSpPr>
          <p:cNvPr id="32" name="Rounded Rectangle 31"/>
          <p:cNvSpPr/>
          <p:nvPr/>
        </p:nvSpPr>
        <p:spPr>
          <a:xfrm>
            <a:off x="8412480" y="3867912"/>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0496" y="3941064"/>
            <a:ext cx="3255264" cy="658368"/>
          </a:xfrm>
          <a:prstGeom prst="rect">
            <a:avLst/>
          </a:prstGeom>
          <a:noFill/>
        </p:spPr>
        <p:txBody>
          <a:bodyPr wrap="square">
            <a:spAutoFit/>
          </a:bodyPr>
          <a:lstStyle/>
          <a:p>
            <a:pPr algn="l">
              <a:spcAft>
                <a:spcPts val="0"/>
              </a:spcAft>
            </a:pPr>
            <a:r>
              <a:rPr sz="1100" b="0">
                <a:solidFill>
                  <a:srgbClr val="1F2A44"/>
                </a:solidFill>
                <a:latin typeface="Calibri"/>
              </a:rPr>
              <a:t>Model tab; grain, key and FK
checks; core = stg - quarantine</a:t>
            </a:r>
          </a:p>
        </p:txBody>
      </p:sp>
      <p:sp>
        <p:nvSpPr>
          <p:cNvPr id="34" name="Rounded Rectangle 33"/>
          <p:cNvSpPr/>
          <p:nvPr/>
        </p:nvSpPr>
        <p:spPr>
          <a:xfrm>
            <a:off x="548640" y="4617720"/>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 y="4690872"/>
            <a:ext cx="3712464" cy="658368"/>
          </a:xfrm>
          <a:prstGeom prst="rect">
            <a:avLst/>
          </a:prstGeom>
          <a:noFill/>
        </p:spPr>
        <p:txBody>
          <a:bodyPr wrap="square">
            <a:spAutoFit/>
          </a:bodyPr>
          <a:lstStyle/>
          <a:p>
            <a:pPr algn="l">
              <a:spcAft>
                <a:spcPts val="0"/>
              </a:spcAft>
            </a:pPr>
            <a:r>
              <a:rPr sz="1100" b="0">
                <a:solidFill>
                  <a:srgbClr val="1F2A44"/>
                </a:solidFill>
                <a:latin typeface="Calibri"/>
              </a:rPr>
              <a:t>An LLM answering ten questions
with generated SQL and result</a:t>
            </a:r>
          </a:p>
        </p:txBody>
      </p:sp>
      <p:sp>
        <p:nvSpPr>
          <p:cNvPr id="36" name="Rounded Rectangle 35"/>
          <p:cNvSpPr/>
          <p:nvPr/>
        </p:nvSpPr>
        <p:spPr>
          <a:xfrm>
            <a:off x="4480560" y="4617720"/>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08576" y="4690872"/>
            <a:ext cx="3712464" cy="658368"/>
          </a:xfrm>
          <a:prstGeom prst="rect">
            <a:avLst/>
          </a:prstGeom>
          <a:noFill/>
        </p:spPr>
        <p:txBody>
          <a:bodyPr wrap="square">
            <a:spAutoFit/>
          </a:bodyPr>
          <a:lstStyle/>
          <a:p>
            <a:pPr algn="l">
              <a:spcAft>
                <a:spcPts val="0"/>
              </a:spcAft>
            </a:pPr>
            <a:r>
              <a:rPr sz="1100" b="0">
                <a:solidFill>
                  <a:srgbClr val="1F2A44"/>
                </a:solidFill>
                <a:latin typeface="Calibri"/>
              </a:rPr>
              <a:t>Questions and Q detail tabs - prompt,
model, raw response, guarded SQL,
result, reference answer</a:t>
            </a:r>
          </a:p>
        </p:txBody>
      </p:sp>
      <p:sp>
        <p:nvSpPr>
          <p:cNvPr id="38" name="Rounded Rectangle 37"/>
          <p:cNvSpPr/>
          <p:nvPr/>
        </p:nvSpPr>
        <p:spPr>
          <a:xfrm>
            <a:off x="8412480" y="4617720"/>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40496" y="4690872"/>
            <a:ext cx="3255264" cy="658368"/>
          </a:xfrm>
          <a:prstGeom prst="rect">
            <a:avLst/>
          </a:prstGeom>
          <a:noFill/>
        </p:spPr>
        <p:txBody>
          <a:bodyPr wrap="square">
            <a:spAutoFit/>
          </a:bodyPr>
          <a:lstStyle/>
          <a:p>
            <a:pPr algn="l">
              <a:spcAft>
                <a:spcPts val="0"/>
              </a:spcAft>
            </a:pPr>
            <a:r>
              <a:rPr sz="1100" b="0">
                <a:solidFill>
                  <a:srgbClr val="1F2A44"/>
                </a:solidFill>
                <a:latin typeface="Calibri"/>
              </a:rPr>
              <a:t>10 of 10 correct first attempt;
every call logged to disk</a:t>
            </a:r>
          </a:p>
        </p:txBody>
      </p:sp>
      <p:sp>
        <p:nvSpPr>
          <p:cNvPr id="40" name="Rounded Rectangle 39"/>
          <p:cNvSpPr/>
          <p:nvPr/>
        </p:nvSpPr>
        <p:spPr>
          <a:xfrm>
            <a:off x="548640" y="5367528"/>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40680"/>
            <a:ext cx="3712464" cy="658368"/>
          </a:xfrm>
          <a:prstGeom prst="rect">
            <a:avLst/>
          </a:prstGeom>
          <a:noFill/>
        </p:spPr>
        <p:txBody>
          <a:bodyPr wrap="square">
            <a:spAutoFit/>
          </a:bodyPr>
          <a:lstStyle/>
          <a:p>
            <a:pPr algn="l">
              <a:spcAft>
                <a:spcPts val="0"/>
              </a:spcAft>
            </a:pPr>
            <a:r>
              <a:rPr sz="1100" b="0">
                <a:solidFill>
                  <a:srgbClr val="1F2A44"/>
                </a:solidFill>
                <a:latin typeface="Calibri"/>
              </a:rPr>
              <a:t>Entitlements: each user sees only
their own clients, and an LLM query
cannot bypass it</a:t>
            </a:r>
          </a:p>
        </p:txBody>
      </p:sp>
      <p:sp>
        <p:nvSpPr>
          <p:cNvPr id="42" name="Rounded Rectangle 41"/>
          <p:cNvSpPr/>
          <p:nvPr/>
        </p:nvSpPr>
        <p:spPr>
          <a:xfrm>
            <a:off x="4480560" y="5367528"/>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08576" y="5440680"/>
            <a:ext cx="3712464" cy="658368"/>
          </a:xfrm>
          <a:prstGeom prst="rect">
            <a:avLst/>
          </a:prstGeom>
          <a:noFill/>
        </p:spPr>
        <p:txBody>
          <a:bodyPr wrap="square">
            <a:spAutoFit/>
          </a:bodyPr>
          <a:lstStyle/>
          <a:p>
            <a:pPr algn="l">
              <a:spcAft>
                <a:spcPts val="0"/>
              </a:spcAft>
            </a:pPr>
            <a:r>
              <a:rPr sz="1100" b="0">
                <a:solidFill>
                  <a:srgbClr val="1F2A44"/>
                </a:solidFill>
                <a:latin typeface="Calibri"/>
              </a:rPr>
              <a:t>Row level security on the base tables
+ security_invoker views; onboarding
is two inserts, no code change</a:t>
            </a:r>
          </a:p>
        </p:txBody>
      </p:sp>
      <p:sp>
        <p:nvSpPr>
          <p:cNvPr id="44" name="Rounded Rectangle 43"/>
          <p:cNvSpPr/>
          <p:nvPr/>
        </p:nvSpPr>
        <p:spPr>
          <a:xfrm>
            <a:off x="8412480" y="5367528"/>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0496" y="5440680"/>
            <a:ext cx="3255264" cy="658368"/>
          </a:xfrm>
          <a:prstGeom prst="rect">
            <a:avLst/>
          </a:prstGeom>
          <a:noFill/>
        </p:spPr>
        <p:txBody>
          <a:bodyPr wrap="square">
            <a:spAutoFit/>
          </a:bodyPr>
          <a:lstStyle/>
          <a:p>
            <a:pPr algn="l">
              <a:spcAft>
                <a:spcPts val="0"/>
              </a:spcAft>
            </a:pPr>
            <a:r>
              <a:rPr sz="1100" b="0">
                <a:solidFill>
                  <a:srgbClr val="1F2A44"/>
                </a:solidFill>
                <a:latin typeface="Calibri"/>
              </a:rPr>
              <a:t>Entitlements tab: 5,369 / 1,481 /
1,386 / 0; nine bypass attempts
refused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2 OF 2 - THE ARTEFACTS AND THE DISCLOSURE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Completeness: every deliverable</a:t>
            </a:r>
          </a:p>
        </p:txBody>
      </p:sp>
      <p:sp>
        <p:nvSpPr>
          <p:cNvPr id="4" name="Rounded Rectangle 3"/>
          <p:cNvSpPr/>
          <p:nvPr/>
        </p:nvSpPr>
        <p:spPr>
          <a:xfrm>
            <a:off x="548640" y="1188720"/>
            <a:ext cx="3749039"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261872"/>
            <a:ext cx="3529583" cy="292608"/>
          </a:xfrm>
          <a:prstGeom prst="rect">
            <a:avLst/>
          </a:prstGeom>
          <a:noFill/>
        </p:spPr>
        <p:txBody>
          <a:bodyPr wrap="square">
            <a:spAutoFit/>
          </a:bodyPr>
          <a:lstStyle/>
          <a:p>
            <a:pPr algn="l">
              <a:spcAft>
                <a:spcPts val="0"/>
              </a:spcAft>
            </a:pPr>
            <a:r>
              <a:rPr sz="1150" b="1">
                <a:solidFill>
                  <a:srgbClr val="FFFFFF"/>
                </a:solidFill>
                <a:latin typeface="Calibri"/>
              </a:rPr>
              <a:t>What the brief asks for</a:t>
            </a:r>
          </a:p>
        </p:txBody>
      </p:sp>
      <p:sp>
        <p:nvSpPr>
          <p:cNvPr id="6" name="Rounded Rectangle 5"/>
          <p:cNvSpPr/>
          <p:nvPr/>
        </p:nvSpPr>
        <p:spPr>
          <a:xfrm>
            <a:off x="4297679" y="1188720"/>
            <a:ext cx="475488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25695" y="1261872"/>
            <a:ext cx="4535424" cy="292608"/>
          </a:xfrm>
          <a:prstGeom prst="rect">
            <a:avLst/>
          </a:prstGeom>
          <a:noFill/>
        </p:spPr>
        <p:txBody>
          <a:bodyPr wrap="square">
            <a:spAutoFit/>
          </a:bodyPr>
          <a:lstStyle/>
          <a:p>
            <a:pPr algn="l">
              <a:spcAft>
                <a:spcPts val="0"/>
              </a:spcAft>
            </a:pPr>
            <a:r>
              <a:rPr sz="1150" b="1">
                <a:solidFill>
                  <a:srgbClr val="FFFFFF"/>
                </a:solidFill>
                <a:latin typeface="Calibri"/>
              </a:rPr>
              <a:t>What was handed over</a:t>
            </a:r>
          </a:p>
        </p:txBody>
      </p:sp>
      <p:sp>
        <p:nvSpPr>
          <p:cNvPr id="8" name="Rounded Rectangle 7"/>
          <p:cNvSpPr/>
          <p:nvPr/>
        </p:nvSpPr>
        <p:spPr>
          <a:xfrm>
            <a:off x="9052559" y="1188720"/>
            <a:ext cx="283464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0575" y="1261872"/>
            <a:ext cx="2615184" cy="292608"/>
          </a:xfrm>
          <a:prstGeom prst="rect">
            <a:avLst/>
          </a:prstGeom>
          <a:noFill/>
        </p:spPr>
        <p:txBody>
          <a:bodyPr wrap="square">
            <a:spAutoFit/>
          </a:bodyPr>
          <a:lstStyle/>
          <a:p>
            <a:pPr algn="l">
              <a:spcAft>
                <a:spcPts val="0"/>
              </a:spcAft>
            </a:pPr>
            <a:r>
              <a:rPr sz="1150" b="1">
                <a:solidFill>
                  <a:srgbClr val="FFFFFF"/>
                </a:solidFill>
                <a:latin typeface="Calibri"/>
              </a:rPr>
              <a:t>State</a:t>
            </a:r>
          </a:p>
        </p:txBody>
      </p:sp>
      <p:sp>
        <p:nvSpPr>
          <p:cNvPr id="10" name="Rounded Rectangle 9"/>
          <p:cNvSpPr/>
          <p:nvPr/>
        </p:nvSpPr>
        <p:spPr>
          <a:xfrm>
            <a:off x="548640" y="1572768"/>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45920"/>
            <a:ext cx="3529583" cy="749808"/>
          </a:xfrm>
          <a:prstGeom prst="rect">
            <a:avLst/>
          </a:prstGeom>
          <a:noFill/>
        </p:spPr>
        <p:txBody>
          <a:bodyPr wrap="square">
            <a:spAutoFit/>
          </a:bodyPr>
          <a:lstStyle/>
          <a:p>
            <a:pPr algn="l">
              <a:spcAft>
                <a:spcPts val="0"/>
              </a:spcAft>
            </a:pPr>
            <a:r>
              <a:rPr sz="1100" b="0">
                <a:solidFill>
                  <a:srgbClr val="1F2A44"/>
                </a:solidFill>
                <a:latin typeface="Calibri"/>
              </a:rPr>
              <a:t>Excel: defect types, model
explanation, questions</a:t>
            </a:r>
          </a:p>
        </p:txBody>
      </p:sp>
      <p:sp>
        <p:nvSpPr>
          <p:cNvPr id="12" name="Rounded Rectangle 11"/>
          <p:cNvSpPr/>
          <p:nvPr/>
        </p:nvSpPr>
        <p:spPr>
          <a:xfrm>
            <a:off x="4297679" y="1572768"/>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5" y="1645920"/>
            <a:ext cx="4535424" cy="749808"/>
          </a:xfrm>
          <a:prstGeom prst="rect">
            <a:avLst/>
          </a:prstGeom>
          <a:noFill/>
        </p:spPr>
        <p:txBody>
          <a:bodyPr wrap="square">
            <a:spAutoFit/>
          </a:bodyPr>
          <a:lstStyle/>
          <a:p>
            <a:pPr algn="l">
              <a:spcAft>
                <a:spcPts val="0"/>
              </a:spcAft>
            </a:pPr>
            <a:r>
              <a:rPr sz="1100" b="0">
                <a:solidFill>
                  <a:srgbClr val="1F2A44"/>
                </a:solidFill>
                <a:latin typeface="Calibri"/>
              </a:rPr>
              <a:t>Berka_TakeHome_Submission.xlsx -
nine tabs; the three required plus
Q detail, DQ rules, Assumptions,
Entitlements, Run log, Overview</a:t>
            </a:r>
          </a:p>
        </p:txBody>
      </p:sp>
      <p:sp>
        <p:nvSpPr>
          <p:cNvPr id="14" name="Rounded Rectangle 13"/>
          <p:cNvSpPr/>
          <p:nvPr/>
        </p:nvSpPr>
        <p:spPr>
          <a:xfrm>
            <a:off x="9052559" y="1572768"/>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0575" y="1645920"/>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every cell
generated</a:t>
            </a:r>
          </a:p>
        </p:txBody>
      </p:sp>
      <p:sp>
        <p:nvSpPr>
          <p:cNvPr id="16" name="Rounded Rectangle 15"/>
          <p:cNvSpPr/>
          <p:nvPr/>
        </p:nvSpPr>
        <p:spPr>
          <a:xfrm>
            <a:off x="548640" y="2414016"/>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487168"/>
            <a:ext cx="3529583" cy="749808"/>
          </a:xfrm>
          <a:prstGeom prst="rect">
            <a:avLst/>
          </a:prstGeom>
          <a:noFill/>
        </p:spPr>
        <p:txBody>
          <a:bodyPr wrap="square">
            <a:spAutoFit/>
          </a:bodyPr>
          <a:lstStyle/>
          <a:p>
            <a:pPr algn="l">
              <a:spcAft>
                <a:spcPts val="0"/>
              </a:spcAft>
            </a:pPr>
            <a:r>
              <a:rPr sz="1100" b="0">
                <a:solidFill>
                  <a:srgbClr val="1F2A44"/>
                </a:solidFill>
                <a:latin typeface="Calibri"/>
              </a:rPr>
              <a:t>A ZIP of the semantic solution
and the code</a:t>
            </a:r>
          </a:p>
        </p:txBody>
      </p:sp>
      <p:sp>
        <p:nvSpPr>
          <p:cNvPr id="18" name="Rounded Rectangle 17"/>
          <p:cNvSpPr/>
          <p:nvPr/>
        </p:nvSpPr>
        <p:spPr>
          <a:xfrm>
            <a:off x="4297679" y="2414016"/>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487168"/>
            <a:ext cx="4535424" cy="749808"/>
          </a:xfrm>
          <a:prstGeom prst="rect">
            <a:avLst/>
          </a:prstGeom>
          <a:noFill/>
        </p:spPr>
        <p:txBody>
          <a:bodyPr wrap="square">
            <a:spAutoFit/>
          </a:bodyPr>
          <a:lstStyle/>
          <a:p>
            <a:pPr algn="l">
              <a:spcAft>
                <a:spcPts val="0"/>
              </a:spcAft>
            </a:pPr>
            <a:r>
              <a:rPr sz="1100" b="0">
                <a:solidFill>
                  <a:srgbClr val="1F2A44"/>
                </a:solidFill>
                <a:latin typeface="Calibri"/>
              </a:rPr>
              <a:t>semantic_solution.zip - 135 files,
with a manifest that says which part
is the assessed pipeline and which
is next-step work</a:t>
            </a:r>
          </a:p>
        </p:txBody>
      </p:sp>
      <p:sp>
        <p:nvSpPr>
          <p:cNvPr id="20" name="Rounded Rectangle 19"/>
          <p:cNvSpPr/>
          <p:nvPr/>
        </p:nvSpPr>
        <p:spPr>
          <a:xfrm>
            <a:off x="9052559" y="2414016"/>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5" y="2487168"/>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
        <p:nvSpPr>
          <p:cNvPr id="22" name="Rounded Rectangle 21"/>
          <p:cNvSpPr/>
          <p:nvPr/>
        </p:nvSpPr>
        <p:spPr>
          <a:xfrm>
            <a:off x="548640" y="3255264"/>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28416"/>
            <a:ext cx="3529583" cy="749808"/>
          </a:xfrm>
          <a:prstGeom prst="rect">
            <a:avLst/>
          </a:prstGeom>
          <a:noFill/>
        </p:spPr>
        <p:txBody>
          <a:bodyPr wrap="square">
            <a:spAutoFit/>
          </a:bodyPr>
          <a:lstStyle/>
          <a:p>
            <a:pPr algn="l">
              <a:spcAft>
                <a:spcPts val="0"/>
              </a:spcAft>
            </a:pPr>
            <a:r>
              <a:rPr sz="1100" b="0">
                <a:solidFill>
                  <a:srgbClr val="1F2A44"/>
                </a:solidFill>
                <a:latin typeface="Calibri"/>
              </a:rPr>
              <a:t>Design Decision Record, max two
pages: options, choice, why, cost,
and what breaks at 100,000x</a:t>
            </a:r>
          </a:p>
        </p:txBody>
      </p:sp>
      <p:sp>
        <p:nvSpPr>
          <p:cNvPr id="24" name="Rounded Rectangle 23"/>
          <p:cNvSpPr/>
          <p:nvPr/>
        </p:nvSpPr>
        <p:spPr>
          <a:xfrm>
            <a:off x="4297679" y="3255264"/>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5" y="3328416"/>
            <a:ext cx="4535424" cy="749808"/>
          </a:xfrm>
          <a:prstGeom prst="rect">
            <a:avLst/>
          </a:prstGeom>
          <a:noFill/>
        </p:spPr>
        <p:txBody>
          <a:bodyPr wrap="square">
            <a:spAutoFit/>
          </a:bodyPr>
          <a:lstStyle/>
          <a:p>
            <a:pPr algn="l">
              <a:spcAft>
                <a:spcPts val="0"/>
              </a:spcAft>
            </a:pPr>
            <a:r>
              <a:rPr sz="1100" b="0">
                <a:solidFill>
                  <a:srgbClr val="1F2A44"/>
                </a:solidFill>
                <a:latin typeface="Calibri"/>
              </a:rPr>
              <a:t>DDR.pdf and DDR.docx - twelve
decisions in options / chosen / why /
cost form, plus the four things that
break, named specifically</a:t>
            </a:r>
          </a:p>
        </p:txBody>
      </p:sp>
      <p:sp>
        <p:nvSpPr>
          <p:cNvPr id="26" name="Rounded Rectangle 25"/>
          <p:cNvSpPr/>
          <p:nvPr/>
        </p:nvSpPr>
        <p:spPr>
          <a:xfrm>
            <a:off x="9052559" y="3255264"/>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0575" y="3328416"/>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two pages,
checked</a:t>
            </a:r>
          </a:p>
        </p:txBody>
      </p:sp>
      <p:sp>
        <p:nvSpPr>
          <p:cNvPr id="28" name="Rounded Rectangle 27"/>
          <p:cNvSpPr/>
          <p:nvPr/>
        </p:nvSpPr>
        <p:spPr>
          <a:xfrm>
            <a:off x="548640" y="4096512"/>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169664"/>
            <a:ext cx="3529583" cy="749808"/>
          </a:xfrm>
          <a:prstGeom prst="rect">
            <a:avLst/>
          </a:prstGeom>
          <a:noFill/>
        </p:spPr>
        <p:txBody>
          <a:bodyPr wrap="square">
            <a:spAutoFit/>
          </a:bodyPr>
          <a:lstStyle/>
          <a:p>
            <a:pPr algn="l">
              <a:spcAft>
                <a:spcPts val="0"/>
              </a:spcAft>
            </a:pPr>
            <a:r>
              <a:rPr sz="1100" b="0">
                <a:solidFill>
                  <a:srgbClr val="1F2A44"/>
                </a:solidFill>
                <a:latin typeface="Calibri"/>
              </a:rPr>
              <a:t>Full AI-tooling disclosure</a:t>
            </a:r>
          </a:p>
        </p:txBody>
      </p:sp>
      <p:sp>
        <p:nvSpPr>
          <p:cNvPr id="30" name="Rounded Rectangle 29"/>
          <p:cNvSpPr/>
          <p:nvPr/>
        </p:nvSpPr>
        <p:spPr>
          <a:xfrm>
            <a:off x="4297679" y="4096512"/>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5" y="4169664"/>
            <a:ext cx="4535424" cy="749808"/>
          </a:xfrm>
          <a:prstGeom prst="rect">
            <a:avLst/>
          </a:prstGeom>
          <a:noFill/>
        </p:spPr>
        <p:txBody>
          <a:bodyPr wrap="square">
            <a:spAutoFit/>
          </a:bodyPr>
          <a:lstStyle/>
          <a:p>
            <a:pPr algn="l">
              <a:spcAft>
                <a:spcPts val="0"/>
              </a:spcAft>
            </a:pPr>
            <a:r>
              <a:rPr sz="1100" b="0">
                <a:solidFill>
                  <a:srgbClr val="1F2A44"/>
                </a:solidFill>
                <a:latin typeface="Calibri"/>
              </a:rPr>
              <a:t>AI_DISCLOSURE.md - which model, for
what, with what access, and what was
hand-written: the reference answers
and all 88 rules</a:t>
            </a:r>
          </a:p>
        </p:txBody>
      </p:sp>
      <p:sp>
        <p:nvSpPr>
          <p:cNvPr id="32" name="Rounded Rectangle 31"/>
          <p:cNvSpPr/>
          <p:nvPr/>
        </p:nvSpPr>
        <p:spPr>
          <a:xfrm>
            <a:off x="9052559" y="4096512"/>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0575" y="4169664"/>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
        <p:nvSpPr>
          <p:cNvPr id="34" name="Rounded Rectangle 33"/>
          <p:cNvSpPr/>
          <p:nvPr/>
        </p:nvSpPr>
        <p:spPr>
          <a:xfrm>
            <a:off x="548640" y="4937760"/>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 y="5010912"/>
            <a:ext cx="3529583" cy="749808"/>
          </a:xfrm>
          <a:prstGeom prst="rect">
            <a:avLst/>
          </a:prstGeom>
          <a:noFill/>
        </p:spPr>
        <p:txBody>
          <a:bodyPr wrap="square">
            <a:spAutoFit/>
          </a:bodyPr>
          <a:lstStyle/>
          <a:p>
            <a:pPr algn="l">
              <a:spcAft>
                <a:spcPts val="0"/>
              </a:spcAft>
            </a:pPr>
            <a:r>
              <a:rPr sz="1100" b="0">
                <a:solidFill>
                  <a:srgbClr val="1F2A44"/>
                </a:solidFill>
                <a:latin typeface="Calibri"/>
              </a:rPr>
              <a:t>Assumptions stated explicitly</a:t>
            </a:r>
          </a:p>
        </p:txBody>
      </p:sp>
      <p:sp>
        <p:nvSpPr>
          <p:cNvPr id="36" name="Rounded Rectangle 35"/>
          <p:cNvSpPr/>
          <p:nvPr/>
        </p:nvSpPr>
        <p:spPr>
          <a:xfrm>
            <a:off x="4297679" y="4937760"/>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5" y="5010912"/>
            <a:ext cx="4535424" cy="749808"/>
          </a:xfrm>
          <a:prstGeom prst="rect">
            <a:avLst/>
          </a:prstGeom>
          <a:noFill/>
        </p:spPr>
        <p:txBody>
          <a:bodyPr wrap="square">
            <a:spAutoFit/>
          </a:bodyPr>
          <a:lstStyle/>
          <a:p>
            <a:pPr algn="l">
              <a:spcAft>
                <a:spcPts val="0"/>
              </a:spcAft>
            </a:pPr>
            <a:r>
              <a:rPr sz="1100" b="0">
                <a:solidFill>
                  <a:srgbClr val="1F2A44"/>
                </a:solidFill>
                <a:latin typeface="Calibri"/>
              </a:rPr>
              <a:t>ASSUMPTIONS.md - A1 to A24, each
with what was assumed, why, and what
would change if it were wrong</a:t>
            </a:r>
          </a:p>
        </p:txBody>
      </p:sp>
      <p:sp>
        <p:nvSpPr>
          <p:cNvPr id="38" name="Rounded Rectangle 37"/>
          <p:cNvSpPr/>
          <p:nvPr/>
        </p:nvSpPr>
        <p:spPr>
          <a:xfrm>
            <a:off x="9052559" y="4937760"/>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0575" y="5010912"/>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rendered
into the workbook</a:t>
            </a:r>
          </a:p>
        </p:txBody>
      </p:sp>
      <p:sp>
        <p:nvSpPr>
          <p:cNvPr id="40" name="Rounded Rectangle 39"/>
          <p:cNvSpPr/>
          <p:nvPr/>
        </p:nvSpPr>
        <p:spPr>
          <a:xfrm>
            <a:off x="548640" y="5779008"/>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852160"/>
            <a:ext cx="3529583" cy="749808"/>
          </a:xfrm>
          <a:prstGeom prst="rect">
            <a:avLst/>
          </a:prstGeom>
          <a:noFill/>
        </p:spPr>
        <p:txBody>
          <a:bodyPr wrap="square">
            <a:spAutoFit/>
          </a:bodyPr>
          <a:lstStyle/>
          <a:p>
            <a:pPr algn="l">
              <a:spcAft>
                <a:spcPts val="0"/>
              </a:spcAft>
            </a:pPr>
            <a:r>
              <a:rPr sz="1100" b="0">
                <a:solidFill>
                  <a:srgbClr val="1F2A44"/>
                </a:solidFill>
                <a:latin typeface="Calibri"/>
              </a:rPr>
              <a:t>Plain-language walkthrough
(asked for in this session)</a:t>
            </a:r>
          </a:p>
        </p:txBody>
      </p:sp>
      <p:sp>
        <p:nvSpPr>
          <p:cNvPr id="42" name="Rounded Rectangle 41"/>
          <p:cNvSpPr/>
          <p:nvPr/>
        </p:nvSpPr>
        <p:spPr>
          <a:xfrm>
            <a:off x="4297679" y="5779008"/>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5" y="5852160"/>
            <a:ext cx="4535424" cy="749808"/>
          </a:xfrm>
          <a:prstGeom prst="rect">
            <a:avLst/>
          </a:prstGeom>
          <a:noFill/>
        </p:spPr>
        <p:txBody>
          <a:bodyPr wrap="square">
            <a:spAutoFit/>
          </a:bodyPr>
          <a:lstStyle/>
          <a:p>
            <a:pPr algn="l">
              <a:spcAft>
                <a:spcPts val="0"/>
              </a:spcAft>
            </a:pPr>
            <a:r>
              <a:rPr sz="1100" b="0">
                <a:solidFill>
                  <a:srgbClr val="1F2A44"/>
                </a:solidFill>
                <a:latin typeface="Calibri"/>
              </a:rPr>
              <a:t>HOW_WE_WORKED_SIMPLY.md, VISUAL_GUIDE
with ten figures, and this deck</a:t>
            </a:r>
          </a:p>
        </p:txBody>
      </p:sp>
      <p:sp>
        <p:nvSpPr>
          <p:cNvPr id="44" name="Rounded Rectangle 43"/>
          <p:cNvSpPr/>
          <p:nvPr/>
        </p:nvSpPr>
        <p:spPr>
          <a:xfrm>
            <a:off x="9052559" y="5779008"/>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0575" y="5852160"/>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IN DEPENDENCY ORDER, NOT BY APPEAL</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would be done next</a:t>
            </a:r>
          </a:p>
        </p:txBody>
      </p:sp>
      <p:sp>
        <p:nvSpPr>
          <p:cNvPr id="4" name="TextBox 3"/>
          <p:cNvSpPr txBox="1"/>
          <p:nvPr/>
        </p:nvSpPr>
        <p:spPr>
          <a:xfrm>
            <a:off x="640080" y="1234440"/>
            <a:ext cx="10972800" cy="365760"/>
          </a:xfrm>
          <a:prstGeom prst="rect">
            <a:avLst/>
          </a:prstGeom>
          <a:noFill/>
        </p:spPr>
        <p:txBody>
          <a:bodyPr wrap="square">
            <a:spAutoFit/>
          </a:bodyPr>
          <a:lstStyle/>
          <a:p>
            <a:pPr algn="l">
              <a:spcAft>
                <a:spcPts val="800"/>
              </a:spcAft>
            </a:pPr>
            <a:r>
              <a:rPr sz="1550" b="0">
                <a:solidFill>
                  <a:srgbClr val="5B6472"/>
                </a:solidFill>
                <a:latin typeface="Calibri"/>
              </a:rPr>
              <a:t>Nothing below is needed for the brief. It is the order the work would continue in, and each item unblocks the next.</a:t>
            </a:r>
          </a:p>
        </p:txBody>
      </p:sp>
      <p:sp>
        <p:nvSpPr>
          <p:cNvPr id="5" name="Rounded Rectangle 4"/>
          <p:cNvSpPr/>
          <p:nvPr/>
        </p:nvSpPr>
        <p:spPr>
          <a:xfrm>
            <a:off x="548640" y="1783080"/>
            <a:ext cx="475488" cy="84124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02536"/>
            <a:ext cx="475488" cy="411480"/>
          </a:xfrm>
          <a:prstGeom prst="rect">
            <a:avLst/>
          </a:prstGeom>
          <a:noFill/>
        </p:spPr>
        <p:txBody>
          <a:bodyPr wrap="square">
            <a:spAutoFit/>
          </a:bodyPr>
          <a:lstStyle/>
          <a:p>
            <a:pPr algn="ctr">
              <a:spcAft>
                <a:spcPts val="0"/>
              </a:spcAft>
            </a:pPr>
            <a:r>
              <a:rPr sz="1900" b="1">
                <a:solidFill>
                  <a:srgbClr val="FFFFFF"/>
                </a:solidFill>
                <a:latin typeface="Calibri"/>
              </a:rPr>
              <a:t>1</a:t>
            </a:r>
          </a:p>
        </p:txBody>
      </p:sp>
      <p:sp>
        <p:nvSpPr>
          <p:cNvPr id="7" name="Rounded Rectangle 6"/>
          <p:cNvSpPr/>
          <p:nvPr/>
        </p:nvSpPr>
        <p:spPr>
          <a:xfrm>
            <a:off x="1024128" y="1783080"/>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1865376"/>
            <a:ext cx="10241280" cy="292608"/>
          </a:xfrm>
          <a:prstGeom prst="rect">
            <a:avLst/>
          </a:prstGeom>
          <a:noFill/>
        </p:spPr>
        <p:txBody>
          <a:bodyPr wrap="square">
            <a:spAutoFit/>
          </a:bodyPr>
          <a:lstStyle/>
          <a:p>
            <a:pPr algn="l">
              <a:spcAft>
                <a:spcPts val="0"/>
              </a:spcAft>
            </a:pPr>
            <a:r>
              <a:rPr sz="1450" b="1">
                <a:solidFill>
                  <a:srgbClr val="1F2A44"/>
                </a:solidFill>
                <a:latin typeface="Calibri"/>
              </a:rPr>
              <a:t>Write the six Bronze tests</a:t>
            </a:r>
          </a:p>
        </p:txBody>
      </p:sp>
      <p:sp>
        <p:nvSpPr>
          <p:cNvPr id="9" name="TextBox 8"/>
          <p:cNvSpPr txBox="1"/>
          <p:nvPr/>
        </p:nvSpPr>
        <p:spPr>
          <a:xfrm>
            <a:off x="1234440" y="2167128"/>
            <a:ext cx="10241280" cy="411480"/>
          </a:xfrm>
          <a:prstGeom prst="rect">
            <a:avLst/>
          </a:prstGeom>
          <a:noFill/>
        </p:spPr>
        <p:txBody>
          <a:bodyPr wrap="square">
            <a:spAutoFit/>
          </a:bodyPr>
          <a:lstStyle/>
          <a:p>
            <a:pPr algn="l">
              <a:spcAft>
                <a:spcPts val="0"/>
              </a:spcAft>
            </a:pPr>
            <a:r>
              <a:rPr sz="1200" b="0">
                <a:solidFill>
                  <a:srgbClr val="5B6472"/>
                </a:solidFill>
                <a:latin typeface="Calibri"/>
              </a:rPr>
              <a:t>Nothing else in the layered plan can be verified until they exist.</a:t>
            </a:r>
          </a:p>
        </p:txBody>
      </p:sp>
      <p:sp>
        <p:nvSpPr>
          <p:cNvPr id="10" name="Rounded Rectangle 9"/>
          <p:cNvSpPr/>
          <p:nvPr/>
        </p:nvSpPr>
        <p:spPr>
          <a:xfrm>
            <a:off x="548640" y="2715768"/>
            <a:ext cx="475488" cy="84124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935224"/>
            <a:ext cx="475488" cy="411480"/>
          </a:xfrm>
          <a:prstGeom prst="rect">
            <a:avLst/>
          </a:prstGeom>
          <a:noFill/>
        </p:spPr>
        <p:txBody>
          <a:bodyPr wrap="square">
            <a:spAutoFit/>
          </a:bodyPr>
          <a:lstStyle/>
          <a:p>
            <a:pPr algn="ctr">
              <a:spcAft>
                <a:spcPts val="0"/>
              </a:spcAft>
            </a:pPr>
            <a:r>
              <a:rPr sz="1900" b="1">
                <a:solidFill>
                  <a:srgbClr val="FFFFFF"/>
                </a:solidFill>
                <a:latin typeface="Calibri"/>
              </a:rPr>
              <a:t>2</a:t>
            </a:r>
          </a:p>
        </p:txBody>
      </p:sp>
      <p:sp>
        <p:nvSpPr>
          <p:cNvPr id="12" name="Rounded Rectangle 11"/>
          <p:cNvSpPr/>
          <p:nvPr/>
        </p:nvSpPr>
        <p:spPr>
          <a:xfrm>
            <a:off x="1024128" y="2715768"/>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2798064"/>
            <a:ext cx="10241280" cy="292608"/>
          </a:xfrm>
          <a:prstGeom prst="rect">
            <a:avLst/>
          </a:prstGeom>
          <a:noFill/>
        </p:spPr>
        <p:txBody>
          <a:bodyPr wrap="square">
            <a:spAutoFit/>
          </a:bodyPr>
          <a:lstStyle/>
          <a:p>
            <a:pPr algn="l">
              <a:spcAft>
                <a:spcPts val="0"/>
              </a:spcAft>
            </a:pPr>
            <a:r>
              <a:rPr sz="1450" b="1">
                <a:solidFill>
                  <a:srgbClr val="1F2A44"/>
                </a:solidFill>
                <a:latin typeface="Calibri"/>
              </a:rPr>
              <a:t>Split the test suite by layer</a:t>
            </a:r>
          </a:p>
        </p:txBody>
      </p:sp>
      <p:sp>
        <p:nvSpPr>
          <p:cNvPr id="14" name="TextBox 13"/>
          <p:cNvSpPr txBox="1"/>
          <p:nvPr/>
        </p:nvSpPr>
        <p:spPr>
          <a:xfrm>
            <a:off x="1234440" y="3099816"/>
            <a:ext cx="10241280" cy="411480"/>
          </a:xfrm>
          <a:prstGeom prst="rect">
            <a:avLst/>
          </a:prstGeom>
          <a:noFill/>
        </p:spPr>
        <p:txBody>
          <a:bodyPr wrap="square">
            <a:spAutoFit/>
          </a:bodyPr>
          <a:lstStyle/>
          <a:p>
            <a:pPr algn="l">
              <a:spcAft>
                <a:spcPts val="0"/>
              </a:spcAft>
            </a:pPr>
            <a:r>
              <a:rPr sz="1200" b="0">
                <a:solidFill>
                  <a:srgbClr val="5B6472"/>
                </a:solidFill>
                <a:latin typeface="Calibri"/>
              </a:rPr>
              <a:t>tests/bronze | silver | gold, and make bronze | silver | gold. An hour, no production code moves, and the agents' acceptance criteria become runnable.</a:t>
            </a:r>
          </a:p>
        </p:txBody>
      </p:sp>
      <p:sp>
        <p:nvSpPr>
          <p:cNvPr id="15" name="Rounded Rectangle 14"/>
          <p:cNvSpPr/>
          <p:nvPr/>
        </p:nvSpPr>
        <p:spPr>
          <a:xfrm>
            <a:off x="548640" y="3648456"/>
            <a:ext cx="475488" cy="84124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867912"/>
            <a:ext cx="475488" cy="411480"/>
          </a:xfrm>
          <a:prstGeom prst="rect">
            <a:avLst/>
          </a:prstGeom>
          <a:noFill/>
        </p:spPr>
        <p:txBody>
          <a:bodyPr wrap="square">
            <a:spAutoFit/>
          </a:bodyPr>
          <a:lstStyle/>
          <a:p>
            <a:pPr algn="ctr">
              <a:spcAft>
                <a:spcPts val="0"/>
              </a:spcAft>
            </a:pPr>
            <a:r>
              <a:rPr sz="1900" b="1">
                <a:solidFill>
                  <a:srgbClr val="FFFFFF"/>
                </a:solidFill>
                <a:latin typeface="Calibri"/>
              </a:rPr>
              <a:t>3</a:t>
            </a:r>
          </a:p>
        </p:txBody>
      </p:sp>
      <p:sp>
        <p:nvSpPr>
          <p:cNvPr id="17" name="Rounded Rectangle 16"/>
          <p:cNvSpPr/>
          <p:nvPr/>
        </p:nvSpPr>
        <p:spPr>
          <a:xfrm>
            <a:off x="1024128" y="3648456"/>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730752"/>
            <a:ext cx="10241280" cy="292608"/>
          </a:xfrm>
          <a:prstGeom prst="rect">
            <a:avLst/>
          </a:prstGeom>
          <a:noFill/>
        </p:spPr>
        <p:txBody>
          <a:bodyPr wrap="square">
            <a:spAutoFit/>
          </a:bodyPr>
          <a:lstStyle/>
          <a:p>
            <a:pPr algn="l">
              <a:spcAft>
                <a:spcPts val="0"/>
              </a:spcAft>
            </a:pPr>
            <a:r>
              <a:rPr sz="1450" b="1">
                <a:solidFill>
                  <a:srgbClr val="1F2A44"/>
                </a:solidFill>
                <a:latin typeface="Calibri"/>
              </a:rPr>
              <a:t>Add a session-start hook so the database comes up by itself</a:t>
            </a:r>
          </a:p>
        </p:txBody>
      </p:sp>
      <p:sp>
        <p:nvSpPr>
          <p:cNvPr id="19" name="TextBox 18"/>
          <p:cNvSpPr txBox="1"/>
          <p:nvPr/>
        </p:nvSpPr>
        <p:spPr>
          <a:xfrm>
            <a:off x="1234440" y="4032504"/>
            <a:ext cx="10241280" cy="411480"/>
          </a:xfrm>
          <a:prstGeom prst="rect">
            <a:avLst/>
          </a:prstGeom>
          <a:noFill/>
        </p:spPr>
        <p:txBody>
          <a:bodyPr wrap="square">
            <a:spAutoFit/>
          </a:bodyPr>
          <a:lstStyle/>
          <a:p>
            <a:pPr algn="l">
              <a:spcAft>
                <a:spcPts val="0"/>
              </a:spcAft>
            </a:pPr>
            <a:r>
              <a:rPr sz="1200" b="0">
                <a:solidFill>
                  <a:srgbClr val="5B6472"/>
                </a:solidFill>
                <a:latin typeface="Calibri"/>
              </a:rPr>
              <a:t>The cluster stopped three times during the build and needed a manual restart. Fifteen minutes.</a:t>
            </a:r>
          </a:p>
        </p:txBody>
      </p:sp>
      <p:sp>
        <p:nvSpPr>
          <p:cNvPr id="20" name="Rounded Rectangle 19"/>
          <p:cNvSpPr/>
          <p:nvPr/>
        </p:nvSpPr>
        <p:spPr>
          <a:xfrm>
            <a:off x="548640" y="4581144"/>
            <a:ext cx="475488" cy="8412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800600"/>
            <a:ext cx="475488" cy="411480"/>
          </a:xfrm>
          <a:prstGeom prst="rect">
            <a:avLst/>
          </a:prstGeom>
          <a:noFill/>
        </p:spPr>
        <p:txBody>
          <a:bodyPr wrap="square">
            <a:spAutoFit/>
          </a:bodyPr>
          <a:lstStyle/>
          <a:p>
            <a:pPr algn="ctr">
              <a:spcAft>
                <a:spcPts val="0"/>
              </a:spcAft>
            </a:pPr>
            <a:r>
              <a:rPr sz="1900" b="1">
                <a:solidFill>
                  <a:srgbClr val="FFFFFF"/>
                </a:solidFill>
                <a:latin typeface="Calibri"/>
              </a:rPr>
              <a:t>4</a:t>
            </a:r>
          </a:p>
        </p:txBody>
      </p:sp>
      <p:sp>
        <p:nvSpPr>
          <p:cNvPr id="22" name="Rounded Rectangle 21"/>
          <p:cNvSpPr/>
          <p:nvPr/>
        </p:nvSpPr>
        <p:spPr>
          <a:xfrm>
            <a:off x="1024128" y="4581144"/>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4663440"/>
            <a:ext cx="10241280" cy="292608"/>
          </a:xfrm>
          <a:prstGeom prst="rect">
            <a:avLst/>
          </a:prstGeom>
          <a:noFill/>
        </p:spPr>
        <p:txBody>
          <a:bodyPr wrap="square">
            <a:spAutoFit/>
          </a:bodyPr>
          <a:lstStyle/>
          <a:p>
            <a:pPr algn="l">
              <a:spcAft>
                <a:spcPts val="0"/>
              </a:spcAft>
            </a:pPr>
            <a:r>
              <a:rPr sz="1450" b="1">
                <a:solidFill>
                  <a:srgbClr val="1F2A44"/>
                </a:solidFill>
                <a:latin typeface="Calibri"/>
              </a:rPr>
              <a:t>Then move the layers into isolated Python packages</a:t>
            </a:r>
          </a:p>
        </p:txBody>
      </p:sp>
      <p:sp>
        <p:nvSpPr>
          <p:cNvPr id="24" name="TextBox 23"/>
          <p:cNvSpPr txBox="1"/>
          <p:nvPr/>
        </p:nvSpPr>
        <p:spPr>
          <a:xfrm>
            <a:off x="1234440" y="4965192"/>
            <a:ext cx="10241280" cy="411480"/>
          </a:xfrm>
          <a:prstGeom prst="rect">
            <a:avLst/>
          </a:prstGeom>
          <a:noFill/>
        </p:spPr>
        <p:txBody>
          <a:bodyPr wrap="square">
            <a:spAutoFit/>
          </a:bodyPr>
          <a:lstStyle/>
          <a:p>
            <a:pPr algn="l">
              <a:spcAft>
                <a:spcPts val="0"/>
              </a:spcAft>
            </a:pPr>
            <a:r>
              <a:rPr sz="1200" b="0">
                <a:solidFill>
                  <a:srgbClr val="5B6472"/>
                </a:solidFill>
                <a:latin typeface="Calibri"/>
              </a:rPr>
              <a:t>Bronze first - 250 lines, one consumer. Silver last, because that is where a mistake costs most. Simulated already: four packages, five gates, 21 tests, four faults injected and all four refused.</a:t>
            </a:r>
          </a:p>
        </p:txBody>
      </p:sp>
      <p:sp>
        <p:nvSpPr>
          <p:cNvPr id="25" name="Rounded Rectangle 24"/>
          <p:cNvSpPr/>
          <p:nvPr/>
        </p:nvSpPr>
        <p:spPr>
          <a:xfrm>
            <a:off x="548640" y="5513832"/>
            <a:ext cx="475488" cy="8412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733288"/>
            <a:ext cx="475488" cy="411480"/>
          </a:xfrm>
          <a:prstGeom prst="rect">
            <a:avLst/>
          </a:prstGeom>
          <a:noFill/>
        </p:spPr>
        <p:txBody>
          <a:bodyPr wrap="square">
            <a:spAutoFit/>
          </a:bodyPr>
          <a:lstStyle/>
          <a:p>
            <a:pPr algn="ctr">
              <a:spcAft>
                <a:spcPts val="0"/>
              </a:spcAft>
            </a:pPr>
            <a:r>
              <a:rPr sz="1900" b="1">
                <a:solidFill>
                  <a:srgbClr val="FFFFFF"/>
                </a:solidFill>
                <a:latin typeface="Calibri"/>
              </a:rPr>
              <a:t>5</a:t>
            </a:r>
          </a:p>
        </p:txBody>
      </p:sp>
      <p:sp>
        <p:nvSpPr>
          <p:cNvPr id="27" name="Rounded Rectangle 26"/>
          <p:cNvSpPr/>
          <p:nvPr/>
        </p:nvSpPr>
        <p:spPr>
          <a:xfrm>
            <a:off x="1024128" y="5513832"/>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34440" y="5596128"/>
            <a:ext cx="10241280" cy="292608"/>
          </a:xfrm>
          <a:prstGeom prst="rect">
            <a:avLst/>
          </a:prstGeom>
          <a:noFill/>
        </p:spPr>
        <p:txBody>
          <a:bodyPr wrap="square">
            <a:spAutoFit/>
          </a:bodyPr>
          <a:lstStyle/>
          <a:p>
            <a:pPr algn="l">
              <a:spcAft>
                <a:spcPts val="0"/>
              </a:spcAft>
            </a:pPr>
            <a:r>
              <a:rPr sz="1450" b="1">
                <a:solidFill>
                  <a:srgbClr val="1F2A44"/>
                </a:solidFill>
                <a:latin typeface="Calibri"/>
              </a:rPr>
              <a:t>Freeze the control dataset only once the boundaries stop moving</a:t>
            </a:r>
          </a:p>
        </p:txBody>
      </p:sp>
      <p:sp>
        <p:nvSpPr>
          <p:cNvPr id="29" name="TextBox 28"/>
          <p:cNvSpPr txBox="1"/>
          <p:nvPr/>
        </p:nvSpPr>
        <p:spPr>
          <a:xfrm>
            <a:off x="1234440" y="5897880"/>
            <a:ext cx="10241280" cy="411480"/>
          </a:xfrm>
          <a:prstGeom prst="rect">
            <a:avLst/>
          </a:prstGeom>
          <a:noFill/>
        </p:spPr>
        <p:txBody>
          <a:bodyPr wrap="square">
            <a:spAutoFit/>
          </a:bodyPr>
          <a:lstStyle/>
          <a:p>
            <a:pPr algn="l">
              <a:spcAft>
                <a:spcPts val="0"/>
              </a:spcAft>
            </a:pPr>
            <a:r>
              <a:rPr sz="1200" b="0">
                <a:solidFill>
                  <a:srgbClr val="5B6472"/>
                </a:solidFill>
                <a:latin typeface="Calibri"/>
              </a:rPr>
              <a:t>Freezing a surface that is still shifting turns every change into a proposal.</a:t>
            </a:r>
          </a:p>
        </p:txBody>
      </p:sp>
      <p:sp>
        <p:nvSpPr>
          <p:cNvPr id="30" name="TextBox 29"/>
          <p:cNvSpPr txBox="1"/>
          <p:nvPr/>
        </p:nvSpPr>
        <p:spPr>
          <a:xfrm>
            <a:off x="548640" y="6382512"/>
            <a:ext cx="11155680" cy="365760"/>
          </a:xfrm>
          <a:prstGeom prst="rect">
            <a:avLst/>
          </a:prstGeom>
          <a:noFill/>
        </p:spPr>
        <p:txBody>
          <a:bodyPr wrap="square">
            <a:spAutoFit/>
          </a:bodyPr>
          <a:lstStyle/>
          <a:p>
            <a:pPr algn="l">
              <a:spcAft>
                <a:spcPts val="0"/>
              </a:spcAft>
            </a:pPr>
            <a:r>
              <a:rPr sz="1250" b="1">
                <a:solidFill>
                  <a:srgbClr val="1F3864"/>
                </a:solidFill>
                <a:latin typeface="Calibri"/>
              </a:rPr>
              <a:t>Deliberately not doing: renaming the schemas to bronze / silver / gold, and one container per layer - right for a platform, wrong for this brief.</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10241280" cy="822960"/>
          </a:xfrm>
          <a:prstGeom prst="rect">
            <a:avLst/>
          </a:prstGeom>
          <a:noFill/>
        </p:spPr>
        <p:txBody>
          <a:bodyPr wrap="square">
            <a:spAutoFit/>
          </a:bodyPr>
          <a:lstStyle/>
          <a:p>
            <a:pPr algn="l">
              <a:spcAft>
                <a:spcPts val="1000"/>
              </a:spcAft>
            </a:pPr>
            <a:r>
              <a:rPr sz="3400" b="1">
                <a:solidFill>
                  <a:srgbClr val="FFFFFF"/>
                </a:solidFill>
                <a:latin typeface="Calibri"/>
              </a:rPr>
              <a:t>Three claims, and how each one is proved</a:t>
            </a:r>
          </a:p>
        </p:txBody>
      </p:sp>
      <p:sp>
        <p:nvSpPr>
          <p:cNvPr id="4" name="Rounded Rectangle 3"/>
          <p:cNvSpPr/>
          <p:nvPr/>
        </p:nvSpPr>
        <p:spPr>
          <a:xfrm>
            <a:off x="1005840" y="251460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624328"/>
            <a:ext cx="9692640" cy="320040"/>
          </a:xfrm>
          <a:prstGeom prst="rect">
            <a:avLst/>
          </a:prstGeom>
          <a:noFill/>
        </p:spPr>
        <p:txBody>
          <a:bodyPr wrap="square">
            <a:spAutoFit/>
          </a:bodyPr>
          <a:lstStyle/>
          <a:p>
            <a:pPr algn="l">
              <a:spcAft>
                <a:spcPts val="0"/>
              </a:spcAft>
            </a:pPr>
            <a:r>
              <a:rPr sz="1700" b="1">
                <a:solidFill>
                  <a:srgbClr val="FFFFFF"/>
                </a:solidFill>
                <a:latin typeface="Calibri"/>
              </a:rPr>
              <a:t>The data is graded, not just checked</a:t>
            </a:r>
          </a:p>
        </p:txBody>
      </p:sp>
      <p:sp>
        <p:nvSpPr>
          <p:cNvPr id="6" name="TextBox 5"/>
          <p:cNvSpPr txBox="1"/>
          <p:nvPr/>
        </p:nvSpPr>
        <p:spPr>
          <a:xfrm>
            <a:off x="1280160" y="2990088"/>
            <a:ext cx="9692640" cy="457200"/>
          </a:xfrm>
          <a:prstGeom prst="rect">
            <a:avLst/>
          </a:prstGeom>
          <a:noFill/>
        </p:spPr>
        <p:txBody>
          <a:bodyPr wrap="square">
            <a:spAutoFit/>
          </a:bodyPr>
          <a:lstStyle/>
          <a:p>
            <a:pPr algn="l">
              <a:spcAft>
                <a:spcPts val="0"/>
              </a:spcAft>
            </a:pPr>
            <a:r>
              <a:rPr sz="1300" b="0">
                <a:solidFill>
                  <a:srgbClr val="C9D6EA"/>
                </a:solidFill>
                <a:latin typeface="Calibri"/>
              </a:rPr>
              <a:t>123 rules, each with a severity and a reason for it, proven by 20 planted defects.</a:t>
            </a:r>
          </a:p>
        </p:txBody>
      </p:sp>
      <p:sp>
        <p:nvSpPr>
          <p:cNvPr id="7" name="Rounded Rectangle 6"/>
          <p:cNvSpPr/>
          <p:nvPr/>
        </p:nvSpPr>
        <p:spPr>
          <a:xfrm>
            <a:off x="1005840" y="370332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3813048"/>
            <a:ext cx="9692640" cy="320040"/>
          </a:xfrm>
          <a:prstGeom prst="rect">
            <a:avLst/>
          </a:prstGeom>
          <a:noFill/>
        </p:spPr>
        <p:txBody>
          <a:bodyPr wrap="square">
            <a:spAutoFit/>
          </a:bodyPr>
          <a:lstStyle/>
          <a:p>
            <a:pPr algn="l">
              <a:spcAft>
                <a:spcPts val="0"/>
              </a:spcAft>
            </a:pPr>
            <a:r>
              <a:rPr sz="1700" b="1">
                <a:solidFill>
                  <a:srgbClr val="FFFFFF"/>
                </a:solidFill>
                <a:latin typeface="Calibri"/>
              </a:rPr>
              <a:t>The model can be asked questions in English</a:t>
            </a:r>
          </a:p>
        </p:txBody>
      </p:sp>
      <p:sp>
        <p:nvSpPr>
          <p:cNvPr id="9" name="TextBox 8"/>
          <p:cNvSpPr txBox="1"/>
          <p:nvPr/>
        </p:nvSpPr>
        <p:spPr>
          <a:xfrm>
            <a:off x="1280160" y="4178808"/>
            <a:ext cx="9692640" cy="457200"/>
          </a:xfrm>
          <a:prstGeom prst="rect">
            <a:avLst/>
          </a:prstGeom>
          <a:noFill/>
        </p:spPr>
        <p:txBody>
          <a:bodyPr wrap="square">
            <a:spAutoFit/>
          </a:bodyPr>
          <a:lstStyle/>
          <a:p>
            <a:pPr algn="l">
              <a:spcAft>
                <a:spcPts val="0"/>
              </a:spcAft>
            </a:pPr>
            <a:r>
              <a:rPr sz="1300" b="0">
                <a:solidFill>
                  <a:srgbClr val="C9D6EA"/>
                </a:solidFill>
                <a:latin typeface="Calibri"/>
              </a:rPr>
              <a:t>A semantic layer validated against the live database; 10 of 10 answers correct, first attempt, every call logged.</a:t>
            </a:r>
          </a:p>
        </p:txBody>
      </p:sp>
      <p:sp>
        <p:nvSpPr>
          <p:cNvPr id="10" name="Rounded Rectangle 9"/>
          <p:cNvSpPr/>
          <p:nvPr/>
        </p:nvSpPr>
        <p:spPr>
          <a:xfrm>
            <a:off x="1005840" y="489204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5001768"/>
            <a:ext cx="9692640" cy="320040"/>
          </a:xfrm>
          <a:prstGeom prst="rect">
            <a:avLst/>
          </a:prstGeom>
          <a:noFill/>
        </p:spPr>
        <p:txBody>
          <a:bodyPr wrap="square">
            <a:spAutoFit/>
          </a:bodyPr>
          <a:lstStyle/>
          <a:p>
            <a:pPr algn="l">
              <a:spcAft>
                <a:spcPts val="0"/>
              </a:spcAft>
            </a:pPr>
            <a:r>
              <a:rPr sz="1700" b="1">
                <a:solidFill>
                  <a:srgbClr val="FFFFFF"/>
                </a:solidFill>
                <a:latin typeface="Calibri"/>
              </a:rPr>
              <a:t>The lock is in the engine, not in the question</a:t>
            </a:r>
          </a:p>
        </p:txBody>
      </p:sp>
      <p:sp>
        <p:nvSpPr>
          <p:cNvPr id="12" name="TextBox 11"/>
          <p:cNvSpPr txBox="1"/>
          <p:nvPr/>
        </p:nvSpPr>
        <p:spPr>
          <a:xfrm>
            <a:off x="1280160" y="5367528"/>
            <a:ext cx="9692640" cy="457200"/>
          </a:xfrm>
          <a:prstGeom prst="rect">
            <a:avLst/>
          </a:prstGeom>
          <a:noFill/>
        </p:spPr>
        <p:txBody>
          <a:bodyPr wrap="square">
            <a:spAutoFit/>
          </a:bodyPr>
          <a:lstStyle/>
          <a:p>
            <a:pPr algn="l">
              <a:spcAft>
                <a:spcPts val="0"/>
              </a:spcAft>
            </a:pPr>
            <a:r>
              <a:rPr sz="1300" b="0">
                <a:solidFill>
                  <a:srgbClr val="C9D6EA"/>
                </a:solidFill>
                <a:latin typeface="Calibri"/>
              </a:rPr>
              <a:t>Row level security on the base tables; four roles counted; nine bypass attempts refused. Onboarding a portfolio is two inserts.</a:t>
            </a:r>
          </a:p>
        </p:txBody>
      </p:sp>
      <p:sp>
        <p:nvSpPr>
          <p:cNvPr id="13" name="TextBox 12"/>
          <p:cNvSpPr txBox="1"/>
          <p:nvPr/>
        </p:nvSpPr>
        <p:spPr>
          <a:xfrm>
            <a:off x="1005840" y="6217920"/>
            <a:ext cx="10241280" cy="365760"/>
          </a:xfrm>
          <a:prstGeom prst="rect">
            <a:avLst/>
          </a:prstGeom>
          <a:noFill/>
        </p:spPr>
        <p:txBody>
          <a:bodyPr wrap="square">
            <a:spAutoFit/>
          </a:bodyPr>
          <a:lstStyle/>
          <a:p>
            <a:pPr algn="l">
              <a:spcAft>
                <a:spcPts val="0"/>
              </a:spcAft>
            </a:pPr>
            <a:r>
              <a:rPr sz="1400" b="1">
                <a:solidFill>
                  <a:srgbClr val="9AB2D8"/>
                </a:solidFill>
                <a:latin typeface="Calibri"/>
              </a:rPr>
              <a:t>make clean all - four and a half minutes, 12 of 12 steps, 137 tests. Every number on these slides came out of that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